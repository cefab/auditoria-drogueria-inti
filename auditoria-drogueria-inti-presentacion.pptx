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27"/>
  </p:notesMasterIdLst>
  <p:handoutMasterIdLst>
    <p:handoutMasterId r:id="rId28"/>
  </p:handoutMasterIdLst>
  <p:sldIdLst>
    <p:sldId id="298" r:id="rId2"/>
    <p:sldId id="299" r:id="rId3"/>
    <p:sldId id="307" r:id="rId4"/>
    <p:sldId id="352" r:id="rId5"/>
    <p:sldId id="309" r:id="rId6"/>
    <p:sldId id="310" r:id="rId7"/>
    <p:sldId id="311" r:id="rId8"/>
    <p:sldId id="312" r:id="rId9"/>
    <p:sldId id="353" r:id="rId10"/>
    <p:sldId id="314" r:id="rId11"/>
    <p:sldId id="317" r:id="rId12"/>
    <p:sldId id="308" r:id="rId13"/>
    <p:sldId id="282" r:id="rId14"/>
    <p:sldId id="347" r:id="rId15"/>
    <p:sldId id="348" r:id="rId16"/>
    <p:sldId id="349" r:id="rId17"/>
    <p:sldId id="313" r:id="rId18"/>
    <p:sldId id="350" r:id="rId19"/>
    <p:sldId id="351" r:id="rId20"/>
    <p:sldId id="354" r:id="rId21"/>
    <p:sldId id="296" r:id="rId22"/>
    <p:sldId id="286" r:id="rId23"/>
    <p:sldId id="355" r:id="rId24"/>
    <p:sldId id="356" r:id="rId25"/>
    <p:sldId id="357" r:id="rId26"/>
  </p:sldIdLst>
  <p:sldSz cx="12192000" cy="6858000"/>
  <p:notesSz cx="6858000" cy="9144000"/>
  <p:custDataLst>
    <p:tags r:id="rId29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5BDA7"/>
    <a:srgbClr val="3494BA"/>
    <a:srgbClr val="8CC066"/>
    <a:srgbClr val="58B6C0"/>
    <a:srgbClr val="FF94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63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51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58E373BA-85BC-4523-9443-C0B6070F6F6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75011DCB-FDF0-4AE6-8EDF-98D55BB3BD4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3F9BAD-4A98-4ABD-98D9-29F3CB1CFFC5}" type="datetimeFigureOut">
              <a:rPr lang="es-PE" smtClean="0"/>
              <a:t>7/05/2026</a:t>
            </a:fld>
            <a:endParaRPr lang="es-PE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0D9A2B3-BC7D-4179-B139-7C1D386E28F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A75F451-8FDC-4921-910D-6331E857B24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57CA06-7EC5-4CE8-80DC-44637603D6B6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42307666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13BBE5-0BEA-4494-9BEF-C8C2F48C9E2D}" type="datetimeFigureOut">
              <a:rPr lang="zh-CN" altLang="en-US" smtClean="0"/>
              <a:t>2026/5/7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B8912-F0BA-4AD8-8415-DA1F26BCB09F}" type="slidenum">
              <a:rPr lang="zh-CN" altLang="en-US" smtClean="0"/>
              <a:t>‹Nº›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3252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1104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5086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35236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95925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40783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30156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10255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11331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77256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38940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40067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95925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270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D9472-A447-0FFD-07F0-DCE1F7613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9580908-8C01-9894-35CC-6C42BBB04B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3BA3FBE-BC67-2616-9EFB-593B211219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916FEFF-B320-4ED2-51FF-428DFB8EA0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47967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6C482-610D-7696-93CF-351F35CCD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387E925-B12A-ACD4-C6FD-FE0EB45A22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D28E3DA-EA62-5D50-29DD-F257E0E0A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24A2364-34D2-21A8-A63F-925F4453A2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93106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AB55F-82E0-3F4E-91F3-5A3757545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11EB325-9BA2-503E-56D4-4D8120DC6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5E3326A-C6AE-A46C-E179-04F76B7A6A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A709BE4-8DF4-060B-38FC-A13BD04AE0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22949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77256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B8A4A-A1E3-EB43-1D28-A5E35FBB8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F671E45-749E-64A5-3559-8C636CD8F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16C1308-0AD3-C99A-51BD-820958D0A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E4E43B9-BCCB-B15B-CAD1-9A73F33B50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18366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5E3C5-B14C-C3E1-672F-1923879AA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09931D-F883-E9D2-2F0E-4D3AC3FD7A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5B9EE88-E29C-F841-96CC-7579D4BD9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33EC8CD-408D-5E32-1CF7-22537ED6E3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63512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73499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805342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08904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61676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44012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7014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9559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">
            <a:extLst>
              <a:ext uri="{FF2B5EF4-FFF2-40B4-BE49-F238E27FC236}">
                <a16:creationId xmlns:a16="http://schemas.microsoft.com/office/drawing/2014/main" id="{6FBC8789-68AE-4915-A113-3B4F4DB93A19}"/>
              </a:ext>
            </a:extLst>
          </p:cNvPr>
          <p:cNvSpPr/>
          <p:nvPr userDrawn="1"/>
        </p:nvSpPr>
        <p:spPr>
          <a:xfrm flipV="1">
            <a:off x="-19048" y="931248"/>
            <a:ext cx="12209461" cy="7875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等腰三角形 2">
            <a:extLst>
              <a:ext uri="{FF2B5EF4-FFF2-40B4-BE49-F238E27FC236}">
                <a16:creationId xmlns:a16="http://schemas.microsoft.com/office/drawing/2014/main" id="{1B1957EB-E895-45FE-9BDC-F9A1E08A2131}"/>
              </a:ext>
            </a:extLst>
          </p:cNvPr>
          <p:cNvSpPr/>
          <p:nvPr userDrawn="1"/>
        </p:nvSpPr>
        <p:spPr>
          <a:xfrm rot="5400000">
            <a:off x="994227" y="381908"/>
            <a:ext cx="381645" cy="329004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" name="组合 8">
            <a:extLst>
              <a:ext uri="{FF2B5EF4-FFF2-40B4-BE49-F238E27FC236}">
                <a16:creationId xmlns:a16="http://schemas.microsoft.com/office/drawing/2014/main" id="{C2EE5C8E-7D56-4092-94AC-8BB2C97EAFA0}"/>
              </a:ext>
            </a:extLst>
          </p:cNvPr>
          <p:cNvGrpSpPr/>
          <p:nvPr userDrawn="1"/>
        </p:nvGrpSpPr>
        <p:grpSpPr>
          <a:xfrm>
            <a:off x="4536" y="0"/>
            <a:ext cx="721182" cy="931248"/>
            <a:chOff x="0" y="532828"/>
            <a:chExt cx="498355" cy="568897"/>
          </a:xfrm>
        </p:grpSpPr>
        <p:sp>
          <p:nvSpPr>
            <p:cNvPr id="5" name="矩形 9">
              <a:extLst>
                <a:ext uri="{FF2B5EF4-FFF2-40B4-BE49-F238E27FC236}">
                  <a16:creationId xmlns:a16="http://schemas.microsoft.com/office/drawing/2014/main" id="{F64A5F79-9727-425F-8E67-274E617427C5}"/>
                </a:ext>
              </a:extLst>
            </p:cNvPr>
            <p:cNvSpPr/>
            <p:nvPr/>
          </p:nvSpPr>
          <p:spPr>
            <a:xfrm>
              <a:off x="0" y="532828"/>
              <a:ext cx="128433" cy="56889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矩形 10">
              <a:extLst>
                <a:ext uri="{FF2B5EF4-FFF2-40B4-BE49-F238E27FC236}">
                  <a16:creationId xmlns:a16="http://schemas.microsoft.com/office/drawing/2014/main" id="{BE989FAD-1A28-4CF7-9D6B-50FE116E749E}"/>
                </a:ext>
              </a:extLst>
            </p:cNvPr>
            <p:cNvSpPr/>
            <p:nvPr/>
          </p:nvSpPr>
          <p:spPr>
            <a:xfrm>
              <a:off x="130533" y="532828"/>
              <a:ext cx="130259" cy="568897"/>
            </a:xfrm>
            <a:prstGeom prst="rect">
              <a:avLst/>
            </a:prstGeom>
            <a:solidFill>
              <a:srgbClr val="8CC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11">
              <a:extLst>
                <a:ext uri="{FF2B5EF4-FFF2-40B4-BE49-F238E27FC236}">
                  <a16:creationId xmlns:a16="http://schemas.microsoft.com/office/drawing/2014/main" id="{2E573C0A-7E9A-4B79-A2E7-7E23A7B2CBC1}"/>
                </a:ext>
              </a:extLst>
            </p:cNvPr>
            <p:cNvSpPr/>
            <p:nvPr/>
          </p:nvSpPr>
          <p:spPr>
            <a:xfrm>
              <a:off x="374250" y="532828"/>
              <a:ext cx="124105" cy="56889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12">
              <a:extLst>
                <a:ext uri="{FF2B5EF4-FFF2-40B4-BE49-F238E27FC236}">
                  <a16:creationId xmlns:a16="http://schemas.microsoft.com/office/drawing/2014/main" id="{62E42EC7-5CC3-45D0-882D-008E29EBAFC4}"/>
                </a:ext>
              </a:extLst>
            </p:cNvPr>
            <p:cNvSpPr/>
            <p:nvPr/>
          </p:nvSpPr>
          <p:spPr>
            <a:xfrm>
              <a:off x="253744" y="532828"/>
              <a:ext cx="128433" cy="5688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8" name="椭圆 3">
            <a:extLst>
              <a:ext uri="{FF2B5EF4-FFF2-40B4-BE49-F238E27FC236}">
                <a16:creationId xmlns:a16="http://schemas.microsoft.com/office/drawing/2014/main" id="{65F83126-86E2-4795-BA92-2D5F35FD981F}"/>
              </a:ext>
            </a:extLst>
          </p:cNvPr>
          <p:cNvSpPr/>
          <p:nvPr userDrawn="1"/>
        </p:nvSpPr>
        <p:spPr>
          <a:xfrm>
            <a:off x="11563042" y="6283199"/>
            <a:ext cx="283369" cy="282906"/>
          </a:xfrm>
          <a:custGeom>
            <a:avLst/>
            <a:gdLst>
              <a:gd name="connsiteX0" fmla="*/ 140017 w 606581"/>
              <a:gd name="connsiteY0" fmla="*/ 411043 h 605592"/>
              <a:gd name="connsiteX1" fmla="*/ 178821 w 606581"/>
              <a:gd name="connsiteY1" fmla="*/ 427078 h 605592"/>
              <a:gd name="connsiteX2" fmla="*/ 178821 w 606581"/>
              <a:gd name="connsiteY2" fmla="*/ 504564 h 605592"/>
              <a:gd name="connsiteX3" fmla="*/ 93692 w 606581"/>
              <a:gd name="connsiteY3" fmla="*/ 589557 h 605592"/>
              <a:gd name="connsiteX4" fmla="*/ 54887 w 606581"/>
              <a:gd name="connsiteY4" fmla="*/ 605592 h 605592"/>
              <a:gd name="connsiteX5" fmla="*/ 16083 w 606581"/>
              <a:gd name="connsiteY5" fmla="*/ 589557 h 605592"/>
              <a:gd name="connsiteX6" fmla="*/ 16083 w 606581"/>
              <a:gd name="connsiteY6" fmla="*/ 511979 h 605592"/>
              <a:gd name="connsiteX7" fmla="*/ 101212 w 606581"/>
              <a:gd name="connsiteY7" fmla="*/ 427078 h 605592"/>
              <a:gd name="connsiteX8" fmla="*/ 140017 w 606581"/>
              <a:gd name="connsiteY8" fmla="*/ 411043 h 605592"/>
              <a:gd name="connsiteX9" fmla="*/ 382501 w 606581"/>
              <a:gd name="connsiteY9" fmla="*/ 49537 h 605592"/>
              <a:gd name="connsiteX10" fmla="*/ 557044 w 606581"/>
              <a:gd name="connsiteY10" fmla="*/ 223798 h 605592"/>
              <a:gd name="connsiteX11" fmla="*/ 382501 w 606581"/>
              <a:gd name="connsiteY11" fmla="*/ 398059 h 605592"/>
              <a:gd name="connsiteX12" fmla="*/ 207957 w 606581"/>
              <a:gd name="connsiteY12" fmla="*/ 223798 h 605592"/>
              <a:gd name="connsiteX13" fmla="*/ 382501 w 606581"/>
              <a:gd name="connsiteY13" fmla="*/ 49537 h 605592"/>
              <a:gd name="connsiteX14" fmla="*/ 382536 w 606581"/>
              <a:gd name="connsiteY14" fmla="*/ 24750 h 605592"/>
              <a:gd name="connsiteX15" fmla="*/ 304914 w 606581"/>
              <a:gd name="connsiteY15" fmla="*/ 40417 h 605592"/>
              <a:gd name="connsiteX16" fmla="*/ 241591 w 606581"/>
              <a:gd name="connsiteY16" fmla="*/ 83058 h 605592"/>
              <a:gd name="connsiteX17" fmla="*/ 198880 w 606581"/>
              <a:gd name="connsiteY17" fmla="*/ 146278 h 605592"/>
              <a:gd name="connsiteX18" fmla="*/ 183189 w 606581"/>
              <a:gd name="connsiteY18" fmla="*/ 223774 h 605592"/>
              <a:gd name="connsiteX19" fmla="*/ 198880 w 606581"/>
              <a:gd name="connsiteY19" fmla="*/ 301177 h 605592"/>
              <a:gd name="connsiteX20" fmla="*/ 241591 w 606581"/>
              <a:gd name="connsiteY20" fmla="*/ 364490 h 605592"/>
              <a:gd name="connsiteX21" fmla="*/ 304914 w 606581"/>
              <a:gd name="connsiteY21" fmla="*/ 407131 h 605592"/>
              <a:gd name="connsiteX22" fmla="*/ 382536 w 606581"/>
              <a:gd name="connsiteY22" fmla="*/ 422705 h 605592"/>
              <a:gd name="connsiteX23" fmla="*/ 460158 w 606581"/>
              <a:gd name="connsiteY23" fmla="*/ 407131 h 605592"/>
              <a:gd name="connsiteX24" fmla="*/ 523481 w 606581"/>
              <a:gd name="connsiteY24" fmla="*/ 364490 h 605592"/>
              <a:gd name="connsiteX25" fmla="*/ 566192 w 606581"/>
              <a:gd name="connsiteY25" fmla="*/ 301177 h 605592"/>
              <a:gd name="connsiteX26" fmla="*/ 581883 w 606581"/>
              <a:gd name="connsiteY26" fmla="*/ 223774 h 605592"/>
              <a:gd name="connsiteX27" fmla="*/ 566192 w 606581"/>
              <a:gd name="connsiteY27" fmla="*/ 146278 h 605592"/>
              <a:gd name="connsiteX28" fmla="*/ 523481 w 606581"/>
              <a:gd name="connsiteY28" fmla="*/ 83058 h 605592"/>
              <a:gd name="connsiteX29" fmla="*/ 460158 w 606581"/>
              <a:gd name="connsiteY29" fmla="*/ 40417 h 605592"/>
              <a:gd name="connsiteX30" fmla="*/ 382536 w 606581"/>
              <a:gd name="connsiteY30" fmla="*/ 24750 h 605592"/>
              <a:gd name="connsiteX31" fmla="*/ 382536 w 606581"/>
              <a:gd name="connsiteY31" fmla="*/ 0 h 605592"/>
              <a:gd name="connsiteX32" fmla="*/ 469721 w 606581"/>
              <a:gd name="connsiteY32" fmla="*/ 17613 h 605592"/>
              <a:gd name="connsiteX33" fmla="*/ 540937 w 606581"/>
              <a:gd name="connsiteY33" fmla="*/ 65538 h 605592"/>
              <a:gd name="connsiteX34" fmla="*/ 588940 w 606581"/>
              <a:gd name="connsiteY34" fmla="*/ 136637 h 605592"/>
              <a:gd name="connsiteX35" fmla="*/ 606581 w 606581"/>
              <a:gd name="connsiteY35" fmla="*/ 223774 h 605592"/>
              <a:gd name="connsiteX36" fmla="*/ 588940 w 606581"/>
              <a:gd name="connsiteY36" fmla="*/ 310818 h 605592"/>
              <a:gd name="connsiteX37" fmla="*/ 540937 w 606581"/>
              <a:gd name="connsiteY37" fmla="*/ 381917 h 605592"/>
              <a:gd name="connsiteX38" fmla="*/ 469721 w 606581"/>
              <a:gd name="connsiteY38" fmla="*/ 429842 h 605592"/>
              <a:gd name="connsiteX39" fmla="*/ 382536 w 606581"/>
              <a:gd name="connsiteY39" fmla="*/ 447455 h 605592"/>
              <a:gd name="connsiteX40" fmla="*/ 295258 w 606581"/>
              <a:gd name="connsiteY40" fmla="*/ 429842 h 605592"/>
              <a:gd name="connsiteX41" fmla="*/ 240105 w 606581"/>
              <a:gd name="connsiteY41" fmla="*/ 396471 h 605592"/>
              <a:gd name="connsiteX42" fmla="*/ 209558 w 606581"/>
              <a:gd name="connsiteY42" fmla="*/ 427061 h 605592"/>
              <a:gd name="connsiteX43" fmla="*/ 196373 w 606581"/>
              <a:gd name="connsiteY43" fmla="*/ 409541 h 605592"/>
              <a:gd name="connsiteX44" fmla="*/ 178918 w 606581"/>
              <a:gd name="connsiteY44" fmla="*/ 396378 h 605592"/>
              <a:gd name="connsiteX45" fmla="*/ 209465 w 606581"/>
              <a:gd name="connsiteY45" fmla="*/ 365880 h 605592"/>
              <a:gd name="connsiteX46" fmla="*/ 176040 w 606581"/>
              <a:gd name="connsiteY46" fmla="*/ 310818 h 605592"/>
              <a:gd name="connsiteX47" fmla="*/ 158491 w 606581"/>
              <a:gd name="connsiteY47" fmla="*/ 223774 h 605592"/>
              <a:gd name="connsiteX48" fmla="*/ 176040 w 606581"/>
              <a:gd name="connsiteY48" fmla="*/ 136637 h 605592"/>
              <a:gd name="connsiteX49" fmla="*/ 224043 w 606581"/>
              <a:gd name="connsiteY49" fmla="*/ 65538 h 605592"/>
              <a:gd name="connsiteX50" fmla="*/ 295258 w 606581"/>
              <a:gd name="connsiteY50" fmla="*/ 17613 h 605592"/>
              <a:gd name="connsiteX51" fmla="*/ 382536 w 606581"/>
              <a:gd name="connsiteY51" fmla="*/ 0 h 605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6581" h="605592">
                <a:moveTo>
                  <a:pt x="140017" y="411043"/>
                </a:moveTo>
                <a:cubicBezTo>
                  <a:pt x="154035" y="411043"/>
                  <a:pt x="168053" y="416326"/>
                  <a:pt x="178821" y="427078"/>
                </a:cubicBezTo>
                <a:cubicBezTo>
                  <a:pt x="200266" y="448488"/>
                  <a:pt x="200266" y="483153"/>
                  <a:pt x="178821" y="504564"/>
                </a:cubicBezTo>
                <a:lnTo>
                  <a:pt x="93692" y="589557"/>
                </a:lnTo>
                <a:cubicBezTo>
                  <a:pt x="83016" y="600216"/>
                  <a:pt x="68905" y="605592"/>
                  <a:pt x="54887" y="605592"/>
                </a:cubicBezTo>
                <a:cubicBezTo>
                  <a:pt x="40870" y="605592"/>
                  <a:pt x="26759" y="600216"/>
                  <a:pt x="16083" y="589557"/>
                </a:cubicBezTo>
                <a:cubicBezTo>
                  <a:pt x="-5362" y="568147"/>
                  <a:pt x="-5362" y="533389"/>
                  <a:pt x="16083" y="511979"/>
                </a:cubicBezTo>
                <a:lnTo>
                  <a:pt x="101212" y="427078"/>
                </a:lnTo>
                <a:cubicBezTo>
                  <a:pt x="111888" y="416326"/>
                  <a:pt x="125999" y="411043"/>
                  <a:pt x="140017" y="411043"/>
                </a:cubicBezTo>
                <a:close/>
                <a:moveTo>
                  <a:pt x="382501" y="49537"/>
                </a:moveTo>
                <a:cubicBezTo>
                  <a:pt x="478871" y="49537"/>
                  <a:pt x="557044" y="127491"/>
                  <a:pt x="557044" y="223798"/>
                </a:cubicBezTo>
                <a:cubicBezTo>
                  <a:pt x="557044" y="320012"/>
                  <a:pt x="478871" y="398059"/>
                  <a:pt x="382501" y="398059"/>
                </a:cubicBezTo>
                <a:cubicBezTo>
                  <a:pt x="286130" y="398059"/>
                  <a:pt x="207957" y="320012"/>
                  <a:pt x="207957" y="223798"/>
                </a:cubicBezTo>
                <a:cubicBezTo>
                  <a:pt x="207957" y="127491"/>
                  <a:pt x="286130" y="49537"/>
                  <a:pt x="382501" y="49537"/>
                </a:cubicBezTo>
                <a:close/>
                <a:moveTo>
                  <a:pt x="382536" y="24750"/>
                </a:moveTo>
                <a:cubicBezTo>
                  <a:pt x="355610" y="24750"/>
                  <a:pt x="329519" y="30034"/>
                  <a:pt x="304914" y="40417"/>
                </a:cubicBezTo>
                <a:cubicBezTo>
                  <a:pt x="281238" y="50428"/>
                  <a:pt x="259882" y="64796"/>
                  <a:pt x="241591" y="83058"/>
                </a:cubicBezTo>
                <a:cubicBezTo>
                  <a:pt x="223300" y="101319"/>
                  <a:pt x="208908" y="122547"/>
                  <a:pt x="198880" y="146278"/>
                </a:cubicBezTo>
                <a:cubicBezTo>
                  <a:pt x="188481" y="170843"/>
                  <a:pt x="183189" y="196891"/>
                  <a:pt x="183189" y="223774"/>
                </a:cubicBezTo>
                <a:cubicBezTo>
                  <a:pt x="183189" y="250564"/>
                  <a:pt x="188481" y="276705"/>
                  <a:pt x="198880" y="301177"/>
                </a:cubicBezTo>
                <a:cubicBezTo>
                  <a:pt x="208908" y="324908"/>
                  <a:pt x="223300" y="346228"/>
                  <a:pt x="241591" y="364490"/>
                </a:cubicBezTo>
                <a:cubicBezTo>
                  <a:pt x="259882" y="382752"/>
                  <a:pt x="281238" y="397027"/>
                  <a:pt x="304914" y="407131"/>
                </a:cubicBezTo>
                <a:cubicBezTo>
                  <a:pt x="329519" y="417513"/>
                  <a:pt x="355610" y="422705"/>
                  <a:pt x="382536" y="422705"/>
                </a:cubicBezTo>
                <a:cubicBezTo>
                  <a:pt x="409462" y="422705"/>
                  <a:pt x="435553" y="417513"/>
                  <a:pt x="460158" y="407131"/>
                </a:cubicBezTo>
                <a:cubicBezTo>
                  <a:pt x="483834" y="397027"/>
                  <a:pt x="505190" y="382752"/>
                  <a:pt x="523481" y="364490"/>
                </a:cubicBezTo>
                <a:cubicBezTo>
                  <a:pt x="541772" y="346228"/>
                  <a:pt x="556164" y="324908"/>
                  <a:pt x="566192" y="301177"/>
                </a:cubicBezTo>
                <a:cubicBezTo>
                  <a:pt x="576591" y="276705"/>
                  <a:pt x="581883" y="250564"/>
                  <a:pt x="581883" y="223774"/>
                </a:cubicBezTo>
                <a:cubicBezTo>
                  <a:pt x="581883" y="196891"/>
                  <a:pt x="576591" y="170843"/>
                  <a:pt x="566192" y="146278"/>
                </a:cubicBezTo>
                <a:cubicBezTo>
                  <a:pt x="556164" y="122547"/>
                  <a:pt x="541772" y="101319"/>
                  <a:pt x="523481" y="83058"/>
                </a:cubicBezTo>
                <a:cubicBezTo>
                  <a:pt x="505190" y="64796"/>
                  <a:pt x="483834" y="50428"/>
                  <a:pt x="460158" y="40417"/>
                </a:cubicBezTo>
                <a:cubicBezTo>
                  <a:pt x="435553" y="30034"/>
                  <a:pt x="409462" y="24750"/>
                  <a:pt x="382536" y="24750"/>
                </a:cubicBezTo>
                <a:close/>
                <a:moveTo>
                  <a:pt x="382536" y="0"/>
                </a:moveTo>
                <a:cubicBezTo>
                  <a:pt x="412712" y="0"/>
                  <a:pt x="442145" y="5933"/>
                  <a:pt x="469721" y="17613"/>
                </a:cubicBezTo>
                <a:cubicBezTo>
                  <a:pt x="496462" y="28922"/>
                  <a:pt x="520417" y="45051"/>
                  <a:pt x="540937" y="65538"/>
                </a:cubicBezTo>
                <a:cubicBezTo>
                  <a:pt x="561549" y="86117"/>
                  <a:pt x="577705" y="110033"/>
                  <a:pt x="588940" y="136637"/>
                </a:cubicBezTo>
                <a:cubicBezTo>
                  <a:pt x="600639" y="164262"/>
                  <a:pt x="606581" y="193554"/>
                  <a:pt x="606581" y="223774"/>
                </a:cubicBezTo>
                <a:cubicBezTo>
                  <a:pt x="606581" y="253901"/>
                  <a:pt x="600639" y="283194"/>
                  <a:pt x="588940" y="310818"/>
                </a:cubicBezTo>
                <a:cubicBezTo>
                  <a:pt x="577705" y="337515"/>
                  <a:pt x="561549" y="361431"/>
                  <a:pt x="540937" y="381917"/>
                </a:cubicBezTo>
                <a:cubicBezTo>
                  <a:pt x="520417" y="402496"/>
                  <a:pt x="496462" y="418626"/>
                  <a:pt x="469721" y="429842"/>
                </a:cubicBezTo>
                <a:cubicBezTo>
                  <a:pt x="442145" y="441522"/>
                  <a:pt x="412805" y="447455"/>
                  <a:pt x="382536" y="447455"/>
                </a:cubicBezTo>
                <a:cubicBezTo>
                  <a:pt x="352267" y="447455"/>
                  <a:pt x="322927" y="441522"/>
                  <a:pt x="295258" y="429842"/>
                </a:cubicBezTo>
                <a:cubicBezTo>
                  <a:pt x="275295" y="421407"/>
                  <a:pt x="256818" y="410190"/>
                  <a:pt x="240105" y="396471"/>
                </a:cubicBezTo>
                <a:lnTo>
                  <a:pt x="209558" y="427061"/>
                </a:lnTo>
                <a:cubicBezTo>
                  <a:pt x="206030" y="420758"/>
                  <a:pt x="201666" y="414918"/>
                  <a:pt x="196373" y="409541"/>
                </a:cubicBezTo>
                <a:cubicBezTo>
                  <a:pt x="191081" y="404350"/>
                  <a:pt x="185232" y="399901"/>
                  <a:pt x="178918" y="396378"/>
                </a:cubicBezTo>
                <a:lnTo>
                  <a:pt x="209465" y="365880"/>
                </a:lnTo>
                <a:cubicBezTo>
                  <a:pt x="195724" y="349287"/>
                  <a:pt x="184582" y="330840"/>
                  <a:pt x="176040" y="310818"/>
                </a:cubicBezTo>
                <a:cubicBezTo>
                  <a:pt x="164341" y="283194"/>
                  <a:pt x="158491" y="253901"/>
                  <a:pt x="158491" y="223774"/>
                </a:cubicBezTo>
                <a:cubicBezTo>
                  <a:pt x="158491" y="193554"/>
                  <a:pt x="164341" y="164262"/>
                  <a:pt x="176040" y="136637"/>
                </a:cubicBezTo>
                <a:cubicBezTo>
                  <a:pt x="187367" y="110033"/>
                  <a:pt x="203523" y="86117"/>
                  <a:pt x="224043" y="65538"/>
                </a:cubicBezTo>
                <a:cubicBezTo>
                  <a:pt x="244655" y="45051"/>
                  <a:pt x="268610" y="28922"/>
                  <a:pt x="295258" y="17613"/>
                </a:cubicBezTo>
                <a:cubicBezTo>
                  <a:pt x="322927" y="5933"/>
                  <a:pt x="352267" y="0"/>
                  <a:pt x="38253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1" name="Título 20">
            <a:extLst>
              <a:ext uri="{FF2B5EF4-FFF2-40B4-BE49-F238E27FC236}">
                <a16:creationId xmlns:a16="http://schemas.microsoft.com/office/drawing/2014/main" id="{8E685A7B-284B-49F0-B076-31AB5FBB726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9552" y="271009"/>
            <a:ext cx="6460966" cy="544979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en-US" dirty="0"/>
              <a:t>Click to enter the relevant text title</a:t>
            </a:r>
            <a:br>
              <a:rPr lang="en-US" dirty="0"/>
            </a:br>
            <a:endParaRPr lang="es-PE" dirty="0"/>
          </a:p>
        </p:txBody>
      </p:sp>
      <p:sp>
        <p:nvSpPr>
          <p:cNvPr id="26" name="Rectangle 578">
            <a:extLst>
              <a:ext uri="{FF2B5EF4-FFF2-40B4-BE49-F238E27FC236}">
                <a16:creationId xmlns:a16="http://schemas.microsoft.com/office/drawing/2014/main" id="{E7649288-EBF5-4D14-8F7A-1533F8F004B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309196" y="6280820"/>
            <a:ext cx="173697" cy="468362"/>
          </a:xfrm>
          <a:prstGeom prst="rect">
            <a:avLst/>
          </a:prstGeom>
          <a:solidFill>
            <a:srgbClr val="75BDA7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 dirty="0"/>
          </a:p>
        </p:txBody>
      </p:sp>
      <p:sp>
        <p:nvSpPr>
          <p:cNvPr id="27" name="Freeform 579">
            <a:extLst>
              <a:ext uri="{FF2B5EF4-FFF2-40B4-BE49-F238E27FC236}">
                <a16:creationId xmlns:a16="http://schemas.microsoft.com/office/drawing/2014/main" id="{45494489-E69F-4E02-BF13-11E110E69FCC}"/>
              </a:ext>
            </a:extLst>
          </p:cNvPr>
          <p:cNvSpPr>
            <a:spLocks/>
          </p:cNvSpPr>
          <p:nvPr userDrawn="1"/>
        </p:nvSpPr>
        <p:spPr bwMode="auto">
          <a:xfrm>
            <a:off x="11309196" y="5997012"/>
            <a:ext cx="792493" cy="752171"/>
          </a:xfrm>
          <a:custGeom>
            <a:avLst/>
            <a:gdLst>
              <a:gd name="T0" fmla="*/ 0 w 676"/>
              <a:gd name="T1" fmla="*/ 241 h 641"/>
              <a:gd name="T2" fmla="*/ 152 w 676"/>
              <a:gd name="T3" fmla="*/ 241 h 641"/>
              <a:gd name="T4" fmla="*/ 281 w 676"/>
              <a:gd name="T5" fmla="*/ 404 h 641"/>
              <a:gd name="T6" fmla="*/ 492 w 676"/>
              <a:gd name="T7" fmla="*/ 128 h 641"/>
              <a:gd name="T8" fmla="*/ 423 w 676"/>
              <a:gd name="T9" fmla="*/ 69 h 641"/>
              <a:gd name="T10" fmla="*/ 676 w 676"/>
              <a:gd name="T11" fmla="*/ 0 h 641"/>
              <a:gd name="T12" fmla="*/ 656 w 676"/>
              <a:gd name="T13" fmla="*/ 263 h 641"/>
              <a:gd name="T14" fmla="*/ 588 w 676"/>
              <a:gd name="T15" fmla="*/ 207 h 641"/>
              <a:gd name="T16" fmla="*/ 281 w 676"/>
              <a:gd name="T17" fmla="*/ 641 h 641"/>
              <a:gd name="T18" fmla="*/ 0 w 676"/>
              <a:gd name="T19" fmla="*/ 241 h 6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676" h="641">
                <a:moveTo>
                  <a:pt x="0" y="241"/>
                </a:moveTo>
                <a:cubicBezTo>
                  <a:pt x="51" y="241"/>
                  <a:pt x="101" y="241"/>
                  <a:pt x="152" y="241"/>
                </a:cubicBezTo>
                <a:cubicBezTo>
                  <a:pt x="195" y="295"/>
                  <a:pt x="238" y="350"/>
                  <a:pt x="281" y="404"/>
                </a:cubicBezTo>
                <a:cubicBezTo>
                  <a:pt x="351" y="312"/>
                  <a:pt x="422" y="220"/>
                  <a:pt x="492" y="128"/>
                </a:cubicBezTo>
                <a:cubicBezTo>
                  <a:pt x="469" y="108"/>
                  <a:pt x="446" y="89"/>
                  <a:pt x="423" y="69"/>
                </a:cubicBezTo>
                <a:cubicBezTo>
                  <a:pt x="507" y="46"/>
                  <a:pt x="592" y="23"/>
                  <a:pt x="676" y="0"/>
                </a:cubicBezTo>
                <a:cubicBezTo>
                  <a:pt x="669" y="87"/>
                  <a:pt x="663" y="175"/>
                  <a:pt x="656" y="263"/>
                </a:cubicBezTo>
                <a:cubicBezTo>
                  <a:pt x="633" y="244"/>
                  <a:pt x="611" y="225"/>
                  <a:pt x="588" y="207"/>
                </a:cubicBezTo>
                <a:cubicBezTo>
                  <a:pt x="486" y="351"/>
                  <a:pt x="383" y="496"/>
                  <a:pt x="281" y="641"/>
                </a:cubicBezTo>
                <a:cubicBezTo>
                  <a:pt x="187" y="508"/>
                  <a:pt x="94" y="374"/>
                  <a:pt x="0" y="241"/>
                </a:cubicBezTo>
                <a:close/>
              </a:path>
            </a:pathLst>
          </a:custGeom>
          <a:solidFill>
            <a:srgbClr val="58B6C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 dirty="0"/>
          </a:p>
        </p:txBody>
      </p:sp>
      <p:sp>
        <p:nvSpPr>
          <p:cNvPr id="28" name="Freeform 580">
            <a:extLst>
              <a:ext uri="{FF2B5EF4-FFF2-40B4-BE49-F238E27FC236}">
                <a16:creationId xmlns:a16="http://schemas.microsoft.com/office/drawing/2014/main" id="{D9C41E3C-239A-461E-B13B-241E2D427202}"/>
              </a:ext>
            </a:extLst>
          </p:cNvPr>
          <p:cNvSpPr>
            <a:spLocks/>
          </p:cNvSpPr>
          <p:nvPr userDrawn="1"/>
        </p:nvSpPr>
        <p:spPr bwMode="auto">
          <a:xfrm>
            <a:off x="11822532" y="6280820"/>
            <a:ext cx="175248" cy="468362"/>
          </a:xfrm>
          <a:custGeom>
            <a:avLst/>
            <a:gdLst>
              <a:gd name="T0" fmla="*/ 0 w 150"/>
              <a:gd name="T1" fmla="*/ 209 h 399"/>
              <a:gd name="T2" fmla="*/ 150 w 150"/>
              <a:gd name="T3" fmla="*/ 0 h 399"/>
              <a:gd name="T4" fmla="*/ 150 w 150"/>
              <a:gd name="T5" fmla="*/ 399 h 399"/>
              <a:gd name="T6" fmla="*/ 0 w 150"/>
              <a:gd name="T7" fmla="*/ 399 h 399"/>
              <a:gd name="T8" fmla="*/ 0 w 150"/>
              <a:gd name="T9" fmla="*/ 209 h 3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50" h="399">
                <a:moveTo>
                  <a:pt x="0" y="209"/>
                </a:moveTo>
                <a:cubicBezTo>
                  <a:pt x="50" y="140"/>
                  <a:pt x="100" y="70"/>
                  <a:pt x="150" y="0"/>
                </a:cubicBezTo>
                <a:cubicBezTo>
                  <a:pt x="150" y="133"/>
                  <a:pt x="150" y="266"/>
                  <a:pt x="150" y="399"/>
                </a:cubicBezTo>
                <a:cubicBezTo>
                  <a:pt x="100" y="399"/>
                  <a:pt x="50" y="399"/>
                  <a:pt x="0" y="399"/>
                </a:cubicBezTo>
                <a:cubicBezTo>
                  <a:pt x="0" y="336"/>
                  <a:pt x="0" y="273"/>
                  <a:pt x="0" y="209"/>
                </a:cubicBezTo>
                <a:close/>
              </a:path>
            </a:pathLst>
          </a:custGeom>
          <a:solidFill>
            <a:srgbClr val="75BDA7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 dirty="0"/>
          </a:p>
        </p:txBody>
      </p:sp>
      <p:sp>
        <p:nvSpPr>
          <p:cNvPr id="29" name="Freeform 581">
            <a:extLst>
              <a:ext uri="{FF2B5EF4-FFF2-40B4-BE49-F238E27FC236}">
                <a16:creationId xmlns:a16="http://schemas.microsoft.com/office/drawing/2014/main" id="{25E4434D-0B0E-4A66-BCF4-C91C4EEC5AA9}"/>
              </a:ext>
            </a:extLst>
          </p:cNvPr>
          <p:cNvSpPr>
            <a:spLocks/>
          </p:cNvSpPr>
          <p:nvPr userDrawn="1"/>
        </p:nvSpPr>
        <p:spPr bwMode="auto">
          <a:xfrm>
            <a:off x="11309196" y="6280820"/>
            <a:ext cx="173697" cy="356699"/>
          </a:xfrm>
          <a:custGeom>
            <a:avLst/>
            <a:gdLst>
              <a:gd name="T0" fmla="*/ 0 w 149"/>
              <a:gd name="T1" fmla="*/ 0 h 305"/>
              <a:gd name="T2" fmla="*/ 149 w 149"/>
              <a:gd name="T3" fmla="*/ 305 h 305"/>
              <a:gd name="T4" fmla="*/ 149 w 149"/>
              <a:gd name="T5" fmla="*/ 212 h 305"/>
              <a:gd name="T6" fmla="*/ 0 w 149"/>
              <a:gd name="T7" fmla="*/ 0 h 3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49" h="305">
                <a:moveTo>
                  <a:pt x="0" y="0"/>
                </a:moveTo>
                <a:cubicBezTo>
                  <a:pt x="50" y="102"/>
                  <a:pt x="100" y="204"/>
                  <a:pt x="149" y="305"/>
                </a:cubicBezTo>
                <a:cubicBezTo>
                  <a:pt x="149" y="274"/>
                  <a:pt x="149" y="243"/>
                  <a:pt x="149" y="212"/>
                </a:cubicBezTo>
                <a:cubicBezTo>
                  <a:pt x="99" y="142"/>
                  <a:pt x="50" y="71"/>
                  <a:pt x="0" y="0"/>
                </a:cubicBezTo>
                <a:close/>
              </a:path>
            </a:pathLst>
          </a:custGeom>
          <a:solidFill>
            <a:srgbClr val="3494B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 dirty="0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72B0F827-A81B-4060-A691-4C1BB2E1601F}"/>
              </a:ext>
            </a:extLst>
          </p:cNvPr>
          <p:cNvSpPr/>
          <p:nvPr userDrawn="1"/>
        </p:nvSpPr>
        <p:spPr>
          <a:xfrm>
            <a:off x="1" y="6571641"/>
            <a:ext cx="11309196" cy="177540"/>
          </a:xfrm>
          <a:prstGeom prst="rect">
            <a:avLst/>
          </a:prstGeom>
          <a:solidFill>
            <a:srgbClr val="75BDA7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692960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o 8">
            <a:extLst>
              <a:ext uri="{FF2B5EF4-FFF2-40B4-BE49-F238E27FC236}">
                <a16:creationId xmlns:a16="http://schemas.microsoft.com/office/drawing/2014/main" id="{B22F1847-CFC5-45DB-997A-5EFDECA57DB9}"/>
              </a:ext>
            </a:extLst>
          </p:cNvPr>
          <p:cNvGrpSpPr/>
          <p:nvPr userDrawn="1"/>
        </p:nvGrpSpPr>
        <p:grpSpPr>
          <a:xfrm>
            <a:off x="0" y="6572402"/>
            <a:ext cx="12154152" cy="176780"/>
            <a:chOff x="0" y="6640497"/>
            <a:chExt cx="12154152" cy="226331"/>
          </a:xfrm>
        </p:grpSpPr>
        <p:sp>
          <p:nvSpPr>
            <p:cNvPr id="26" name="Rectangle 36">
              <a:extLst>
                <a:ext uri="{FF2B5EF4-FFF2-40B4-BE49-F238E27FC236}">
                  <a16:creationId xmlns:a16="http://schemas.microsoft.com/office/drawing/2014/main" id="{DB929CA7-53E6-43F0-8FF8-CDF3DF758CDA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0" y="6640497"/>
              <a:ext cx="5104067" cy="226331"/>
            </a:xfrm>
            <a:prstGeom prst="rect">
              <a:avLst/>
            </a:prstGeom>
            <a:solidFill>
              <a:srgbClr val="58B6C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PE" dirty="0"/>
            </a:p>
          </p:txBody>
        </p:sp>
        <p:sp>
          <p:nvSpPr>
            <p:cNvPr id="27" name="Rectangle 37">
              <a:extLst>
                <a:ext uri="{FF2B5EF4-FFF2-40B4-BE49-F238E27FC236}">
                  <a16:creationId xmlns:a16="http://schemas.microsoft.com/office/drawing/2014/main" id="{BD0A70F8-B4B1-408C-9791-B9B2284FFE6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082915" y="6640497"/>
              <a:ext cx="3633977" cy="226331"/>
            </a:xfrm>
            <a:prstGeom prst="rect">
              <a:avLst/>
            </a:prstGeom>
            <a:solidFill>
              <a:srgbClr val="8CC066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PE" dirty="0"/>
            </a:p>
          </p:txBody>
        </p:sp>
        <p:sp>
          <p:nvSpPr>
            <p:cNvPr id="28" name="Rectangle 38">
              <a:extLst>
                <a:ext uri="{FF2B5EF4-FFF2-40B4-BE49-F238E27FC236}">
                  <a16:creationId xmlns:a16="http://schemas.microsoft.com/office/drawing/2014/main" id="{5A9B10AD-0719-40EA-9819-397122A37018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8716892" y="6640497"/>
              <a:ext cx="2149081" cy="226331"/>
            </a:xfrm>
            <a:prstGeom prst="rect">
              <a:avLst/>
            </a:prstGeom>
            <a:solidFill>
              <a:srgbClr val="3494BA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PE" dirty="0"/>
            </a:p>
          </p:txBody>
        </p:sp>
        <p:sp>
          <p:nvSpPr>
            <p:cNvPr id="29" name="Rectangle 39">
              <a:extLst>
                <a:ext uri="{FF2B5EF4-FFF2-40B4-BE49-F238E27FC236}">
                  <a16:creationId xmlns:a16="http://schemas.microsoft.com/office/drawing/2014/main" id="{27D11D7E-5B0A-439D-9D57-0546D771CF8C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0865972" y="6640497"/>
              <a:ext cx="1288180" cy="226331"/>
            </a:xfrm>
            <a:prstGeom prst="rect">
              <a:avLst/>
            </a:prstGeom>
            <a:solidFill>
              <a:srgbClr val="75BDA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PE" dirty="0"/>
            </a:p>
          </p:txBody>
        </p:sp>
      </p:grpSp>
    </p:spTree>
    <p:extLst>
      <p:ext uri="{BB962C8B-B14F-4D97-AF65-F5344CB8AC3E}">
        <p14:creationId xmlns:p14="http://schemas.microsoft.com/office/powerpoint/2010/main" val="3900478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7786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ED2DBC6C-DD6D-48BF-98C2-B6D09B71BC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3529" y="123478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Sets Layout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8E335B3-E6C8-4C68-B320-5A11CD77B769}"/>
              </a:ext>
            </a:extLst>
          </p:cNvPr>
          <p:cNvSpPr/>
          <p:nvPr userDrawn="1"/>
        </p:nvSpPr>
        <p:spPr>
          <a:xfrm>
            <a:off x="354010" y="1131591"/>
            <a:ext cx="3560767" cy="5402561"/>
          </a:xfrm>
          <a:prstGeom prst="roundRect">
            <a:avLst>
              <a:gd name="adj" fmla="val 3968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0D8302F-3B95-4D6C-8612-300A5D3E29C1}"/>
              </a:ext>
            </a:extLst>
          </p:cNvPr>
          <p:cNvSpPr/>
          <p:nvPr userDrawn="1"/>
        </p:nvSpPr>
        <p:spPr>
          <a:xfrm>
            <a:off x="531933" y="1347500"/>
            <a:ext cx="153868" cy="5015200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bg1"/>
              </a:solidFill>
            </a:endParaRPr>
          </a:p>
        </p:txBody>
      </p:sp>
      <p:sp>
        <p:nvSpPr>
          <p:cNvPr id="5" name="Half Frame 4">
            <a:extLst>
              <a:ext uri="{FF2B5EF4-FFF2-40B4-BE49-F238E27FC236}">
                <a16:creationId xmlns:a16="http://schemas.microsoft.com/office/drawing/2014/main" id="{1FC8F613-E070-4AE7-9313-0DDC9F553451}"/>
              </a:ext>
            </a:extLst>
          </p:cNvPr>
          <p:cNvSpPr/>
          <p:nvPr userDrawn="1"/>
        </p:nvSpPr>
        <p:spPr>
          <a:xfrm rot="5400000">
            <a:off x="3057177" y="1276653"/>
            <a:ext cx="685849" cy="685148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" name="TextBox 57">
            <a:extLst>
              <a:ext uri="{FF2B5EF4-FFF2-40B4-BE49-F238E27FC236}">
                <a16:creationId xmlns:a16="http://schemas.microsoft.com/office/drawing/2014/main" id="{B82A7FE8-1FB6-45BD-BF01-27DCAE0D0FAD}"/>
              </a:ext>
            </a:extLst>
          </p:cNvPr>
          <p:cNvSpPr txBox="1"/>
          <p:nvPr userDrawn="1"/>
        </p:nvSpPr>
        <p:spPr>
          <a:xfrm>
            <a:off x="711704" y="1637214"/>
            <a:ext cx="223224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Resize without losing quality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TextBox 58">
            <a:extLst>
              <a:ext uri="{FF2B5EF4-FFF2-40B4-BE49-F238E27FC236}">
                <a16:creationId xmlns:a16="http://schemas.microsoft.com/office/drawing/2014/main" id="{7840F394-0820-4BF8-A5C8-E994209710B0}"/>
              </a:ext>
            </a:extLst>
          </p:cNvPr>
          <p:cNvSpPr txBox="1"/>
          <p:nvPr userDrawn="1"/>
        </p:nvSpPr>
        <p:spPr>
          <a:xfrm>
            <a:off x="711704" y="2127463"/>
            <a:ext cx="2232248" cy="73866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Change Fill Color &amp;</a:t>
            </a:r>
          </a:p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Line Color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9" name="TextBox 60">
            <a:extLst>
              <a:ext uri="{FF2B5EF4-FFF2-40B4-BE49-F238E27FC236}">
                <a16:creationId xmlns:a16="http://schemas.microsoft.com/office/drawing/2014/main" id="{539B8B64-1121-4AE7-A6EF-FD1E7CAF1200}"/>
              </a:ext>
            </a:extLst>
          </p:cNvPr>
          <p:cNvSpPr txBox="1"/>
          <p:nvPr userDrawn="1"/>
        </p:nvSpPr>
        <p:spPr>
          <a:xfrm>
            <a:off x="721229" y="4450324"/>
            <a:ext cx="2717296" cy="138499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FREE </a:t>
            </a:r>
          </a:p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PPT TEMPLATES</a:t>
            </a:r>
          </a:p>
        </p:txBody>
      </p:sp>
    </p:spTree>
    <p:extLst>
      <p:ext uri="{BB962C8B-B14F-4D97-AF65-F5344CB8AC3E}">
        <p14:creationId xmlns:p14="http://schemas.microsoft.com/office/powerpoint/2010/main" val="901180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 userDrawn="1"/>
        </p:nvSpPr>
        <p:spPr>
          <a:xfrm>
            <a:off x="4318000" y="2971800"/>
            <a:ext cx="35560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00" dirty="0">
                <a:solidFill>
                  <a:schemeClr val="bg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感谢您下载包图网平台上提供的</a:t>
            </a:r>
            <a:r>
              <a:rPr lang="en-US" altLang="zh-CN" sz="300" dirty="0">
                <a:solidFill>
                  <a:schemeClr val="bg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PPT</a:t>
            </a:r>
            <a:r>
              <a:rPr lang="zh-CN" altLang="en-US" sz="300" dirty="0">
                <a:solidFill>
                  <a:schemeClr val="bg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r>
              <a:rPr lang="en-US" altLang="zh-CN" sz="600" dirty="0">
                <a:solidFill>
                  <a:schemeClr val="bg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ibaotu.com</a:t>
            </a:r>
          </a:p>
        </p:txBody>
      </p:sp>
    </p:spTree>
    <p:extLst>
      <p:ext uri="{BB962C8B-B14F-4D97-AF65-F5344CB8AC3E}">
        <p14:creationId xmlns:p14="http://schemas.microsoft.com/office/powerpoint/2010/main" val="3337063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6" r:id="rId3"/>
    <p:sldLayoutId id="2147483654" r:id="rId4"/>
    <p:sldLayoutId id="2147483657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55ACAA29-E31C-47AD-8D1B-75487448FCC1}"/>
              </a:ext>
            </a:extLst>
          </p:cNvPr>
          <p:cNvSpPr/>
          <p:nvPr/>
        </p:nvSpPr>
        <p:spPr>
          <a:xfrm>
            <a:off x="0" y="0"/>
            <a:ext cx="6227217" cy="6858000"/>
          </a:xfrm>
          <a:custGeom>
            <a:avLst/>
            <a:gdLst>
              <a:gd name="connsiteX0" fmla="*/ 0 w 6227217"/>
              <a:gd name="connsiteY0" fmla="*/ 0 h 6858000"/>
              <a:gd name="connsiteX1" fmla="*/ 265474 w 6227217"/>
              <a:gd name="connsiteY1" fmla="*/ 0 h 6858000"/>
              <a:gd name="connsiteX2" fmla="*/ 381000 w 6227217"/>
              <a:gd name="connsiteY2" fmla="*/ 0 h 6858000"/>
              <a:gd name="connsiteX3" fmla="*/ 646474 w 6227217"/>
              <a:gd name="connsiteY3" fmla="*/ 0 h 6858000"/>
              <a:gd name="connsiteX4" fmla="*/ 3471545 w 6227217"/>
              <a:gd name="connsiteY4" fmla="*/ 0 h 6858000"/>
              <a:gd name="connsiteX5" fmla="*/ 3737019 w 6227217"/>
              <a:gd name="connsiteY5" fmla="*/ 0 h 6858000"/>
              <a:gd name="connsiteX6" fmla="*/ 3852545 w 6227217"/>
              <a:gd name="connsiteY6" fmla="*/ 0 h 6858000"/>
              <a:gd name="connsiteX7" fmla="*/ 4118019 w 6227217"/>
              <a:gd name="connsiteY7" fmla="*/ 0 h 6858000"/>
              <a:gd name="connsiteX8" fmla="*/ 3961174 w 6227217"/>
              <a:gd name="connsiteY8" fmla="*/ 723900 h 6858000"/>
              <a:gd name="connsiteX9" fmla="*/ 4304074 w 6227217"/>
              <a:gd name="connsiteY9" fmla="*/ 1905000 h 6858000"/>
              <a:gd name="connsiteX10" fmla="*/ 6227217 w 6227217"/>
              <a:gd name="connsiteY10" fmla="*/ 6858000 h 6858000"/>
              <a:gd name="connsiteX11" fmla="*/ 5961743 w 6227217"/>
              <a:gd name="connsiteY11" fmla="*/ 6858000 h 6858000"/>
              <a:gd name="connsiteX12" fmla="*/ 5846217 w 6227217"/>
              <a:gd name="connsiteY12" fmla="*/ 6858000 h 6858000"/>
              <a:gd name="connsiteX13" fmla="*/ 5580743 w 6227217"/>
              <a:gd name="connsiteY13" fmla="*/ 6858000 h 6858000"/>
              <a:gd name="connsiteX14" fmla="*/ 646474 w 6227217"/>
              <a:gd name="connsiteY14" fmla="*/ 6858000 h 6858000"/>
              <a:gd name="connsiteX15" fmla="*/ 381000 w 6227217"/>
              <a:gd name="connsiteY15" fmla="*/ 6858000 h 6858000"/>
              <a:gd name="connsiteX16" fmla="*/ 265474 w 6227217"/>
              <a:gd name="connsiteY16" fmla="*/ 6858000 h 6858000"/>
              <a:gd name="connsiteX17" fmla="*/ 0 w 6227217"/>
              <a:gd name="connsiteY1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6227217" h="6858000">
                <a:moveTo>
                  <a:pt x="0" y="0"/>
                </a:moveTo>
                <a:lnTo>
                  <a:pt x="265474" y="0"/>
                </a:lnTo>
                <a:lnTo>
                  <a:pt x="381000" y="0"/>
                </a:lnTo>
                <a:lnTo>
                  <a:pt x="646474" y="0"/>
                </a:lnTo>
                <a:lnTo>
                  <a:pt x="3471545" y="0"/>
                </a:lnTo>
                <a:lnTo>
                  <a:pt x="3737019" y="0"/>
                </a:lnTo>
                <a:lnTo>
                  <a:pt x="3852545" y="0"/>
                </a:lnTo>
                <a:lnTo>
                  <a:pt x="4118019" y="0"/>
                </a:lnTo>
                <a:lnTo>
                  <a:pt x="3961174" y="723900"/>
                </a:lnTo>
                <a:lnTo>
                  <a:pt x="4304074" y="1905000"/>
                </a:lnTo>
                <a:lnTo>
                  <a:pt x="6227217" y="6858000"/>
                </a:lnTo>
                <a:lnTo>
                  <a:pt x="5961743" y="6858000"/>
                </a:lnTo>
                <a:lnTo>
                  <a:pt x="5846217" y="6858000"/>
                </a:lnTo>
                <a:lnTo>
                  <a:pt x="5580743" y="6858000"/>
                </a:lnTo>
                <a:lnTo>
                  <a:pt x="646474" y="6858000"/>
                </a:lnTo>
                <a:lnTo>
                  <a:pt x="381000" y="6858000"/>
                </a:lnTo>
                <a:lnTo>
                  <a:pt x="26547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3"/>
            <a:srcRect/>
            <a:tile tx="-86360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1B4D21F5-DD21-4926-9418-6702EA44468B}"/>
              </a:ext>
            </a:extLst>
          </p:cNvPr>
          <p:cNvSpPr/>
          <p:nvPr/>
        </p:nvSpPr>
        <p:spPr>
          <a:xfrm flipH="1">
            <a:off x="6518294" y="5372743"/>
            <a:ext cx="1302443" cy="1491343"/>
          </a:xfrm>
          <a:custGeom>
            <a:avLst/>
            <a:gdLst>
              <a:gd name="connsiteX0" fmla="*/ 1302443 w 1302443"/>
              <a:gd name="connsiteY0" fmla="*/ 0 h 1491343"/>
              <a:gd name="connsiteX1" fmla="*/ 591643 w 1302443"/>
              <a:gd name="connsiteY1" fmla="*/ 0 h 1491343"/>
              <a:gd name="connsiteX2" fmla="*/ 0 w 1302443"/>
              <a:gd name="connsiteY2" fmla="*/ 1491343 h 1491343"/>
              <a:gd name="connsiteX3" fmla="*/ 710800 w 1302443"/>
              <a:gd name="connsiteY3" fmla="*/ 1491343 h 1491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02443" h="1491343">
                <a:moveTo>
                  <a:pt x="1302443" y="0"/>
                </a:moveTo>
                <a:lnTo>
                  <a:pt x="591643" y="0"/>
                </a:lnTo>
                <a:lnTo>
                  <a:pt x="0" y="1491343"/>
                </a:lnTo>
                <a:lnTo>
                  <a:pt x="710800" y="1491343"/>
                </a:lnTo>
                <a:close/>
              </a:path>
            </a:pathLst>
          </a:custGeom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000" noProof="0" dirty="0">
              <a:latin typeface="Century Gothic" panose="020B0502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3D979C5D-6245-4597-AF73-005B56B26466}"/>
              </a:ext>
            </a:extLst>
          </p:cNvPr>
          <p:cNvSpPr/>
          <p:nvPr/>
        </p:nvSpPr>
        <p:spPr>
          <a:xfrm flipH="1">
            <a:off x="3837349" y="724542"/>
            <a:ext cx="2775903" cy="6129830"/>
          </a:xfrm>
          <a:custGeom>
            <a:avLst/>
            <a:gdLst>
              <a:gd name="connsiteX0" fmla="*/ 2775903 w 2775903"/>
              <a:gd name="connsiteY0" fmla="*/ 0 h 6129830"/>
              <a:gd name="connsiteX1" fmla="*/ 2431816 w 2775903"/>
              <a:gd name="connsiteY1" fmla="*/ 0 h 6129830"/>
              <a:gd name="connsiteX2" fmla="*/ 0 w 2775903"/>
              <a:gd name="connsiteY2" fmla="*/ 6129830 h 6129830"/>
              <a:gd name="connsiteX3" fmla="*/ 710800 w 2775903"/>
              <a:gd name="connsiteY3" fmla="*/ 6129830 h 6129830"/>
              <a:gd name="connsiteX4" fmla="*/ 2775903 w 2775903"/>
              <a:gd name="connsiteY4" fmla="*/ 924366 h 6129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5903" h="6129830">
                <a:moveTo>
                  <a:pt x="2775903" y="0"/>
                </a:moveTo>
                <a:lnTo>
                  <a:pt x="2431816" y="0"/>
                </a:lnTo>
                <a:lnTo>
                  <a:pt x="0" y="6129830"/>
                </a:lnTo>
                <a:lnTo>
                  <a:pt x="710800" y="6129830"/>
                </a:lnTo>
                <a:lnTo>
                  <a:pt x="2775903" y="92436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000" noProof="0" dirty="0">
              <a:latin typeface="Century Gothic" panose="020B0502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等腰三角形 2">
            <a:extLst>
              <a:ext uri="{FF2B5EF4-FFF2-40B4-BE49-F238E27FC236}">
                <a16:creationId xmlns:a16="http://schemas.microsoft.com/office/drawing/2014/main" id="{470E4646-0874-4CDC-8638-A78E1FD639D4}"/>
              </a:ext>
            </a:extLst>
          </p:cNvPr>
          <p:cNvSpPr/>
          <p:nvPr/>
        </p:nvSpPr>
        <p:spPr>
          <a:xfrm flipV="1">
            <a:off x="3837348" y="3629"/>
            <a:ext cx="1105354" cy="1659537"/>
          </a:xfrm>
          <a:prstGeom prst="triangle">
            <a:avLst>
              <a:gd name="adj" fmla="val 0"/>
            </a:avLst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000" noProof="0" dirty="0">
              <a:latin typeface="Century Gothic" panose="020B0502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23D40C57-23D3-4E1D-8F40-949CDDB159F6}"/>
              </a:ext>
            </a:extLst>
          </p:cNvPr>
          <p:cNvSpPr/>
          <p:nvPr/>
        </p:nvSpPr>
        <p:spPr>
          <a:xfrm>
            <a:off x="5916861" y="5372743"/>
            <a:ext cx="1302443" cy="1491343"/>
          </a:xfrm>
          <a:custGeom>
            <a:avLst/>
            <a:gdLst>
              <a:gd name="connsiteX0" fmla="*/ 591643 w 1302443"/>
              <a:gd name="connsiteY0" fmla="*/ 0 h 1491343"/>
              <a:gd name="connsiteX1" fmla="*/ 1302443 w 1302443"/>
              <a:gd name="connsiteY1" fmla="*/ 0 h 1491343"/>
              <a:gd name="connsiteX2" fmla="*/ 710800 w 1302443"/>
              <a:gd name="connsiteY2" fmla="*/ 1491343 h 1491343"/>
              <a:gd name="connsiteX3" fmla="*/ 0 w 1302443"/>
              <a:gd name="connsiteY3" fmla="*/ 1491343 h 1491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02443" h="1491343">
                <a:moveTo>
                  <a:pt x="591643" y="0"/>
                </a:moveTo>
                <a:lnTo>
                  <a:pt x="1302443" y="0"/>
                </a:lnTo>
                <a:lnTo>
                  <a:pt x="710800" y="1491343"/>
                </a:lnTo>
                <a:lnTo>
                  <a:pt x="0" y="1491343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000" noProof="0" dirty="0">
              <a:latin typeface="Century Gothic" panose="020B0502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0A5630F-E651-40A9-8C97-7B9BDB2CE2C0}"/>
              </a:ext>
            </a:extLst>
          </p:cNvPr>
          <p:cNvSpPr/>
          <p:nvPr/>
        </p:nvSpPr>
        <p:spPr>
          <a:xfrm>
            <a:off x="3432313" y="1271091"/>
            <a:ext cx="8004105" cy="83099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r"/>
            <a:r>
              <a:rPr lang="es-ES" sz="4800" b="1" noProof="0" dirty="0">
                <a:gradFill>
                  <a:gsLst>
                    <a:gs pos="0">
                      <a:schemeClr val="tx1">
                        <a:lumMod val="65000"/>
                        <a:lumOff val="35000"/>
                      </a:schemeClr>
                    </a:gs>
                    <a:gs pos="100000">
                      <a:schemeClr val="tx1"/>
                    </a:gs>
                  </a:gsLst>
                  <a:lin ang="5400000" scaled="1"/>
                </a:gradFill>
              </a:rPr>
              <a:t>Auditoria de sistemas</a:t>
            </a:r>
          </a:p>
        </p:txBody>
      </p:sp>
      <p:sp>
        <p:nvSpPr>
          <p:cNvPr id="2" name="矩形 25">
            <a:extLst>
              <a:ext uri="{FF2B5EF4-FFF2-40B4-BE49-F238E27FC236}">
                <a16:creationId xmlns:a16="http://schemas.microsoft.com/office/drawing/2014/main" id="{BE64753B-C92D-095D-DECB-CD29450C8706}"/>
              </a:ext>
            </a:extLst>
          </p:cNvPr>
          <p:cNvSpPr/>
          <p:nvPr/>
        </p:nvSpPr>
        <p:spPr>
          <a:xfrm>
            <a:off x="3327520" y="2285755"/>
            <a:ext cx="8004105" cy="83099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r"/>
            <a:r>
              <a:rPr lang="es-ES" sz="4800" b="1" noProof="0" dirty="0">
                <a:gradFill>
                  <a:gsLst>
                    <a:gs pos="0">
                      <a:schemeClr val="tx1">
                        <a:lumMod val="65000"/>
                        <a:lumOff val="35000"/>
                      </a:schemeClr>
                    </a:gs>
                    <a:gs pos="100000">
                      <a:schemeClr val="tx1"/>
                    </a:gs>
                  </a:gsLst>
                  <a:lin ang="5400000" scaled="1"/>
                </a:gradFill>
              </a:rPr>
              <a:t>Droguería INTI S.A.</a:t>
            </a:r>
          </a:p>
        </p:txBody>
      </p:sp>
      <p:sp>
        <p:nvSpPr>
          <p:cNvPr id="6" name="矩形 39">
            <a:extLst>
              <a:ext uri="{FF2B5EF4-FFF2-40B4-BE49-F238E27FC236}">
                <a16:creationId xmlns:a16="http://schemas.microsoft.com/office/drawing/2014/main" id="{8ABA2CB3-EB3B-22A9-C126-654BFA851E62}"/>
              </a:ext>
            </a:extLst>
          </p:cNvPr>
          <p:cNvSpPr/>
          <p:nvPr/>
        </p:nvSpPr>
        <p:spPr>
          <a:xfrm>
            <a:off x="5916861" y="3427274"/>
            <a:ext cx="5228217" cy="1389163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altLang="zh-CN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Estudiantes</a:t>
            </a:r>
            <a:r>
              <a: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: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Fabio Camacho Encinas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Cristian Gabriel Saravia Roman</a:t>
            </a:r>
          </a:p>
          <a:p>
            <a:pPr>
              <a:lnSpc>
                <a:spcPct val="120000"/>
              </a:lnSpc>
            </a:pPr>
            <a:r>
              <a: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Carrera: </a:t>
            </a: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Ingenieria de Sistemas</a:t>
            </a:r>
            <a:endParaRPr lang="zh-CN" altLang="en-US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2734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67C5D94C-B388-4E74-9C5E-FD10C1EB90BF}"/>
              </a:ext>
            </a:extLst>
          </p:cNvPr>
          <p:cNvSpPr/>
          <p:nvPr/>
        </p:nvSpPr>
        <p:spPr>
          <a:xfrm>
            <a:off x="1423359" y="181895"/>
            <a:ext cx="10610490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Análisis del organigrama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7AD7A078-5471-9D47-9243-E1F8A3FA1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837" y="1500996"/>
            <a:ext cx="8696325" cy="4520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769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8">
            <a:extLst>
              <a:ext uri="{FF2B5EF4-FFF2-40B4-BE49-F238E27FC236}">
                <a16:creationId xmlns:a16="http://schemas.microsoft.com/office/drawing/2014/main" id="{F3038C5F-E599-4826-B54E-142274E8BE04}"/>
              </a:ext>
            </a:extLst>
          </p:cNvPr>
          <p:cNvSpPr/>
          <p:nvPr/>
        </p:nvSpPr>
        <p:spPr>
          <a:xfrm>
            <a:off x="1453371" y="181895"/>
            <a:ext cx="10407949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El organigrama que muestras es altamente vertical 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6278D58-F4B3-52A0-E153-70FF5DE593A7}"/>
              </a:ext>
            </a:extLst>
          </p:cNvPr>
          <p:cNvSpPr txBox="1"/>
          <p:nvPr/>
        </p:nvSpPr>
        <p:spPr>
          <a:xfrm>
            <a:off x="3221786" y="1194991"/>
            <a:ext cx="7587112" cy="4466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Problemas detectados</a:t>
            </a:r>
            <a:endParaRPr lang="en-US" sz="1200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Cuellos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botella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Muchas decisiones deben subir hasta </a:t>
            </a:r>
            <a:r>
              <a:rPr lang="es-E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Gerencia General</a:t>
            </a: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TI (Sistemas) depende indirectamente → lento para responder incidencias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TI no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tiene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independencia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clara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“Dirección de Sistemas” está enterrada bajo estructura administrativa/comercial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No hay un </a:t>
            </a:r>
            <a:r>
              <a:rPr lang="es-E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CIO / Gerente de TI</a:t>
            </a: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visible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Comunicación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fragmentada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Inventarios (Logística) y Sistemas no están integrados directamente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Esto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genera: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143000" marR="0" lvl="2" indent="-2286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"/>
              <a:tabLst>
                <a:tab pos="1948180" algn="l"/>
                <a:tab pos="13716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Retrasos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actualización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stock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143000" marR="0" lvl="2" indent="-2286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"/>
              <a:tabLst>
                <a:tab pos="1948180" algn="l"/>
                <a:tab pos="13716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Errores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registros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2151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8">
            <a:extLst>
              <a:ext uri="{FF2B5EF4-FFF2-40B4-BE49-F238E27FC236}">
                <a16:creationId xmlns:a16="http://schemas.microsoft.com/office/drawing/2014/main" id="{5A073539-402B-4F42-B997-2A8099A7F9A1}"/>
              </a:ext>
            </a:extLst>
          </p:cNvPr>
          <p:cNvSpPr/>
          <p:nvPr/>
        </p:nvSpPr>
        <p:spPr>
          <a:xfrm>
            <a:off x="1453372" y="181895"/>
            <a:ext cx="10738628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Recomendaciones y nuevo organigrama optimizado 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pic>
        <p:nvPicPr>
          <p:cNvPr id="28" name="Imagen 27">
            <a:extLst>
              <a:ext uri="{FF2B5EF4-FFF2-40B4-BE49-F238E27FC236}">
                <a16:creationId xmlns:a16="http://schemas.microsoft.com/office/drawing/2014/main" id="{6C7646F0-BDEA-2B96-3CD0-F4D307830E1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3306" y="1095555"/>
            <a:ext cx="8893834" cy="50205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66311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8">
            <a:extLst>
              <a:ext uri="{FF2B5EF4-FFF2-40B4-BE49-F238E27FC236}">
                <a16:creationId xmlns:a16="http://schemas.microsoft.com/office/drawing/2014/main" id="{91A2DE73-4AD0-4317-A3A7-1B039EF239AF}"/>
              </a:ext>
            </a:extLst>
          </p:cNvPr>
          <p:cNvSpPr/>
          <p:nvPr/>
        </p:nvSpPr>
        <p:spPr>
          <a:xfrm>
            <a:off x="1453372" y="181895"/>
            <a:ext cx="5413254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Recomendaciones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19A029B2-EFB9-A980-0030-E85A436D02A6}"/>
              </a:ext>
            </a:extLst>
          </p:cNvPr>
          <p:cNvSpPr txBox="1"/>
          <p:nvPr/>
        </p:nvSpPr>
        <p:spPr>
          <a:xfrm>
            <a:off x="2113472" y="2302987"/>
            <a:ext cx="7815532" cy="3331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Crear una </a:t>
            </a:r>
            <a:r>
              <a:rPr lang="es-ES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Gerencia o Jefatura de TI independiente</a:t>
            </a:r>
            <a:r>
              <a:rPr lang="es-E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Reducir niveles jerárquicos (estructura </a:t>
            </a:r>
            <a:r>
              <a:rPr lang="es-E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semi-plana</a:t>
            </a:r>
            <a:r>
              <a:rPr lang="es-E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Integrar</a:t>
            </a: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TI con: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Logística</a:t>
            </a: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Finanzas</a:t>
            </a: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Producción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6021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8">
            <a:extLst>
              <a:ext uri="{FF2B5EF4-FFF2-40B4-BE49-F238E27FC236}">
                <a16:creationId xmlns:a16="http://schemas.microsoft.com/office/drawing/2014/main" id="{1407A5C2-4FBC-4E72-BAA0-E399E0D5B45C}"/>
              </a:ext>
            </a:extLst>
          </p:cNvPr>
          <p:cNvSpPr/>
          <p:nvPr/>
        </p:nvSpPr>
        <p:spPr>
          <a:xfrm>
            <a:off x="1453372" y="181895"/>
            <a:ext cx="10011134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Roles y Segregación de Funciones (Inventarios)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graphicFrame>
        <p:nvGraphicFramePr>
          <p:cNvPr id="34" name="Tabla 33">
            <a:extLst>
              <a:ext uri="{FF2B5EF4-FFF2-40B4-BE49-F238E27FC236}">
                <a16:creationId xmlns:a16="http://schemas.microsoft.com/office/drawing/2014/main" id="{919BB342-4146-8D3D-B66B-C1CBB70567C8}"/>
              </a:ext>
            </a:extLst>
          </p:cNvPr>
          <p:cNvGraphicFramePr>
            <a:graphicFrameLocks noGrp="1"/>
          </p:cNvGraphicFramePr>
          <p:nvPr/>
        </p:nvGraphicFramePr>
        <p:xfrm>
          <a:off x="1017918" y="1785667"/>
          <a:ext cx="3899139" cy="343331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84860">
                  <a:extLst>
                    <a:ext uri="{9D8B030D-6E8A-4147-A177-3AD203B41FA5}">
                      <a16:colId xmlns:a16="http://schemas.microsoft.com/office/drawing/2014/main" val="759061535"/>
                    </a:ext>
                  </a:extLst>
                </a:gridCol>
                <a:gridCol w="2514279">
                  <a:extLst>
                    <a:ext uri="{9D8B030D-6E8A-4147-A177-3AD203B41FA5}">
                      <a16:colId xmlns:a16="http://schemas.microsoft.com/office/drawing/2014/main" val="4059301952"/>
                    </a:ext>
                  </a:extLst>
                </a:gridCol>
              </a:tblGrid>
              <a:tr h="572219">
                <a:tc gridSpan="2"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 dirty="0">
                          <a:effectLst/>
                        </a:rPr>
                        <a:t>MAPEO IDEAL DE ROLES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3070066"/>
                  </a:ext>
                </a:extLst>
              </a:tr>
              <a:tr h="572219"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 dirty="0">
                          <a:effectLst/>
                        </a:rPr>
                        <a:t>Rol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Función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803720923"/>
                  </a:ext>
                </a:extLst>
              </a:tr>
              <a:tr h="572219"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Almacenero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Manejo físico del inventario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032500549"/>
                  </a:ext>
                </a:extLst>
              </a:tr>
              <a:tr h="572219"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 dirty="0" err="1">
                          <a:effectLst/>
                        </a:rPr>
                        <a:t>Digitador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Registro en sistema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6084989"/>
                  </a:ext>
                </a:extLst>
              </a:tr>
              <a:tr h="572219"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Supervisor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Validación de movimientos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948324724"/>
                  </a:ext>
                </a:extLst>
              </a:tr>
              <a:tr h="572219"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Auditor interno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 dirty="0">
                          <a:effectLst/>
                        </a:rPr>
                        <a:t>Control </a:t>
                      </a:r>
                      <a:r>
                        <a:rPr lang="en-US" sz="1100" dirty="0" err="1">
                          <a:effectLst/>
                        </a:rPr>
                        <a:t>independiente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537268642"/>
                  </a:ext>
                </a:extLst>
              </a:tr>
            </a:tbl>
          </a:graphicData>
        </a:graphic>
      </p:graphicFrame>
      <p:sp>
        <p:nvSpPr>
          <p:cNvPr id="36" name="CuadroTexto 35">
            <a:extLst>
              <a:ext uri="{FF2B5EF4-FFF2-40B4-BE49-F238E27FC236}">
                <a16:creationId xmlns:a16="http://schemas.microsoft.com/office/drawing/2014/main" id="{0E7FD73A-1622-F8AF-9272-6DE999FB6D67}"/>
              </a:ext>
            </a:extLst>
          </p:cNvPr>
          <p:cNvSpPr txBox="1"/>
          <p:nvPr/>
        </p:nvSpPr>
        <p:spPr>
          <a:xfrm>
            <a:off x="5529532" y="923027"/>
            <a:ext cx="6090249" cy="5653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Problemas comunes detectados </a:t>
            </a:r>
            <a:endParaRPr lang="en-US" sz="1200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Falta de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segregación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clara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Puede ocurrir que una misma persona: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143000" marR="0" lvl="2" indent="-2286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"/>
              <a:tabLst>
                <a:tab pos="1948180" algn="l"/>
                <a:tab pos="13716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Registre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143000" marR="0" lvl="2" indent="-2286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"/>
              <a:tabLst>
                <a:tab pos="1948180" algn="l"/>
                <a:tab pos="13716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Controle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143000" marR="0" lvl="2" indent="-2286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"/>
              <a:tabLst>
                <a:tab pos="1948180" algn="l"/>
                <a:tab pos="13716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Apruebe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4572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Riesgo: fraude o manipulación de inventarios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4572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1948180" algn="l"/>
              </a:tabLst>
            </a:pPr>
            <a:r>
              <a:rPr lang="en-US" sz="1200" i="1" dirty="0"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Dependencia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excesiva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logística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Inventarios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depende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solo de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logística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TI no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valida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datos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automáticamente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indent="4572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1948180" algn="l"/>
              </a:tabLst>
            </a:pPr>
            <a:r>
              <a:rPr lang="en-US" sz="1200" i="1" dirty="0"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Duplicidad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funciones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Direcciones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y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gerencias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similares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Posible doble registro (manual + sistema)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6759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8">
            <a:extLst>
              <a:ext uri="{FF2B5EF4-FFF2-40B4-BE49-F238E27FC236}">
                <a16:creationId xmlns:a16="http://schemas.microsoft.com/office/drawing/2014/main" id="{BF11FCB6-CA8B-4C35-ABE4-71F2A67E3C66}"/>
              </a:ext>
            </a:extLst>
          </p:cNvPr>
          <p:cNvSpPr/>
          <p:nvPr/>
        </p:nvSpPr>
        <p:spPr>
          <a:xfrm>
            <a:off x="1453371" y="181895"/>
            <a:ext cx="9188705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Riesgos identificados y matriz de riesgos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99D8A54D-EF90-EE8C-7FBD-1A07179E5207}"/>
              </a:ext>
            </a:extLst>
          </p:cNvPr>
          <p:cNvGraphicFramePr>
            <a:graphicFrameLocks noGrp="1"/>
          </p:cNvGraphicFramePr>
          <p:nvPr/>
        </p:nvGraphicFramePr>
        <p:xfrm>
          <a:off x="1682152" y="1345722"/>
          <a:ext cx="8315864" cy="516963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00717">
                  <a:extLst>
                    <a:ext uri="{9D8B030D-6E8A-4147-A177-3AD203B41FA5}">
                      <a16:colId xmlns:a16="http://schemas.microsoft.com/office/drawing/2014/main" val="2961961260"/>
                    </a:ext>
                  </a:extLst>
                </a:gridCol>
                <a:gridCol w="1187851">
                  <a:extLst>
                    <a:ext uri="{9D8B030D-6E8A-4147-A177-3AD203B41FA5}">
                      <a16:colId xmlns:a16="http://schemas.microsoft.com/office/drawing/2014/main" val="3688156410"/>
                    </a:ext>
                  </a:extLst>
                </a:gridCol>
                <a:gridCol w="1265301">
                  <a:extLst>
                    <a:ext uri="{9D8B030D-6E8A-4147-A177-3AD203B41FA5}">
                      <a16:colId xmlns:a16="http://schemas.microsoft.com/office/drawing/2014/main" val="3162244105"/>
                    </a:ext>
                  </a:extLst>
                </a:gridCol>
                <a:gridCol w="1581401">
                  <a:extLst>
                    <a:ext uri="{9D8B030D-6E8A-4147-A177-3AD203B41FA5}">
                      <a16:colId xmlns:a16="http://schemas.microsoft.com/office/drawing/2014/main" val="3973333961"/>
                    </a:ext>
                  </a:extLst>
                </a:gridCol>
                <a:gridCol w="1366165">
                  <a:extLst>
                    <a:ext uri="{9D8B030D-6E8A-4147-A177-3AD203B41FA5}">
                      <a16:colId xmlns:a16="http://schemas.microsoft.com/office/drawing/2014/main" val="1013469829"/>
                    </a:ext>
                  </a:extLst>
                </a:gridCol>
                <a:gridCol w="841132">
                  <a:extLst>
                    <a:ext uri="{9D8B030D-6E8A-4147-A177-3AD203B41FA5}">
                      <a16:colId xmlns:a16="http://schemas.microsoft.com/office/drawing/2014/main" val="2193540329"/>
                    </a:ext>
                  </a:extLst>
                </a:gridCol>
                <a:gridCol w="1573297">
                  <a:extLst>
                    <a:ext uri="{9D8B030D-6E8A-4147-A177-3AD203B41FA5}">
                      <a16:colId xmlns:a16="http://schemas.microsoft.com/office/drawing/2014/main" val="1266944130"/>
                    </a:ext>
                  </a:extLst>
                </a:gridCol>
              </a:tblGrid>
              <a:tr h="310688">
                <a:tc gridSpan="7"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s-ES" sz="1100" dirty="0">
                          <a:effectLst/>
                        </a:rPr>
                        <a:t>MATRIZ DE RIESGOS INTI S.A.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1401103"/>
                  </a:ext>
                </a:extLst>
              </a:tr>
              <a:tr h="427635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Nº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Riesgo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Causa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Impacto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Probabilidad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Nivel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Solución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1526171410"/>
                  </a:ext>
                </a:extLst>
              </a:tr>
              <a:tr h="67742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1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Cuello de botella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Estructura vertical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Retrasos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Reducir niveles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1500830106"/>
                  </a:ext>
                </a:extLst>
              </a:tr>
              <a:tr h="104416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2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Fraude inventarios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Falta segregación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Pérdidas económicas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Crítico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Separar funciones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355215250"/>
                  </a:ext>
                </a:extLst>
              </a:tr>
              <a:tr h="67742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3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Error en stock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Registro manual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Datos incorrectos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ERP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2008480421"/>
                  </a:ext>
                </a:extLst>
              </a:tr>
              <a:tr h="67742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4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Acceso indebido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Sin control TI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Fuga de info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Media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Roles y permisos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337699894"/>
                  </a:ext>
                </a:extLst>
              </a:tr>
              <a:tr h="67742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5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Caída del sistema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Falta de soporte TI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Paralización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Media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Área TI independiente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1645238668"/>
                  </a:ext>
                </a:extLst>
              </a:tr>
              <a:tr h="67742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6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Duplicidad de datos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Procesos manuales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Inconsistencias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 dirty="0" err="1">
                          <a:effectLst/>
                        </a:rPr>
                        <a:t>Automatización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25887849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8146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矩形 8">
            <a:extLst>
              <a:ext uri="{FF2B5EF4-FFF2-40B4-BE49-F238E27FC236}">
                <a16:creationId xmlns:a16="http://schemas.microsoft.com/office/drawing/2014/main" id="{1CA40807-048B-41F0-9A96-32F50EE9F6FE}"/>
              </a:ext>
            </a:extLst>
          </p:cNvPr>
          <p:cNvSpPr/>
          <p:nvPr/>
        </p:nvSpPr>
        <p:spPr>
          <a:xfrm>
            <a:off x="1453371" y="181895"/>
            <a:ext cx="7173043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Soluciones</a:t>
            </a:r>
            <a:r>
              <a:rPr lang="en-U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 </a:t>
            </a: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recomendadas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61" name="CuadroTexto 60">
            <a:extLst>
              <a:ext uri="{FF2B5EF4-FFF2-40B4-BE49-F238E27FC236}">
                <a16:creationId xmlns:a16="http://schemas.microsoft.com/office/drawing/2014/main" id="{21BA6DB3-9F4E-9414-70FB-C618FCF5B61C}"/>
              </a:ext>
            </a:extLst>
          </p:cNvPr>
          <p:cNvSpPr txBox="1"/>
          <p:nvPr/>
        </p:nvSpPr>
        <p:spPr>
          <a:xfrm>
            <a:off x="759126" y="1052424"/>
            <a:ext cx="4494362" cy="43331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Separar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funciones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obligatoriamente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Almacén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→ solo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físico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Digitador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→ solo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sistema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Auditor →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independiente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Implementar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sistema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Control de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accesos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(roles)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Bitácora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cambios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(logs)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Validaciones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automáticas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Integrar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TI +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Inventarios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4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Odoo ERP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3" name="CuadroTexto 62">
            <a:extLst>
              <a:ext uri="{FF2B5EF4-FFF2-40B4-BE49-F238E27FC236}">
                <a16:creationId xmlns:a16="http://schemas.microsoft.com/office/drawing/2014/main" id="{EA17F074-47F9-60ED-6EC8-F156D206C2DA}"/>
              </a:ext>
            </a:extLst>
          </p:cNvPr>
          <p:cNvSpPr txBox="1"/>
          <p:nvPr/>
        </p:nvSpPr>
        <p:spPr>
          <a:xfrm>
            <a:off x="5667554" y="1190446"/>
            <a:ext cx="4891178" cy="3358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marR="0" indent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1948180" algn="l"/>
              </a:tabLst>
            </a:pPr>
            <a:r>
              <a:rPr lang="es-E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¿Por qué es el más adecuado?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Es </a:t>
            </a:r>
            <a:r>
              <a:rPr lang="es-E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modular</a:t>
            </a: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(solo instalas inventarios, ventas, contabilidad, etc.)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Muy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fuerte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Inventarios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Logística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Producción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Mucho más barato que SAP o Dynamics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Implementación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rápida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90030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8">
            <a:extLst>
              <a:ext uri="{FF2B5EF4-FFF2-40B4-BE49-F238E27FC236}">
                <a16:creationId xmlns:a16="http://schemas.microsoft.com/office/drawing/2014/main" id="{BA8DADFA-F346-4263-BBE3-82C6223C2F6E}"/>
              </a:ext>
            </a:extLst>
          </p:cNvPr>
          <p:cNvSpPr/>
          <p:nvPr/>
        </p:nvSpPr>
        <p:spPr>
          <a:xfrm>
            <a:off x="1453371" y="181895"/>
            <a:ext cx="9243383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Documentos</a:t>
            </a:r>
            <a:r>
              <a:rPr lang="en-U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 </a:t>
            </a: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Organizacionales</a:t>
            </a:r>
            <a:r>
              <a:rPr lang="en-U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 </a:t>
            </a: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Revisados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EB1EAE69-2B90-F9B8-72EE-7E0CB3717C98}"/>
              </a:ext>
            </a:extLst>
          </p:cNvPr>
          <p:cNvSpPr txBox="1"/>
          <p:nvPr/>
        </p:nvSpPr>
        <p:spPr>
          <a:xfrm>
            <a:off x="1319842" y="1748989"/>
            <a:ext cx="4865298" cy="3904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4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Manual de funciones del área de sistemas.</a:t>
            </a:r>
            <a:endParaRPr lang="en-US" sz="1400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4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Problemas detectados</a:t>
            </a:r>
            <a:endParaRPr lang="en-US" sz="1400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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No se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especifica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Responsabilidades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claras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Límites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acceso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Responsables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seguridad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4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Solución</a:t>
            </a:r>
            <a:endParaRPr lang="en-US" sz="1400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Debe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incluir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Administrador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sistemas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AF58CAE-371F-6405-FA22-D0E458DDFFC8}"/>
              </a:ext>
            </a:extLst>
          </p:cNvPr>
          <p:cNvSpPr txBox="1"/>
          <p:nvPr/>
        </p:nvSpPr>
        <p:spPr>
          <a:xfrm>
            <a:off x="7599871" y="2063354"/>
            <a:ext cx="2141507" cy="1511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Soporte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técnico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Seguridad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informática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Base de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datos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975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8">
            <a:extLst>
              <a:ext uri="{FF2B5EF4-FFF2-40B4-BE49-F238E27FC236}">
                <a16:creationId xmlns:a16="http://schemas.microsoft.com/office/drawing/2014/main" id="{E7C50EEF-4EF9-4DD4-B596-5F1833872120}"/>
              </a:ext>
            </a:extLst>
          </p:cNvPr>
          <p:cNvSpPr/>
          <p:nvPr/>
        </p:nvSpPr>
        <p:spPr>
          <a:xfrm>
            <a:off x="1453371" y="181895"/>
            <a:ext cx="8303103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Políticas de seguridad de la información.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2D1F8371-94C2-69DC-A100-DF0E15AB7D92}"/>
              </a:ext>
            </a:extLst>
          </p:cNvPr>
          <p:cNvSpPr txBox="1"/>
          <p:nvPr/>
        </p:nvSpPr>
        <p:spPr>
          <a:xfrm>
            <a:off x="3653286" y="1614477"/>
            <a:ext cx="6103188" cy="39568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6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Problemas comunes</a:t>
            </a:r>
            <a:endParaRPr lang="en-US" sz="1600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Falta de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políticas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formales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6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Usuarios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con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accesos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excesivos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6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6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 Recomendaciones</a:t>
            </a:r>
            <a:endParaRPr lang="en-US" sz="1600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Control de acceso por roles (RBAC) </a:t>
            </a:r>
            <a:endParaRPr lang="en-US" sz="16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Políticas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contraseñas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6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Backup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periódico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6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Auditoría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accesos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6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35104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文本框 379">
            <a:extLst>
              <a:ext uri="{FF2B5EF4-FFF2-40B4-BE49-F238E27FC236}">
                <a16:creationId xmlns:a16="http://schemas.microsoft.com/office/drawing/2014/main" id="{9E3231A2-377F-46B2-88A0-FCD6A9F6F2AB}"/>
              </a:ext>
            </a:extLst>
          </p:cNvPr>
          <p:cNvSpPr txBox="1"/>
          <p:nvPr/>
        </p:nvSpPr>
        <p:spPr>
          <a:xfrm>
            <a:off x="1268083" y="198396"/>
            <a:ext cx="11136701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>
              <a:lnSpc>
                <a:spcPct val="120000"/>
              </a:lnSpc>
              <a:defRPr sz="3200" b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r>
              <a:rPr lang="es-ES" altLang="zh-CN" dirty="0"/>
              <a:t>Procedimientos operativos para gestión de inventarios.</a:t>
            </a:r>
            <a:endParaRPr lang="zh-CN" altLang="en-U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DDFD2A8-787A-0F4A-400B-29F82484E722}"/>
              </a:ext>
            </a:extLst>
          </p:cNvPr>
          <p:cNvSpPr txBox="1"/>
          <p:nvPr/>
        </p:nvSpPr>
        <p:spPr>
          <a:xfrm>
            <a:off x="3804249" y="2118321"/>
            <a:ext cx="5495026" cy="388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Problemas detectados</a:t>
            </a:r>
            <a:endParaRPr lang="en-US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Procesos</a:t>
            </a: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manuales</a:t>
            </a: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No hay </a:t>
            </a: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integración</a:t>
            </a: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con TI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Falta de controles en tiempo real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Soluciones</a:t>
            </a:r>
            <a:endParaRPr lang="en-US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Mejorar Automatización con sistema ERP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Auditorías</a:t>
            </a: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periódicas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6591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upo 26">
            <a:extLst>
              <a:ext uri="{FF2B5EF4-FFF2-40B4-BE49-F238E27FC236}">
                <a16:creationId xmlns:a16="http://schemas.microsoft.com/office/drawing/2014/main" id="{E33215E0-FB9D-485C-8E3B-F80363B0F775}"/>
              </a:ext>
            </a:extLst>
          </p:cNvPr>
          <p:cNvGrpSpPr/>
          <p:nvPr/>
        </p:nvGrpSpPr>
        <p:grpSpPr>
          <a:xfrm>
            <a:off x="299001" y="2219416"/>
            <a:ext cx="9588865" cy="3222212"/>
            <a:chOff x="933613" y="2011006"/>
            <a:chExt cx="6105792" cy="2051771"/>
          </a:xfrm>
        </p:grpSpPr>
        <p:sp>
          <p:nvSpPr>
            <p:cNvPr id="2" name="Oval 2">
              <a:extLst>
                <a:ext uri="{FF2B5EF4-FFF2-40B4-BE49-F238E27FC236}">
                  <a16:creationId xmlns:a16="http://schemas.microsoft.com/office/drawing/2014/main" id="{0C3329C5-88B9-4B2C-A7DA-4C543F83AB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992" y="2374779"/>
              <a:ext cx="974894" cy="97691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65F1475-3377-4479-ABE1-8D2822A7F35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7790" y="2168277"/>
              <a:ext cx="689095" cy="694166"/>
            </a:xfrm>
            <a:custGeom>
              <a:avLst/>
              <a:gdLst>
                <a:gd name="T0" fmla="*/ 184 w 184"/>
                <a:gd name="T1" fmla="*/ 185 h 185"/>
                <a:gd name="T2" fmla="*/ 0 w 184"/>
                <a:gd name="T3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4" h="185">
                  <a:moveTo>
                    <a:pt x="184" y="185"/>
                  </a:moveTo>
                  <a:cubicBezTo>
                    <a:pt x="184" y="83"/>
                    <a:pt x="102" y="0"/>
                    <a:pt x="0" y="0"/>
                  </a:cubicBezTo>
                </a:path>
              </a:pathLst>
            </a:custGeom>
            <a:noFill/>
            <a:ln w="6350" cap="flat" cmpd="sng">
              <a:solidFill>
                <a:srgbClr val="A2897B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4" name="Oval 4">
              <a:extLst>
                <a:ext uri="{FF2B5EF4-FFF2-40B4-BE49-F238E27FC236}">
                  <a16:creationId xmlns:a16="http://schemas.microsoft.com/office/drawing/2014/main" id="{815A063D-35C8-441B-B19F-2A2DA6BE7C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41773" y="2217508"/>
              <a:ext cx="971719" cy="976916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948874E0-E961-42F6-AD62-EC187988561A}"/>
                </a:ext>
              </a:extLst>
            </p:cNvPr>
            <p:cNvSpPr>
              <a:spLocks/>
            </p:cNvSpPr>
            <p:nvPr/>
          </p:nvSpPr>
          <p:spPr bwMode="auto">
            <a:xfrm>
              <a:off x="4837160" y="2011006"/>
              <a:ext cx="689095" cy="694166"/>
            </a:xfrm>
            <a:custGeom>
              <a:avLst/>
              <a:gdLst>
                <a:gd name="T0" fmla="*/ 184 w 184"/>
                <a:gd name="T1" fmla="*/ 185 h 185"/>
                <a:gd name="T2" fmla="*/ 0 w 184"/>
                <a:gd name="T3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4" h="185">
                  <a:moveTo>
                    <a:pt x="184" y="185"/>
                  </a:moveTo>
                  <a:cubicBezTo>
                    <a:pt x="184" y="83"/>
                    <a:pt x="101" y="0"/>
                    <a:pt x="0" y="0"/>
                  </a:cubicBezTo>
                </a:path>
              </a:pathLst>
            </a:custGeom>
            <a:noFill/>
            <a:ln w="6350" cap="flat" cmpd="sng">
              <a:solidFill>
                <a:srgbClr val="A2897B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6" name="Oval 6">
              <a:extLst>
                <a:ext uri="{FF2B5EF4-FFF2-40B4-BE49-F238E27FC236}">
                  <a16:creationId xmlns:a16="http://schemas.microsoft.com/office/drawing/2014/main" id="{7DCD4D74-AF89-4299-B35A-35ADFA2E07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5753" y="2880948"/>
              <a:ext cx="974894" cy="9753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DD41FB-4E42-4A6C-BEE3-AF47F35FF415}"/>
                </a:ext>
              </a:extLst>
            </p:cNvPr>
            <p:cNvSpPr>
              <a:spLocks/>
            </p:cNvSpPr>
            <p:nvPr/>
          </p:nvSpPr>
          <p:spPr bwMode="auto">
            <a:xfrm>
              <a:off x="3279552" y="3368612"/>
              <a:ext cx="693857" cy="694165"/>
            </a:xfrm>
            <a:custGeom>
              <a:avLst/>
              <a:gdLst>
                <a:gd name="T0" fmla="*/ 0 w 185"/>
                <a:gd name="T1" fmla="*/ 185 h 185"/>
                <a:gd name="T2" fmla="*/ 185 w 185"/>
                <a:gd name="T3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5" h="185">
                  <a:moveTo>
                    <a:pt x="0" y="185"/>
                  </a:moveTo>
                  <a:cubicBezTo>
                    <a:pt x="102" y="185"/>
                    <a:pt x="185" y="102"/>
                    <a:pt x="185" y="0"/>
                  </a:cubicBezTo>
                </a:path>
              </a:pathLst>
            </a:custGeom>
            <a:noFill/>
            <a:ln w="6350" cap="flat" cmpd="sng">
              <a:solidFill>
                <a:srgbClr val="A2897B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8" name="Oval 8">
              <a:extLst>
                <a:ext uri="{FF2B5EF4-FFF2-40B4-BE49-F238E27FC236}">
                  <a16:creationId xmlns:a16="http://schemas.microsoft.com/office/drawing/2014/main" id="{4D88BDFD-7D88-45B7-8C41-2DB8852244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22343" y="2852242"/>
              <a:ext cx="976483" cy="975327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C4C4F59-22A0-4415-9242-CFBCCE0F50E8}"/>
                </a:ext>
              </a:extLst>
            </p:cNvPr>
            <p:cNvSpPr>
              <a:spLocks/>
            </p:cNvSpPr>
            <p:nvPr/>
          </p:nvSpPr>
          <p:spPr bwMode="auto">
            <a:xfrm>
              <a:off x="6209791" y="3339906"/>
              <a:ext cx="690682" cy="694165"/>
            </a:xfrm>
            <a:custGeom>
              <a:avLst/>
              <a:gdLst>
                <a:gd name="T0" fmla="*/ 0 w 184"/>
                <a:gd name="T1" fmla="*/ 185 h 185"/>
                <a:gd name="T2" fmla="*/ 184 w 184"/>
                <a:gd name="T3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4" h="185">
                  <a:moveTo>
                    <a:pt x="0" y="185"/>
                  </a:moveTo>
                  <a:cubicBezTo>
                    <a:pt x="102" y="185"/>
                    <a:pt x="184" y="102"/>
                    <a:pt x="184" y="0"/>
                  </a:cubicBezTo>
                </a:path>
              </a:pathLst>
            </a:custGeom>
            <a:noFill/>
            <a:ln w="6350" cap="flat" cmpd="sng">
              <a:solidFill>
                <a:srgbClr val="A2897B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26F3C010-C67B-4F6F-B28B-8010F5CA866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022434" y="3152464"/>
              <a:ext cx="376302" cy="374881"/>
            </a:xfrm>
            <a:custGeom>
              <a:avLst/>
              <a:gdLst>
                <a:gd name="T0" fmla="*/ 100 w 100"/>
                <a:gd name="T1" fmla="*/ 56 h 100"/>
                <a:gd name="T2" fmla="*/ 44 w 100"/>
                <a:gd name="T3" fmla="*/ 0 h 100"/>
                <a:gd name="T4" fmla="*/ 40 w 100"/>
                <a:gd name="T5" fmla="*/ 0 h 100"/>
                <a:gd name="T6" fmla="*/ 40 w 100"/>
                <a:gd name="T7" fmla="*/ 11 h 100"/>
                <a:gd name="T8" fmla="*/ 0 w 100"/>
                <a:gd name="T9" fmla="*/ 56 h 100"/>
                <a:gd name="T10" fmla="*/ 44 w 100"/>
                <a:gd name="T11" fmla="*/ 100 h 100"/>
                <a:gd name="T12" fmla="*/ 69 w 100"/>
                <a:gd name="T13" fmla="*/ 93 h 100"/>
                <a:gd name="T14" fmla="*/ 89 w 100"/>
                <a:gd name="T15" fmla="*/ 60 h 100"/>
                <a:gd name="T16" fmla="*/ 100 w 100"/>
                <a:gd name="T17" fmla="*/ 60 h 100"/>
                <a:gd name="T18" fmla="*/ 100 w 100"/>
                <a:gd name="T19" fmla="*/ 56 h 100"/>
                <a:gd name="T20" fmla="*/ 64 w 100"/>
                <a:gd name="T21" fmla="*/ 86 h 100"/>
                <a:gd name="T22" fmla="*/ 44 w 100"/>
                <a:gd name="T23" fmla="*/ 92 h 100"/>
                <a:gd name="T24" fmla="*/ 8 w 100"/>
                <a:gd name="T25" fmla="*/ 56 h 100"/>
                <a:gd name="T26" fmla="*/ 40 w 100"/>
                <a:gd name="T27" fmla="*/ 20 h 100"/>
                <a:gd name="T28" fmla="*/ 40 w 100"/>
                <a:gd name="T29" fmla="*/ 60 h 100"/>
                <a:gd name="T30" fmla="*/ 80 w 100"/>
                <a:gd name="T31" fmla="*/ 60 h 100"/>
                <a:gd name="T32" fmla="*/ 64 w 100"/>
                <a:gd name="T33" fmla="*/ 86 h 100"/>
                <a:gd name="T34" fmla="*/ 49 w 100"/>
                <a:gd name="T35" fmla="*/ 52 h 100"/>
                <a:gd name="T36" fmla="*/ 49 w 100"/>
                <a:gd name="T37" fmla="*/ 9 h 100"/>
                <a:gd name="T38" fmla="*/ 91 w 100"/>
                <a:gd name="T39" fmla="*/ 52 h 100"/>
                <a:gd name="T40" fmla="*/ 49 w 100"/>
                <a:gd name="T41" fmla="*/ 52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0" h="100">
                  <a:moveTo>
                    <a:pt x="100" y="56"/>
                  </a:moveTo>
                  <a:cubicBezTo>
                    <a:pt x="100" y="25"/>
                    <a:pt x="75" y="0"/>
                    <a:pt x="44" y="0"/>
                  </a:cubicBezTo>
                  <a:cubicBezTo>
                    <a:pt x="40" y="0"/>
                    <a:pt x="40" y="0"/>
                    <a:pt x="40" y="0"/>
                  </a:cubicBezTo>
                  <a:cubicBezTo>
                    <a:pt x="40" y="11"/>
                    <a:pt x="40" y="11"/>
                    <a:pt x="40" y="11"/>
                  </a:cubicBezTo>
                  <a:cubicBezTo>
                    <a:pt x="17" y="14"/>
                    <a:pt x="0" y="33"/>
                    <a:pt x="0" y="56"/>
                  </a:cubicBezTo>
                  <a:cubicBezTo>
                    <a:pt x="0" y="80"/>
                    <a:pt x="20" y="100"/>
                    <a:pt x="44" y="100"/>
                  </a:cubicBezTo>
                  <a:cubicBezTo>
                    <a:pt x="53" y="100"/>
                    <a:pt x="62" y="98"/>
                    <a:pt x="69" y="93"/>
                  </a:cubicBezTo>
                  <a:cubicBezTo>
                    <a:pt x="80" y="85"/>
                    <a:pt x="87" y="73"/>
                    <a:pt x="89" y="60"/>
                  </a:cubicBezTo>
                  <a:cubicBezTo>
                    <a:pt x="100" y="60"/>
                    <a:pt x="100" y="60"/>
                    <a:pt x="100" y="60"/>
                  </a:cubicBezTo>
                  <a:lnTo>
                    <a:pt x="100" y="56"/>
                  </a:lnTo>
                  <a:close/>
                  <a:moveTo>
                    <a:pt x="64" y="86"/>
                  </a:moveTo>
                  <a:cubicBezTo>
                    <a:pt x="59" y="90"/>
                    <a:pt x="52" y="92"/>
                    <a:pt x="44" y="92"/>
                  </a:cubicBezTo>
                  <a:cubicBezTo>
                    <a:pt x="25" y="92"/>
                    <a:pt x="8" y="76"/>
                    <a:pt x="8" y="56"/>
                  </a:cubicBezTo>
                  <a:cubicBezTo>
                    <a:pt x="8" y="37"/>
                    <a:pt x="22" y="22"/>
                    <a:pt x="40" y="20"/>
                  </a:cubicBezTo>
                  <a:cubicBezTo>
                    <a:pt x="40" y="60"/>
                    <a:pt x="40" y="60"/>
                    <a:pt x="40" y="60"/>
                  </a:cubicBezTo>
                  <a:cubicBezTo>
                    <a:pt x="80" y="60"/>
                    <a:pt x="80" y="60"/>
                    <a:pt x="80" y="60"/>
                  </a:cubicBezTo>
                  <a:cubicBezTo>
                    <a:pt x="79" y="70"/>
                    <a:pt x="73" y="80"/>
                    <a:pt x="64" y="86"/>
                  </a:cubicBezTo>
                  <a:moveTo>
                    <a:pt x="49" y="52"/>
                  </a:moveTo>
                  <a:cubicBezTo>
                    <a:pt x="49" y="9"/>
                    <a:pt x="49" y="9"/>
                    <a:pt x="49" y="9"/>
                  </a:cubicBezTo>
                  <a:cubicBezTo>
                    <a:pt x="71" y="11"/>
                    <a:pt x="89" y="29"/>
                    <a:pt x="91" y="52"/>
                  </a:cubicBezTo>
                  <a:lnTo>
                    <a:pt x="49" y="5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grpSp>
          <p:nvGrpSpPr>
            <p:cNvPr id="19" name="Group 19">
              <a:extLst>
                <a:ext uri="{FF2B5EF4-FFF2-40B4-BE49-F238E27FC236}">
                  <a16:creationId xmlns:a16="http://schemas.microsoft.com/office/drawing/2014/main" id="{14478F76-92EE-43EC-8F41-F68B77EFDB2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49639" y="2686120"/>
              <a:ext cx="374715" cy="376470"/>
              <a:chOff x="-194" y="329"/>
              <a:chExt cx="236" cy="237"/>
            </a:xfrm>
          </p:grpSpPr>
          <p:sp>
            <p:nvSpPr>
              <p:cNvPr id="20" name="Freeform 20">
                <a:extLst>
                  <a:ext uri="{FF2B5EF4-FFF2-40B4-BE49-F238E27FC236}">
                    <a16:creationId xmlns:a16="http://schemas.microsoft.com/office/drawing/2014/main" id="{0CD851AD-6FBB-41E5-B7DF-7837995909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131" y="393"/>
                <a:ext cx="109" cy="109"/>
              </a:xfrm>
              <a:custGeom>
                <a:avLst/>
                <a:gdLst>
                  <a:gd name="T0" fmla="*/ 40 w 46"/>
                  <a:gd name="T1" fmla="*/ 1 h 46"/>
                  <a:gd name="T2" fmla="*/ 13 w 46"/>
                  <a:gd name="T3" fmla="*/ 10 h 46"/>
                  <a:gd name="T4" fmla="*/ 13 w 46"/>
                  <a:gd name="T5" fmla="*/ 10 h 46"/>
                  <a:gd name="T6" fmla="*/ 12 w 46"/>
                  <a:gd name="T7" fmla="*/ 11 h 46"/>
                  <a:gd name="T8" fmla="*/ 12 w 46"/>
                  <a:gd name="T9" fmla="*/ 11 h 46"/>
                  <a:gd name="T10" fmla="*/ 11 w 46"/>
                  <a:gd name="T11" fmla="*/ 11 h 46"/>
                  <a:gd name="T12" fmla="*/ 11 w 46"/>
                  <a:gd name="T13" fmla="*/ 12 h 46"/>
                  <a:gd name="T14" fmla="*/ 11 w 46"/>
                  <a:gd name="T15" fmla="*/ 12 h 46"/>
                  <a:gd name="T16" fmla="*/ 10 w 46"/>
                  <a:gd name="T17" fmla="*/ 13 h 46"/>
                  <a:gd name="T18" fmla="*/ 10 w 46"/>
                  <a:gd name="T19" fmla="*/ 13 h 46"/>
                  <a:gd name="T20" fmla="*/ 0 w 46"/>
                  <a:gd name="T21" fmla="*/ 40 h 46"/>
                  <a:gd name="T22" fmla="*/ 1 w 46"/>
                  <a:gd name="T23" fmla="*/ 45 h 46"/>
                  <a:gd name="T24" fmla="*/ 4 w 46"/>
                  <a:gd name="T25" fmla="*/ 46 h 46"/>
                  <a:gd name="T26" fmla="*/ 6 w 46"/>
                  <a:gd name="T27" fmla="*/ 46 h 46"/>
                  <a:gd name="T28" fmla="*/ 33 w 46"/>
                  <a:gd name="T29" fmla="*/ 36 h 46"/>
                  <a:gd name="T30" fmla="*/ 33 w 46"/>
                  <a:gd name="T31" fmla="*/ 36 h 46"/>
                  <a:gd name="T32" fmla="*/ 34 w 46"/>
                  <a:gd name="T33" fmla="*/ 35 h 46"/>
                  <a:gd name="T34" fmla="*/ 34 w 46"/>
                  <a:gd name="T35" fmla="*/ 35 h 46"/>
                  <a:gd name="T36" fmla="*/ 35 w 46"/>
                  <a:gd name="T37" fmla="*/ 35 h 46"/>
                  <a:gd name="T38" fmla="*/ 35 w 46"/>
                  <a:gd name="T39" fmla="*/ 34 h 46"/>
                  <a:gd name="T40" fmla="*/ 35 w 46"/>
                  <a:gd name="T41" fmla="*/ 34 h 46"/>
                  <a:gd name="T42" fmla="*/ 36 w 46"/>
                  <a:gd name="T43" fmla="*/ 33 h 46"/>
                  <a:gd name="T44" fmla="*/ 36 w 46"/>
                  <a:gd name="T45" fmla="*/ 33 h 46"/>
                  <a:gd name="T46" fmla="*/ 45 w 46"/>
                  <a:gd name="T47" fmla="*/ 6 h 46"/>
                  <a:gd name="T48" fmla="*/ 44 w 46"/>
                  <a:gd name="T49" fmla="*/ 2 h 46"/>
                  <a:gd name="T50" fmla="*/ 40 w 46"/>
                  <a:gd name="T51" fmla="*/ 1 h 46"/>
                  <a:gd name="T52" fmla="*/ 12 w 46"/>
                  <a:gd name="T53" fmla="*/ 34 h 46"/>
                  <a:gd name="T54" fmla="*/ 16 w 46"/>
                  <a:gd name="T55" fmla="*/ 22 h 46"/>
                  <a:gd name="T56" fmla="*/ 24 w 46"/>
                  <a:gd name="T57" fmla="*/ 30 h 46"/>
                  <a:gd name="T58" fmla="*/ 12 w 46"/>
                  <a:gd name="T59" fmla="*/ 34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46" h="46">
                    <a:moveTo>
                      <a:pt x="40" y="1"/>
                    </a:moveTo>
                    <a:cubicBezTo>
                      <a:pt x="13" y="10"/>
                      <a:pt x="13" y="10"/>
                      <a:pt x="13" y="10"/>
                    </a:cubicBezTo>
                    <a:cubicBezTo>
                      <a:pt x="13" y="10"/>
                      <a:pt x="13" y="10"/>
                      <a:pt x="13" y="10"/>
                    </a:cubicBezTo>
                    <a:cubicBezTo>
                      <a:pt x="12" y="10"/>
                      <a:pt x="12" y="11"/>
                      <a:pt x="12" y="11"/>
                    </a:cubicBezTo>
                    <a:cubicBezTo>
                      <a:pt x="12" y="11"/>
                      <a:pt x="12" y="11"/>
                      <a:pt x="12" y="11"/>
                    </a:cubicBezTo>
                    <a:cubicBezTo>
                      <a:pt x="12" y="11"/>
                      <a:pt x="11" y="11"/>
                      <a:pt x="11" y="11"/>
                    </a:cubicBezTo>
                    <a:cubicBezTo>
                      <a:pt x="11" y="11"/>
                      <a:pt x="11" y="12"/>
                      <a:pt x="11" y="12"/>
                    </a:cubicBezTo>
                    <a:cubicBezTo>
                      <a:pt x="11" y="12"/>
                      <a:pt x="11" y="12"/>
                      <a:pt x="11" y="12"/>
                    </a:cubicBezTo>
                    <a:cubicBezTo>
                      <a:pt x="11" y="12"/>
                      <a:pt x="10" y="12"/>
                      <a:pt x="10" y="13"/>
                    </a:cubicBezTo>
                    <a:cubicBezTo>
                      <a:pt x="10" y="13"/>
                      <a:pt x="10" y="13"/>
                      <a:pt x="10" y="13"/>
                    </a:cubicBezTo>
                    <a:cubicBezTo>
                      <a:pt x="0" y="40"/>
                      <a:pt x="0" y="40"/>
                      <a:pt x="0" y="40"/>
                    </a:cubicBezTo>
                    <a:cubicBezTo>
                      <a:pt x="0" y="42"/>
                      <a:pt x="0" y="43"/>
                      <a:pt x="1" y="45"/>
                    </a:cubicBezTo>
                    <a:cubicBezTo>
                      <a:pt x="2" y="45"/>
                      <a:pt x="3" y="46"/>
                      <a:pt x="4" y="46"/>
                    </a:cubicBezTo>
                    <a:cubicBezTo>
                      <a:pt x="5" y="46"/>
                      <a:pt x="5" y="46"/>
                      <a:pt x="6" y="46"/>
                    </a:cubicBezTo>
                    <a:cubicBezTo>
                      <a:pt x="33" y="36"/>
                      <a:pt x="33" y="36"/>
                      <a:pt x="33" y="36"/>
                    </a:cubicBezTo>
                    <a:cubicBezTo>
                      <a:pt x="33" y="36"/>
                      <a:pt x="33" y="36"/>
                      <a:pt x="33" y="36"/>
                    </a:cubicBezTo>
                    <a:cubicBezTo>
                      <a:pt x="34" y="36"/>
                      <a:pt x="34" y="35"/>
                      <a:pt x="34" y="35"/>
                    </a:cubicBezTo>
                    <a:cubicBezTo>
                      <a:pt x="34" y="35"/>
                      <a:pt x="34" y="35"/>
                      <a:pt x="34" y="35"/>
                    </a:cubicBezTo>
                    <a:cubicBezTo>
                      <a:pt x="34" y="35"/>
                      <a:pt x="35" y="35"/>
                      <a:pt x="35" y="35"/>
                    </a:cubicBezTo>
                    <a:cubicBezTo>
                      <a:pt x="35" y="35"/>
                      <a:pt x="35" y="34"/>
                      <a:pt x="35" y="34"/>
                    </a:cubicBezTo>
                    <a:cubicBezTo>
                      <a:pt x="35" y="34"/>
                      <a:pt x="35" y="34"/>
                      <a:pt x="35" y="34"/>
                    </a:cubicBezTo>
                    <a:cubicBezTo>
                      <a:pt x="35" y="34"/>
                      <a:pt x="35" y="34"/>
                      <a:pt x="36" y="33"/>
                    </a:cubicBezTo>
                    <a:cubicBezTo>
                      <a:pt x="36" y="33"/>
                      <a:pt x="36" y="33"/>
                      <a:pt x="36" y="33"/>
                    </a:cubicBezTo>
                    <a:cubicBezTo>
                      <a:pt x="45" y="6"/>
                      <a:pt x="45" y="6"/>
                      <a:pt x="45" y="6"/>
                    </a:cubicBezTo>
                    <a:cubicBezTo>
                      <a:pt x="46" y="4"/>
                      <a:pt x="46" y="3"/>
                      <a:pt x="44" y="2"/>
                    </a:cubicBezTo>
                    <a:cubicBezTo>
                      <a:pt x="43" y="0"/>
                      <a:pt x="42" y="0"/>
                      <a:pt x="40" y="1"/>
                    </a:cubicBezTo>
                    <a:moveTo>
                      <a:pt x="12" y="34"/>
                    </a:moveTo>
                    <a:cubicBezTo>
                      <a:pt x="16" y="22"/>
                      <a:pt x="16" y="22"/>
                      <a:pt x="16" y="22"/>
                    </a:cubicBezTo>
                    <a:cubicBezTo>
                      <a:pt x="24" y="30"/>
                      <a:pt x="24" y="30"/>
                      <a:pt x="24" y="30"/>
                    </a:cubicBezTo>
                    <a:lnTo>
                      <a:pt x="12" y="3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dirty="0">
                  <a:latin typeface="印品黑体" panose="00000500000000000000" pitchFamily="2" charset="-122"/>
                  <a:ea typeface="印品黑体" panose="00000500000000000000" pitchFamily="2" charset="-122"/>
                </a:endParaRPr>
              </a:p>
            </p:txBody>
          </p:sp>
          <p:sp>
            <p:nvSpPr>
              <p:cNvPr id="21" name="Freeform 21">
                <a:extLst>
                  <a:ext uri="{FF2B5EF4-FFF2-40B4-BE49-F238E27FC236}">
                    <a16:creationId xmlns:a16="http://schemas.microsoft.com/office/drawing/2014/main" id="{E5386E19-34B5-48F7-99F2-2DBB51E7AED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194" y="329"/>
                <a:ext cx="236" cy="237"/>
              </a:xfrm>
              <a:custGeom>
                <a:avLst/>
                <a:gdLst>
                  <a:gd name="T0" fmla="*/ 81 w 100"/>
                  <a:gd name="T1" fmla="*/ 0 h 100"/>
                  <a:gd name="T2" fmla="*/ 18 w 100"/>
                  <a:gd name="T3" fmla="*/ 0 h 100"/>
                  <a:gd name="T4" fmla="*/ 0 w 100"/>
                  <a:gd name="T5" fmla="*/ 18 h 100"/>
                  <a:gd name="T6" fmla="*/ 0 w 100"/>
                  <a:gd name="T7" fmla="*/ 82 h 100"/>
                  <a:gd name="T8" fmla="*/ 18 w 100"/>
                  <a:gd name="T9" fmla="*/ 100 h 100"/>
                  <a:gd name="T10" fmla="*/ 81 w 100"/>
                  <a:gd name="T11" fmla="*/ 100 h 100"/>
                  <a:gd name="T12" fmla="*/ 85 w 100"/>
                  <a:gd name="T13" fmla="*/ 100 h 100"/>
                  <a:gd name="T14" fmla="*/ 100 w 100"/>
                  <a:gd name="T15" fmla="*/ 82 h 100"/>
                  <a:gd name="T16" fmla="*/ 100 w 100"/>
                  <a:gd name="T17" fmla="*/ 18 h 100"/>
                  <a:gd name="T18" fmla="*/ 81 w 100"/>
                  <a:gd name="T19" fmla="*/ 0 h 100"/>
                  <a:gd name="T20" fmla="*/ 92 w 100"/>
                  <a:gd name="T21" fmla="*/ 82 h 100"/>
                  <a:gd name="T22" fmla="*/ 84 w 100"/>
                  <a:gd name="T23" fmla="*/ 91 h 100"/>
                  <a:gd name="T24" fmla="*/ 81 w 100"/>
                  <a:gd name="T25" fmla="*/ 92 h 100"/>
                  <a:gd name="T26" fmla="*/ 18 w 100"/>
                  <a:gd name="T27" fmla="*/ 92 h 100"/>
                  <a:gd name="T28" fmla="*/ 8 w 100"/>
                  <a:gd name="T29" fmla="*/ 82 h 100"/>
                  <a:gd name="T30" fmla="*/ 8 w 100"/>
                  <a:gd name="T31" fmla="*/ 18 h 100"/>
                  <a:gd name="T32" fmla="*/ 18 w 100"/>
                  <a:gd name="T33" fmla="*/ 8 h 100"/>
                  <a:gd name="T34" fmla="*/ 81 w 100"/>
                  <a:gd name="T35" fmla="*/ 8 h 100"/>
                  <a:gd name="T36" fmla="*/ 92 w 100"/>
                  <a:gd name="T37" fmla="*/ 18 h 100"/>
                  <a:gd name="T38" fmla="*/ 92 w 100"/>
                  <a:gd name="T39" fmla="*/ 82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00" h="100">
                    <a:moveTo>
                      <a:pt x="81" y="0"/>
                    </a:moveTo>
                    <a:cubicBezTo>
                      <a:pt x="18" y="0"/>
                      <a:pt x="18" y="0"/>
                      <a:pt x="18" y="0"/>
                    </a:cubicBezTo>
                    <a:cubicBezTo>
                      <a:pt x="8" y="0"/>
                      <a:pt x="0" y="8"/>
                      <a:pt x="0" y="18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0" y="92"/>
                      <a:pt x="8" y="100"/>
                      <a:pt x="18" y="100"/>
                    </a:cubicBezTo>
                    <a:cubicBezTo>
                      <a:pt x="81" y="100"/>
                      <a:pt x="81" y="100"/>
                      <a:pt x="81" y="100"/>
                    </a:cubicBezTo>
                    <a:cubicBezTo>
                      <a:pt x="83" y="100"/>
                      <a:pt x="84" y="100"/>
                      <a:pt x="85" y="100"/>
                    </a:cubicBezTo>
                    <a:cubicBezTo>
                      <a:pt x="94" y="98"/>
                      <a:pt x="100" y="90"/>
                      <a:pt x="100" y="82"/>
                    </a:cubicBezTo>
                    <a:cubicBezTo>
                      <a:pt x="100" y="18"/>
                      <a:pt x="100" y="18"/>
                      <a:pt x="100" y="18"/>
                    </a:cubicBezTo>
                    <a:cubicBezTo>
                      <a:pt x="100" y="8"/>
                      <a:pt x="92" y="0"/>
                      <a:pt x="81" y="0"/>
                    </a:cubicBezTo>
                    <a:moveTo>
                      <a:pt x="92" y="82"/>
                    </a:moveTo>
                    <a:cubicBezTo>
                      <a:pt x="92" y="86"/>
                      <a:pt x="88" y="90"/>
                      <a:pt x="84" y="91"/>
                    </a:cubicBezTo>
                    <a:cubicBezTo>
                      <a:pt x="83" y="92"/>
                      <a:pt x="82" y="92"/>
                      <a:pt x="81" y="92"/>
                    </a:cubicBezTo>
                    <a:cubicBezTo>
                      <a:pt x="18" y="92"/>
                      <a:pt x="18" y="92"/>
                      <a:pt x="18" y="92"/>
                    </a:cubicBezTo>
                    <a:cubicBezTo>
                      <a:pt x="13" y="92"/>
                      <a:pt x="8" y="87"/>
                      <a:pt x="8" y="82"/>
                    </a:cubicBezTo>
                    <a:cubicBezTo>
                      <a:pt x="8" y="18"/>
                      <a:pt x="8" y="18"/>
                      <a:pt x="8" y="18"/>
                    </a:cubicBezTo>
                    <a:cubicBezTo>
                      <a:pt x="8" y="13"/>
                      <a:pt x="13" y="8"/>
                      <a:pt x="18" y="8"/>
                    </a:cubicBezTo>
                    <a:cubicBezTo>
                      <a:pt x="81" y="8"/>
                      <a:pt x="81" y="8"/>
                      <a:pt x="81" y="8"/>
                    </a:cubicBezTo>
                    <a:cubicBezTo>
                      <a:pt x="87" y="8"/>
                      <a:pt x="92" y="13"/>
                      <a:pt x="92" y="18"/>
                    </a:cubicBezTo>
                    <a:lnTo>
                      <a:pt x="92" y="82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dirty="0">
                  <a:latin typeface="印品黑体" panose="00000500000000000000" pitchFamily="2" charset="-122"/>
                  <a:ea typeface="印品黑体" panose="00000500000000000000" pitchFamily="2" charset="-122"/>
                </a:endParaRPr>
              </a:p>
            </p:txBody>
          </p:sp>
        </p:grpSp>
        <p:sp>
          <p:nvSpPr>
            <p:cNvPr id="22" name="Rectangle 22">
              <a:extLst>
                <a:ext uri="{FF2B5EF4-FFF2-40B4-BE49-F238E27FC236}">
                  <a16:creationId xmlns:a16="http://schemas.microsoft.com/office/drawing/2014/main" id="{224C9AFF-B893-4FA8-8B09-17E9054DA3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89633" y="2544116"/>
              <a:ext cx="1513151" cy="2743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algn="ctr"/>
              <a:r>
                <a:rPr lang="es-MX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Entrevistas al personal TI y RRHH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23" name="Rectangle 23">
              <a:extLst>
                <a:ext uri="{FF2B5EF4-FFF2-40B4-BE49-F238E27FC236}">
                  <a16:creationId xmlns:a16="http://schemas.microsoft.com/office/drawing/2014/main" id="{D8EABC59-FB3A-4A54-8891-DCB1B715AB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3613" y="3496955"/>
              <a:ext cx="1513151" cy="2743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algn="ctr"/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Revisión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 documental (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títulos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, CVs, 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certificados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)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24" name="Rectangle 24">
              <a:extLst>
                <a:ext uri="{FF2B5EF4-FFF2-40B4-BE49-F238E27FC236}">
                  <a16:creationId xmlns:a16="http://schemas.microsoft.com/office/drawing/2014/main" id="{1F74840D-2719-4B32-923F-B5CA57AD44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6255" y="2509907"/>
              <a:ext cx="1513150" cy="2743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algn="ctr"/>
              <a:r>
                <a:rPr lang="es-MX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Cuestionario anónimo a 13 usuarios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25" name="Rectangle 25">
              <a:extLst>
                <a:ext uri="{FF2B5EF4-FFF2-40B4-BE49-F238E27FC236}">
                  <a16:creationId xmlns:a16="http://schemas.microsoft.com/office/drawing/2014/main" id="{F55CC86B-17F2-4117-9B78-EDFB396D8D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6308" y="3287712"/>
              <a:ext cx="1513150" cy="2743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algn="ctr"/>
              <a:r>
                <a:rPr lang="es-MX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Observación directa en jornada laboral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</p:grpSp>
      <p:sp>
        <p:nvSpPr>
          <p:cNvPr id="26" name="矩形 8">
            <a:extLst>
              <a:ext uri="{FF2B5EF4-FFF2-40B4-BE49-F238E27FC236}">
                <a16:creationId xmlns:a16="http://schemas.microsoft.com/office/drawing/2014/main" id="{5A073539-402B-4F42-B997-2A8099A7F9A1}"/>
              </a:ext>
            </a:extLst>
          </p:cNvPr>
          <p:cNvSpPr/>
          <p:nvPr/>
        </p:nvSpPr>
        <p:spPr>
          <a:xfrm>
            <a:off x="1453372" y="181895"/>
            <a:ext cx="10447080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Evaluación del Capital Humano TI – Metodología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28" name="Rectangle 22">
            <a:extLst>
              <a:ext uri="{FF2B5EF4-FFF2-40B4-BE49-F238E27FC236}">
                <a16:creationId xmlns:a16="http://schemas.microsoft.com/office/drawing/2014/main" id="{92C13724-34EF-4787-715A-89753DB1E4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15372" y="1115461"/>
            <a:ext cx="436125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¿Cómo evaluamos al equipo de TI?</a:t>
            </a:r>
            <a:endParaRPr lang="en-US" altLang="zh-CN" sz="1600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29" name="Oval 2">
            <a:extLst>
              <a:ext uri="{FF2B5EF4-FFF2-40B4-BE49-F238E27FC236}">
                <a16:creationId xmlns:a16="http://schemas.microsoft.com/office/drawing/2014/main" id="{4399A57A-34E6-4576-66F9-3F9C28690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42564" y="2729414"/>
            <a:ext cx="1531026" cy="153420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lIns="91467" tIns="45734" rIns="91467" bIns="45734"/>
          <a:lstStyle/>
          <a:p>
            <a:endParaRPr lang="zh-CN" altLang="en-US" dirty="0"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1" name="Rectangle 24">
            <a:extLst>
              <a:ext uri="{FF2B5EF4-FFF2-40B4-BE49-F238E27FC236}">
                <a16:creationId xmlns:a16="http://schemas.microsoft.com/office/drawing/2014/main" id="{7E67F0DF-4B44-C58E-804D-D45C9DCF4E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40225" y="4439867"/>
            <a:ext cx="2135704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sz="14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Verificación de referencias laborales</a:t>
            </a:r>
            <a:endParaRPr lang="en-US" altLang="zh-CN" sz="1200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pic>
        <p:nvPicPr>
          <p:cNvPr id="32" name="图片 18">
            <a:extLst>
              <a:ext uri="{FF2B5EF4-FFF2-40B4-BE49-F238E27FC236}">
                <a16:creationId xmlns:a16="http://schemas.microsoft.com/office/drawing/2014/main" id="{642E789E-7B6A-9F5B-DBBF-498DBE10C4A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6839" y="3091282"/>
            <a:ext cx="772831" cy="772831"/>
          </a:xfrm>
          <a:prstGeom prst="rect">
            <a:avLst/>
          </a:prstGeom>
        </p:spPr>
      </p:pic>
      <p:sp>
        <p:nvSpPr>
          <p:cNvPr id="33" name="Rectangle 22">
            <a:extLst>
              <a:ext uri="{FF2B5EF4-FFF2-40B4-BE49-F238E27FC236}">
                <a16:creationId xmlns:a16="http://schemas.microsoft.com/office/drawing/2014/main" id="{AA169302-D953-C799-72CE-6C06508A52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2460" y="1765389"/>
            <a:ext cx="1044707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r>
              <a:rPr lang="es-MX" altLang="zh-CN" sz="16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Objetivo: </a:t>
            </a:r>
            <a:r>
              <a:rPr lang="es-MX" altLang="zh-CN" sz="16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Analizar formación, experiencia, capacitación, perfil, conocimiento y percepción del usuario.</a:t>
            </a:r>
            <a:endParaRPr lang="en-US" altLang="zh-CN" sz="1400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4" name="Rectangle 22">
            <a:extLst>
              <a:ext uri="{FF2B5EF4-FFF2-40B4-BE49-F238E27FC236}">
                <a16:creationId xmlns:a16="http://schemas.microsoft.com/office/drawing/2014/main" id="{20B0D28C-4302-AA8E-1AB9-ECA7A236E8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071" y="5736868"/>
            <a:ext cx="7455493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sz="16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Principio clave: </a:t>
            </a:r>
            <a:r>
              <a:rPr lang="es-MX" altLang="zh-CN" sz="1600" i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“Lo que no está documentado, no puede ser auditado”</a:t>
            </a:r>
            <a:endParaRPr lang="en-US" altLang="zh-CN" sz="1400" i="1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pic>
        <p:nvPicPr>
          <p:cNvPr id="35" name="图片 12">
            <a:extLst>
              <a:ext uri="{FF2B5EF4-FFF2-40B4-BE49-F238E27FC236}">
                <a16:creationId xmlns:a16="http://schemas.microsoft.com/office/drawing/2014/main" id="{B9652B5A-3174-23E7-00E1-6C2C550A25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1760" y="3036466"/>
            <a:ext cx="608822" cy="608822"/>
          </a:xfrm>
          <a:prstGeom prst="rect">
            <a:avLst/>
          </a:prstGeom>
        </p:spPr>
      </p:pic>
      <p:sp>
        <p:nvSpPr>
          <p:cNvPr id="36" name="任意多边形 29">
            <a:extLst>
              <a:ext uri="{FF2B5EF4-FFF2-40B4-BE49-F238E27FC236}">
                <a16:creationId xmlns:a16="http://schemas.microsoft.com/office/drawing/2014/main" id="{DE40BB99-CBB2-CD85-C39F-503585D1EEF9}"/>
              </a:ext>
            </a:extLst>
          </p:cNvPr>
          <p:cNvSpPr>
            <a:spLocks noChangeAspect="1"/>
          </p:cNvSpPr>
          <p:nvPr/>
        </p:nvSpPr>
        <p:spPr>
          <a:xfrm>
            <a:off x="3751639" y="4031981"/>
            <a:ext cx="408405" cy="669231"/>
          </a:xfrm>
          <a:custGeom>
            <a:avLst/>
            <a:gdLst>
              <a:gd name="connsiteX0" fmla="*/ 3411 w 2415654"/>
              <a:gd name="connsiteY0" fmla="*/ 1160060 h 3957849"/>
              <a:gd name="connsiteX1" fmla="*/ 392373 w 2415654"/>
              <a:gd name="connsiteY1" fmla="*/ 1160060 h 3957849"/>
              <a:gd name="connsiteX2" fmla="*/ 392373 w 2415654"/>
              <a:gd name="connsiteY2" fmla="*/ 2123285 h 3957849"/>
              <a:gd name="connsiteX3" fmla="*/ 396449 w 2415654"/>
              <a:gd name="connsiteY3" fmla="*/ 2204161 h 3957849"/>
              <a:gd name="connsiteX4" fmla="*/ 791679 w 2415654"/>
              <a:gd name="connsiteY4" fmla="*/ 2811618 h 3957849"/>
              <a:gd name="connsiteX5" fmla="*/ 1612465 w 2415654"/>
              <a:gd name="connsiteY5" fmla="*/ 2818304 h 3957849"/>
              <a:gd name="connsiteX6" fmla="*/ 2024800 w 2415654"/>
              <a:gd name="connsiteY6" fmla="*/ 2108576 h 3957849"/>
              <a:gd name="connsiteX7" fmla="*/ 2026692 w 2415654"/>
              <a:gd name="connsiteY7" fmla="*/ 2108576 h 3957849"/>
              <a:gd name="connsiteX8" fmla="*/ 2026692 w 2415654"/>
              <a:gd name="connsiteY8" fmla="*/ 1160060 h 3957849"/>
              <a:gd name="connsiteX9" fmla="*/ 2415654 w 2415654"/>
              <a:gd name="connsiteY9" fmla="*/ 1160060 h 3957849"/>
              <a:gd name="connsiteX10" fmla="*/ 2415654 w 2415654"/>
              <a:gd name="connsiteY10" fmla="*/ 2108577 h 3957849"/>
              <a:gd name="connsiteX11" fmla="*/ 2415654 w 2415654"/>
              <a:gd name="connsiteY11" fmla="*/ 2135873 h 3957849"/>
              <a:gd name="connsiteX12" fmla="*/ 2413832 w 2415654"/>
              <a:gd name="connsiteY12" fmla="*/ 2135873 h 3957849"/>
              <a:gd name="connsiteX13" fmla="*/ 2404919 w 2415654"/>
              <a:gd name="connsiteY13" fmla="*/ 2269414 h 3957849"/>
              <a:gd name="connsiteX14" fmla="*/ 1806051 w 2415654"/>
              <a:gd name="connsiteY14" fmla="*/ 3157850 h 3957849"/>
              <a:gd name="connsiteX15" fmla="*/ 1509944 w 2415654"/>
              <a:gd name="connsiteY15" fmla="*/ 3278039 h 3957849"/>
              <a:gd name="connsiteX16" fmla="*/ 1433014 w 2415654"/>
              <a:gd name="connsiteY16" fmla="*/ 3292621 h 3957849"/>
              <a:gd name="connsiteX17" fmla="*/ 1433014 w 2415654"/>
              <a:gd name="connsiteY17" fmla="*/ 3718944 h 3957849"/>
              <a:gd name="connsiteX18" fmla="*/ 1194109 w 2415654"/>
              <a:gd name="connsiteY18" fmla="*/ 3957849 h 3957849"/>
              <a:gd name="connsiteX19" fmla="*/ 955204 w 2415654"/>
              <a:gd name="connsiteY19" fmla="*/ 3718944 h 3957849"/>
              <a:gd name="connsiteX20" fmla="*/ 955204 w 2415654"/>
              <a:gd name="connsiteY20" fmla="*/ 3287107 h 3957849"/>
              <a:gd name="connsiteX21" fmla="*/ 886698 w 2415654"/>
              <a:gd name="connsiteY21" fmla="*/ 3272962 h 3957849"/>
              <a:gd name="connsiteX22" fmla="*/ 592588 w 2415654"/>
              <a:gd name="connsiteY22" fmla="*/ 3147965 h 3957849"/>
              <a:gd name="connsiteX23" fmla="*/ 160 w 2415654"/>
              <a:gd name="connsiteY23" fmla="*/ 2088900 h 3957849"/>
              <a:gd name="connsiteX24" fmla="*/ 3411 w 2415654"/>
              <a:gd name="connsiteY24" fmla="*/ 2088953 h 3957849"/>
              <a:gd name="connsiteX25" fmla="*/ 1207827 w 2415654"/>
              <a:gd name="connsiteY25" fmla="*/ 0 h 3957849"/>
              <a:gd name="connsiteX26" fmla="*/ 1849272 w 2415654"/>
              <a:gd name="connsiteY26" fmla="*/ 641445 h 3957849"/>
              <a:gd name="connsiteX27" fmla="*/ 1849272 w 2415654"/>
              <a:gd name="connsiteY27" fmla="*/ 2033516 h 3957849"/>
              <a:gd name="connsiteX28" fmla="*/ 1207827 w 2415654"/>
              <a:gd name="connsiteY28" fmla="*/ 2674961 h 3957849"/>
              <a:gd name="connsiteX29" fmla="*/ 566382 w 2415654"/>
              <a:gd name="connsiteY29" fmla="*/ 2033516 h 3957849"/>
              <a:gd name="connsiteX30" fmla="*/ 566382 w 2415654"/>
              <a:gd name="connsiteY30" fmla="*/ 641445 h 3957849"/>
              <a:gd name="connsiteX31" fmla="*/ 1207827 w 2415654"/>
              <a:gd name="connsiteY31" fmla="*/ 0 h 39578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415654" h="3957849">
                <a:moveTo>
                  <a:pt x="3411" y="1160060"/>
                </a:moveTo>
                <a:lnTo>
                  <a:pt x="392373" y="1160060"/>
                </a:lnTo>
                <a:lnTo>
                  <a:pt x="392373" y="2123285"/>
                </a:lnTo>
                <a:lnTo>
                  <a:pt x="396449" y="2204161"/>
                </a:lnTo>
                <a:cubicBezTo>
                  <a:pt x="425976" y="2455114"/>
                  <a:pt x="570709" y="2680821"/>
                  <a:pt x="791679" y="2811618"/>
                </a:cubicBezTo>
                <a:cubicBezTo>
                  <a:pt x="1044216" y="2961101"/>
                  <a:pt x="1357526" y="2963653"/>
                  <a:pt x="1612465" y="2818304"/>
                </a:cubicBezTo>
                <a:cubicBezTo>
                  <a:pt x="1867404" y="2672955"/>
                  <a:pt x="2024800" y="2402038"/>
                  <a:pt x="2024800" y="2108576"/>
                </a:cubicBezTo>
                <a:lnTo>
                  <a:pt x="2026692" y="2108576"/>
                </a:lnTo>
                <a:lnTo>
                  <a:pt x="2026692" y="1160060"/>
                </a:lnTo>
                <a:lnTo>
                  <a:pt x="2415654" y="1160060"/>
                </a:lnTo>
                <a:lnTo>
                  <a:pt x="2415654" y="2108577"/>
                </a:lnTo>
                <a:lnTo>
                  <a:pt x="2415654" y="2135873"/>
                </a:lnTo>
                <a:lnTo>
                  <a:pt x="2413832" y="2135873"/>
                </a:lnTo>
                <a:lnTo>
                  <a:pt x="2404919" y="2269414"/>
                </a:lnTo>
                <a:cubicBezTo>
                  <a:pt x="2355227" y="2639667"/>
                  <a:pt x="2135844" y="2969825"/>
                  <a:pt x="1806051" y="3157850"/>
                </a:cubicBezTo>
                <a:cubicBezTo>
                  <a:pt x="1711825" y="3211572"/>
                  <a:pt x="1612205" y="3251627"/>
                  <a:pt x="1509944" y="3278039"/>
                </a:cubicBezTo>
                <a:lnTo>
                  <a:pt x="1433014" y="3292621"/>
                </a:lnTo>
                <a:lnTo>
                  <a:pt x="1433014" y="3718944"/>
                </a:lnTo>
                <a:cubicBezTo>
                  <a:pt x="1433014" y="3850888"/>
                  <a:pt x="1326053" y="3957849"/>
                  <a:pt x="1194109" y="3957849"/>
                </a:cubicBezTo>
                <a:cubicBezTo>
                  <a:pt x="1062165" y="3957849"/>
                  <a:pt x="955204" y="3850888"/>
                  <a:pt x="955204" y="3718944"/>
                </a:cubicBezTo>
                <a:lnTo>
                  <a:pt x="955204" y="3287107"/>
                </a:lnTo>
                <a:lnTo>
                  <a:pt x="886698" y="3272962"/>
                </a:lnTo>
                <a:cubicBezTo>
                  <a:pt x="784881" y="3244888"/>
                  <a:pt x="685927" y="3203215"/>
                  <a:pt x="592588" y="3147965"/>
                </a:cubicBezTo>
                <a:cubicBezTo>
                  <a:pt x="219233" y="2926967"/>
                  <a:pt x="-6908" y="2522702"/>
                  <a:pt x="160" y="2088900"/>
                </a:cubicBezTo>
                <a:lnTo>
                  <a:pt x="3411" y="2088953"/>
                </a:lnTo>
                <a:close/>
                <a:moveTo>
                  <a:pt x="1207827" y="0"/>
                </a:moveTo>
                <a:cubicBezTo>
                  <a:pt x="1562087" y="0"/>
                  <a:pt x="1849272" y="287185"/>
                  <a:pt x="1849272" y="641445"/>
                </a:cubicBezTo>
                <a:lnTo>
                  <a:pt x="1849272" y="2033516"/>
                </a:lnTo>
                <a:cubicBezTo>
                  <a:pt x="1849272" y="2387776"/>
                  <a:pt x="1562087" y="2674961"/>
                  <a:pt x="1207827" y="2674961"/>
                </a:cubicBezTo>
                <a:cubicBezTo>
                  <a:pt x="853567" y="2674961"/>
                  <a:pt x="566382" y="2387776"/>
                  <a:pt x="566382" y="2033516"/>
                </a:cubicBezTo>
                <a:lnTo>
                  <a:pt x="566382" y="641445"/>
                </a:lnTo>
                <a:cubicBezTo>
                  <a:pt x="566382" y="287185"/>
                  <a:pt x="853567" y="0"/>
                  <a:pt x="120782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9" tIns="34295" rIns="68589" bIns="34295" rtlCol="0" anchor="ctr"/>
          <a:lstStyle/>
          <a:p>
            <a:pPr algn="ctr"/>
            <a:endParaRPr lang="zh-CN" altLang="en-US" dirty="0"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1536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2932091" y="2266403"/>
            <a:ext cx="4502377" cy="2325193"/>
            <a:chOff x="4406515" y="2122684"/>
            <a:chExt cx="5007593" cy="2586106"/>
          </a:xfrm>
        </p:grpSpPr>
        <p:sp>
          <p:nvSpPr>
            <p:cNvPr id="2" name="Hexagon 7"/>
            <p:cNvSpPr/>
            <p:nvPr/>
          </p:nvSpPr>
          <p:spPr>
            <a:xfrm rot="16200000">
              <a:off x="4308742" y="3388857"/>
              <a:ext cx="1417705" cy="1222160"/>
            </a:xfrm>
            <a:prstGeom prst="hexagon">
              <a:avLst/>
            </a:prstGeom>
            <a:ln/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" name="Hexagon 7"/>
            <p:cNvSpPr/>
            <p:nvPr/>
          </p:nvSpPr>
          <p:spPr>
            <a:xfrm rot="16200000">
              <a:off x="5578743" y="3388857"/>
              <a:ext cx="1417705" cy="1222160"/>
            </a:xfrm>
            <a:prstGeom prst="hexagon">
              <a:avLst/>
            </a:prstGeom>
            <a:ln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" name="Hexagon 7"/>
            <p:cNvSpPr/>
            <p:nvPr/>
          </p:nvSpPr>
          <p:spPr>
            <a:xfrm rot="16200000">
              <a:off x="6202524" y="2220457"/>
              <a:ext cx="1417705" cy="1222160"/>
            </a:xfrm>
            <a:prstGeom prst="hexagon">
              <a:avLst/>
            </a:prstGeom>
            <a:ln/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" name="Hexagon 7"/>
            <p:cNvSpPr/>
            <p:nvPr/>
          </p:nvSpPr>
          <p:spPr>
            <a:xfrm rot="16200000">
              <a:off x="7475101" y="2220457"/>
              <a:ext cx="1417705" cy="1222160"/>
            </a:xfrm>
            <a:prstGeom prst="hexagon">
              <a:avLst/>
            </a:prstGeom>
            <a:ln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Hexagon 7"/>
            <p:cNvSpPr/>
            <p:nvPr/>
          </p:nvSpPr>
          <p:spPr>
            <a:xfrm rot="16200000">
              <a:off x="8094175" y="3388858"/>
              <a:ext cx="1417705" cy="1222160"/>
            </a:xfrm>
            <a:prstGeom prst="hexagon">
              <a:avLst/>
            </a:prstGeom>
            <a:ln/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4" name="Group 9"/>
          <p:cNvGrpSpPr/>
          <p:nvPr/>
        </p:nvGrpSpPr>
        <p:grpSpPr>
          <a:xfrm flipV="1">
            <a:off x="5774763" y="4298544"/>
            <a:ext cx="409102" cy="941305"/>
            <a:chOff x="7258929" y="1631852"/>
            <a:chExt cx="1674056" cy="464234"/>
          </a:xfrm>
        </p:grpSpPr>
        <p:cxnSp>
          <p:nvCxnSpPr>
            <p:cNvPr id="15" name="Straight Connector 10"/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1"/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26"/>
          <p:cNvGrpSpPr/>
          <p:nvPr/>
        </p:nvGrpSpPr>
        <p:grpSpPr>
          <a:xfrm flipH="1" flipV="1">
            <a:off x="3661492" y="1817362"/>
            <a:ext cx="1511325" cy="366993"/>
            <a:chOff x="7258929" y="1631852"/>
            <a:chExt cx="1674056" cy="464234"/>
          </a:xfrm>
        </p:grpSpPr>
        <p:cxnSp>
          <p:nvCxnSpPr>
            <p:cNvPr id="21" name="Straight Connector 27"/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8"/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32"/>
          <p:cNvGrpSpPr/>
          <p:nvPr/>
        </p:nvGrpSpPr>
        <p:grpSpPr>
          <a:xfrm rot="5400000" flipH="1" flipV="1">
            <a:off x="3934747" y="4539788"/>
            <a:ext cx="513295" cy="886828"/>
            <a:chOff x="7258929" y="1631852"/>
            <a:chExt cx="1674056" cy="464234"/>
          </a:xfrm>
        </p:grpSpPr>
        <p:cxnSp>
          <p:nvCxnSpPr>
            <p:cNvPr id="24" name="Straight Connector 33"/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34"/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38"/>
          <p:cNvGrpSpPr/>
          <p:nvPr/>
        </p:nvGrpSpPr>
        <p:grpSpPr>
          <a:xfrm>
            <a:off x="1871176" y="4255510"/>
            <a:ext cx="942648" cy="163866"/>
            <a:chOff x="7258929" y="1631852"/>
            <a:chExt cx="1674056" cy="464234"/>
          </a:xfrm>
        </p:grpSpPr>
        <p:cxnSp>
          <p:nvCxnSpPr>
            <p:cNvPr id="27" name="Straight Connector 39"/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40"/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6"/>
          <p:cNvGrpSpPr/>
          <p:nvPr/>
        </p:nvGrpSpPr>
        <p:grpSpPr>
          <a:xfrm flipV="1">
            <a:off x="6335612" y="1897391"/>
            <a:ext cx="424822" cy="221201"/>
            <a:chOff x="7258929" y="1631852"/>
            <a:chExt cx="1674056" cy="464234"/>
          </a:xfrm>
        </p:grpSpPr>
        <p:cxnSp>
          <p:nvCxnSpPr>
            <p:cNvPr id="30" name="Straight Connector 27"/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28"/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组合 32"/>
          <p:cNvGrpSpPr/>
          <p:nvPr/>
        </p:nvGrpSpPr>
        <p:grpSpPr>
          <a:xfrm>
            <a:off x="6923183" y="1182022"/>
            <a:ext cx="2521821" cy="1088099"/>
            <a:chOff x="7083312" y="3018462"/>
            <a:chExt cx="2521821" cy="1088099"/>
          </a:xfrm>
        </p:grpSpPr>
        <p:sp>
          <p:nvSpPr>
            <p:cNvPr id="34" name="矩形 33"/>
            <p:cNvSpPr/>
            <p:nvPr/>
          </p:nvSpPr>
          <p:spPr>
            <a:xfrm>
              <a:off x="7083312" y="3404830"/>
              <a:ext cx="2521821" cy="701731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Competencias técnicas y habilidades blandas requeridas por el puesto que ocupa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7083312" y="3018462"/>
              <a:ext cx="2050552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Perfil</a:t>
              </a: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 </a:t>
              </a: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Profesional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6" name="组合 35"/>
          <p:cNvGrpSpPr/>
          <p:nvPr/>
        </p:nvGrpSpPr>
        <p:grpSpPr>
          <a:xfrm>
            <a:off x="4747764" y="5424422"/>
            <a:ext cx="3782745" cy="865474"/>
            <a:chOff x="6361043" y="3838994"/>
            <a:chExt cx="3782745" cy="865474"/>
          </a:xfrm>
        </p:grpSpPr>
        <p:sp>
          <p:nvSpPr>
            <p:cNvPr id="37" name="矩形 36"/>
            <p:cNvSpPr/>
            <p:nvPr/>
          </p:nvSpPr>
          <p:spPr>
            <a:xfrm>
              <a:off x="6361044" y="4225362"/>
              <a:ext cx="3722758" cy="47910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Herramienta de diagnóstico que evalúa de manera integral al equipo en múltiples dimensiones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38" name="矩形 37"/>
            <p:cNvSpPr/>
            <p:nvPr/>
          </p:nvSpPr>
          <p:spPr>
            <a:xfrm>
              <a:off x="6361043" y="3838994"/>
              <a:ext cx="3782745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Radar de Capital Humano de TI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-61265" y="4960607"/>
            <a:ext cx="3722758" cy="865474"/>
            <a:chOff x="7483989" y="3375179"/>
            <a:chExt cx="3722758" cy="865474"/>
          </a:xfrm>
        </p:grpSpPr>
        <p:sp>
          <p:nvSpPr>
            <p:cNvPr id="40" name="矩形 39"/>
            <p:cNvSpPr/>
            <p:nvPr/>
          </p:nvSpPr>
          <p:spPr>
            <a:xfrm>
              <a:off x="7483989" y="3761547"/>
              <a:ext cx="3722758" cy="47910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Para operar, mantener y asegurar un sistema de inventarios en el rubro farmacéutico.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41" name="矩形 40"/>
            <p:cNvSpPr/>
            <p:nvPr/>
          </p:nvSpPr>
          <p:spPr>
            <a:xfrm>
              <a:off x="8671690" y="3375179"/>
              <a:ext cx="2535057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Experiencia</a:t>
              </a: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 Laboral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1072747" y="1182022"/>
            <a:ext cx="2521821" cy="1271739"/>
            <a:chOff x="7483989" y="3375179"/>
            <a:chExt cx="2521821" cy="1271739"/>
          </a:xfrm>
        </p:grpSpPr>
        <p:sp>
          <p:nvSpPr>
            <p:cNvPr id="43" name="矩形 42"/>
            <p:cNvSpPr/>
            <p:nvPr/>
          </p:nvSpPr>
          <p:spPr>
            <a:xfrm>
              <a:off x="7483989" y="3761547"/>
              <a:ext cx="2521821" cy="885371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Necesaria para desempeñar sus funciones de manera competente y segura, con énfasis en el sistema de inventarios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44" name="矩形 43"/>
            <p:cNvSpPr/>
            <p:nvPr/>
          </p:nvSpPr>
          <p:spPr>
            <a:xfrm>
              <a:off x="7955258" y="3375179"/>
              <a:ext cx="2050552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Capacitación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45" name="组合 44"/>
          <p:cNvGrpSpPr/>
          <p:nvPr/>
        </p:nvGrpSpPr>
        <p:grpSpPr>
          <a:xfrm>
            <a:off x="229645" y="2773017"/>
            <a:ext cx="2947261" cy="1787664"/>
            <a:chOff x="7483490" y="3375179"/>
            <a:chExt cx="2947261" cy="724365"/>
          </a:xfrm>
        </p:grpSpPr>
        <p:sp>
          <p:nvSpPr>
            <p:cNvPr id="46" name="矩形 45"/>
            <p:cNvSpPr/>
            <p:nvPr/>
          </p:nvSpPr>
          <p:spPr>
            <a:xfrm>
              <a:off x="7483490" y="3687181"/>
              <a:ext cx="2710130" cy="358754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Determinar la formación académica mínima necesaria para desempeñar sus funciones de manera competente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47" name="矩形 46"/>
            <p:cNvSpPr/>
            <p:nvPr/>
          </p:nvSpPr>
          <p:spPr>
            <a:xfrm>
              <a:off x="7483988" y="3375179"/>
              <a:ext cx="2946763" cy="724365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Formación Académica del Personal TI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sp>
        <p:nvSpPr>
          <p:cNvPr id="113" name="矩形 112">
            <a:extLst>
              <a:ext uri="{FF2B5EF4-FFF2-40B4-BE49-F238E27FC236}">
                <a16:creationId xmlns:a16="http://schemas.microsoft.com/office/drawing/2014/main" id="{85EBBB56-0C86-4DCE-BC56-093C68FB6DB2}"/>
              </a:ext>
            </a:extLst>
          </p:cNvPr>
          <p:cNvSpPr/>
          <p:nvPr/>
        </p:nvSpPr>
        <p:spPr>
          <a:xfrm>
            <a:off x="1416756" y="203744"/>
            <a:ext cx="10589707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Evaluación del Capital Humano TI – Metodología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9" name="Hexagon 7">
            <a:extLst>
              <a:ext uri="{FF2B5EF4-FFF2-40B4-BE49-F238E27FC236}">
                <a16:creationId xmlns:a16="http://schemas.microsoft.com/office/drawing/2014/main" id="{CDD59757-E316-A996-BC4E-B99E90BA734A}"/>
              </a:ext>
            </a:extLst>
          </p:cNvPr>
          <p:cNvSpPr/>
          <p:nvPr/>
        </p:nvSpPr>
        <p:spPr>
          <a:xfrm rot="16200000">
            <a:off x="7419463" y="3404830"/>
            <a:ext cx="1274672" cy="1098856"/>
          </a:xfrm>
          <a:prstGeom prst="hexagon">
            <a:avLst/>
          </a:prstGeom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Hexagon 7">
            <a:extLst>
              <a:ext uri="{FF2B5EF4-FFF2-40B4-BE49-F238E27FC236}">
                <a16:creationId xmlns:a16="http://schemas.microsoft.com/office/drawing/2014/main" id="{4777D0F9-7592-0E52-F00F-727A78C93235}"/>
              </a:ext>
            </a:extLst>
          </p:cNvPr>
          <p:cNvSpPr/>
          <p:nvPr/>
        </p:nvSpPr>
        <p:spPr>
          <a:xfrm rot="16200000">
            <a:off x="8048982" y="2354310"/>
            <a:ext cx="1274672" cy="1098856"/>
          </a:xfrm>
          <a:prstGeom prst="hexagon">
            <a:avLst/>
          </a:prstGeom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" name="Group 9">
            <a:extLst>
              <a:ext uri="{FF2B5EF4-FFF2-40B4-BE49-F238E27FC236}">
                <a16:creationId xmlns:a16="http://schemas.microsoft.com/office/drawing/2014/main" id="{96E9C987-6F65-C4A9-087B-E4863345F1EA}"/>
              </a:ext>
            </a:extLst>
          </p:cNvPr>
          <p:cNvGrpSpPr/>
          <p:nvPr/>
        </p:nvGrpSpPr>
        <p:grpSpPr>
          <a:xfrm flipH="1" flipV="1">
            <a:off x="8686317" y="3927442"/>
            <a:ext cx="444429" cy="799112"/>
            <a:chOff x="7258929" y="1631852"/>
            <a:chExt cx="1674056" cy="464234"/>
          </a:xfrm>
        </p:grpSpPr>
        <p:cxnSp>
          <p:nvCxnSpPr>
            <p:cNvPr id="12" name="Straight Connector 10">
              <a:extLst>
                <a:ext uri="{FF2B5EF4-FFF2-40B4-BE49-F238E27FC236}">
                  <a16:creationId xmlns:a16="http://schemas.microsoft.com/office/drawing/2014/main" id="{894B2DE3-9B86-2111-25B6-EFF61E37EC1D}"/>
                </a:ext>
              </a:extLst>
            </p:cNvPr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1">
              <a:extLst>
                <a:ext uri="{FF2B5EF4-FFF2-40B4-BE49-F238E27FC236}">
                  <a16:creationId xmlns:a16="http://schemas.microsoft.com/office/drawing/2014/main" id="{9814DC9E-FBB4-4CF0-5DFB-1994CED57085}"/>
                </a:ext>
              </a:extLst>
            </p:cNvPr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组合 32">
            <a:extLst>
              <a:ext uri="{FF2B5EF4-FFF2-40B4-BE49-F238E27FC236}">
                <a16:creationId xmlns:a16="http://schemas.microsoft.com/office/drawing/2014/main" id="{BC198B56-849F-A155-640E-C104D680ECD4}"/>
              </a:ext>
            </a:extLst>
          </p:cNvPr>
          <p:cNvGrpSpPr/>
          <p:nvPr/>
        </p:nvGrpSpPr>
        <p:grpSpPr>
          <a:xfrm>
            <a:off x="8880095" y="4955594"/>
            <a:ext cx="2956315" cy="1256251"/>
            <a:chOff x="7483988" y="3064033"/>
            <a:chExt cx="2956315" cy="1256251"/>
          </a:xfrm>
        </p:grpSpPr>
        <p:sp>
          <p:nvSpPr>
            <p:cNvPr id="18" name="矩形 33">
              <a:extLst>
                <a:ext uri="{FF2B5EF4-FFF2-40B4-BE49-F238E27FC236}">
                  <a16:creationId xmlns:a16="http://schemas.microsoft.com/office/drawing/2014/main" id="{54D67C01-B16B-5937-8667-36BD10A4EFAE}"/>
                </a:ext>
              </a:extLst>
            </p:cNvPr>
            <p:cNvSpPr/>
            <p:nvPr/>
          </p:nvSpPr>
          <p:spPr>
            <a:xfrm>
              <a:off x="7483989" y="3434913"/>
              <a:ext cx="2521821" cy="885371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Medir la percepción de los usuarios internos de Droguería Inti S.A. respecto al desempeño del área de TI 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19" name="矩形 34">
              <a:extLst>
                <a:ext uri="{FF2B5EF4-FFF2-40B4-BE49-F238E27FC236}">
                  <a16:creationId xmlns:a16="http://schemas.microsoft.com/office/drawing/2014/main" id="{57E69989-668B-1CBA-77B3-5112B1D0CD3C}"/>
                </a:ext>
              </a:extLst>
            </p:cNvPr>
            <p:cNvSpPr/>
            <p:nvPr/>
          </p:nvSpPr>
          <p:spPr>
            <a:xfrm>
              <a:off x="7483988" y="3064033"/>
              <a:ext cx="2956315" cy="431164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Percepción</a:t>
              </a: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 del </a:t>
              </a: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Usuario</a:t>
              </a: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 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2" name="Group 9">
            <a:extLst>
              <a:ext uri="{FF2B5EF4-FFF2-40B4-BE49-F238E27FC236}">
                <a16:creationId xmlns:a16="http://schemas.microsoft.com/office/drawing/2014/main" id="{82194F20-8967-E452-6239-7F0EA72601BC}"/>
              </a:ext>
            </a:extLst>
          </p:cNvPr>
          <p:cNvGrpSpPr/>
          <p:nvPr/>
        </p:nvGrpSpPr>
        <p:grpSpPr>
          <a:xfrm flipH="1" flipV="1">
            <a:off x="9401251" y="2886357"/>
            <a:ext cx="444429" cy="395687"/>
            <a:chOff x="7258929" y="1631852"/>
            <a:chExt cx="1674056" cy="464234"/>
          </a:xfrm>
        </p:grpSpPr>
        <p:cxnSp>
          <p:nvCxnSpPr>
            <p:cNvPr id="48" name="Straight Connector 10">
              <a:extLst>
                <a:ext uri="{FF2B5EF4-FFF2-40B4-BE49-F238E27FC236}">
                  <a16:creationId xmlns:a16="http://schemas.microsoft.com/office/drawing/2014/main" id="{DE7DF869-BCF5-B6AA-64F2-5DDE45FD206A}"/>
                </a:ext>
              </a:extLst>
            </p:cNvPr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11">
              <a:extLst>
                <a:ext uri="{FF2B5EF4-FFF2-40B4-BE49-F238E27FC236}">
                  <a16:creationId xmlns:a16="http://schemas.microsoft.com/office/drawing/2014/main" id="{174C7585-3D60-C39C-5CC3-612F7F690AA9}"/>
                </a:ext>
              </a:extLst>
            </p:cNvPr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组合 32">
            <a:extLst>
              <a:ext uri="{FF2B5EF4-FFF2-40B4-BE49-F238E27FC236}">
                <a16:creationId xmlns:a16="http://schemas.microsoft.com/office/drawing/2014/main" id="{D01F67CF-8EA9-DBEC-EE49-AB47546028A9}"/>
              </a:ext>
            </a:extLst>
          </p:cNvPr>
          <p:cNvGrpSpPr/>
          <p:nvPr/>
        </p:nvGrpSpPr>
        <p:grpSpPr>
          <a:xfrm>
            <a:off x="9314591" y="3299018"/>
            <a:ext cx="3168499" cy="1437597"/>
            <a:chOff x="7482744" y="3375179"/>
            <a:chExt cx="3168499" cy="1437597"/>
          </a:xfrm>
        </p:grpSpPr>
        <p:sp>
          <p:nvSpPr>
            <p:cNvPr id="51" name="矩形 33">
              <a:extLst>
                <a:ext uri="{FF2B5EF4-FFF2-40B4-BE49-F238E27FC236}">
                  <a16:creationId xmlns:a16="http://schemas.microsoft.com/office/drawing/2014/main" id="{4E544972-B4EF-13B8-9B04-BC417DAEB9DA}"/>
                </a:ext>
              </a:extLst>
            </p:cNvPr>
            <p:cNvSpPr/>
            <p:nvPr/>
          </p:nvSpPr>
          <p:spPr>
            <a:xfrm>
              <a:off x="7482744" y="4111045"/>
              <a:ext cx="2521821" cy="701731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Mecanismos formales para capturar, documentar, preservar y transferir el conocimiento técnico 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52" name="矩形 34">
              <a:extLst>
                <a:ext uri="{FF2B5EF4-FFF2-40B4-BE49-F238E27FC236}">
                  <a16:creationId xmlns:a16="http://schemas.microsoft.com/office/drawing/2014/main" id="{BE05A1DA-4C53-44C3-FD92-42D2D435DAF6}"/>
                </a:ext>
              </a:extLst>
            </p:cNvPr>
            <p:cNvSpPr/>
            <p:nvPr/>
          </p:nvSpPr>
          <p:spPr>
            <a:xfrm>
              <a:off x="7483988" y="3375179"/>
              <a:ext cx="3167255" cy="724365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Gestión</a:t>
              </a: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 del </a:t>
              </a:r>
            </a:p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Conocimiento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sp>
        <p:nvSpPr>
          <p:cNvPr id="53" name="Parallelogram 15">
            <a:extLst>
              <a:ext uri="{FF2B5EF4-FFF2-40B4-BE49-F238E27FC236}">
                <a16:creationId xmlns:a16="http://schemas.microsoft.com/office/drawing/2014/main" id="{016F26C0-067C-90F4-31BB-3CC648982006}"/>
              </a:ext>
            </a:extLst>
          </p:cNvPr>
          <p:cNvSpPr/>
          <p:nvPr/>
        </p:nvSpPr>
        <p:spPr>
          <a:xfrm rot="16200000">
            <a:off x="3182973" y="3603371"/>
            <a:ext cx="598764" cy="648141"/>
          </a:xfrm>
          <a:custGeom>
            <a:avLst/>
            <a:gdLst/>
            <a:ahLst/>
            <a:cxnLst/>
            <a:rect l="l" t="t" r="r" b="b"/>
            <a:pathLst>
              <a:path w="2993176" h="3240001">
                <a:moveTo>
                  <a:pt x="1299907" y="647892"/>
                </a:moveTo>
                <a:lnTo>
                  <a:pt x="665509" y="1620000"/>
                </a:lnTo>
                <a:lnTo>
                  <a:pt x="1299907" y="2592108"/>
                </a:lnTo>
                <a:lnTo>
                  <a:pt x="634398" y="2592108"/>
                </a:lnTo>
                <a:lnTo>
                  <a:pt x="0" y="1620000"/>
                </a:lnTo>
                <a:lnTo>
                  <a:pt x="634398" y="647892"/>
                </a:lnTo>
                <a:close/>
                <a:moveTo>
                  <a:pt x="2993176" y="1620001"/>
                </a:moveTo>
                <a:lnTo>
                  <a:pt x="1913056" y="3240001"/>
                </a:lnTo>
                <a:lnTo>
                  <a:pt x="1782206" y="3043749"/>
                </a:lnTo>
                <a:lnTo>
                  <a:pt x="1110064" y="3043749"/>
                </a:lnTo>
                <a:cubicBezTo>
                  <a:pt x="1089036" y="3096599"/>
                  <a:pt x="1037333" y="3133759"/>
                  <a:pt x="976952" y="3133759"/>
                </a:cubicBezTo>
                <a:cubicBezTo>
                  <a:pt x="923853" y="3133759"/>
                  <a:pt x="877466" y="3105022"/>
                  <a:pt x="854540" y="3061058"/>
                </a:cubicBezTo>
                <a:lnTo>
                  <a:pt x="302383" y="3169763"/>
                </a:lnTo>
                <a:lnTo>
                  <a:pt x="302383" y="2809723"/>
                </a:lnTo>
                <a:lnTo>
                  <a:pt x="854540" y="2918427"/>
                </a:lnTo>
                <a:cubicBezTo>
                  <a:pt x="877466" y="2874463"/>
                  <a:pt x="923853" y="2845727"/>
                  <a:pt x="976952" y="2845727"/>
                </a:cubicBezTo>
                <a:cubicBezTo>
                  <a:pt x="1037333" y="2845727"/>
                  <a:pt x="1089036" y="2882887"/>
                  <a:pt x="1110064" y="2935737"/>
                </a:cubicBezTo>
                <a:lnTo>
                  <a:pt x="1710190" y="2935737"/>
                </a:lnTo>
                <a:lnTo>
                  <a:pt x="832936" y="1620001"/>
                </a:lnTo>
                <a:lnTo>
                  <a:pt x="191305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/>
          </a:p>
        </p:txBody>
      </p:sp>
      <p:sp>
        <p:nvSpPr>
          <p:cNvPr id="54" name="Round Same Side Corner Rectangle 36">
            <a:extLst>
              <a:ext uri="{FF2B5EF4-FFF2-40B4-BE49-F238E27FC236}">
                <a16:creationId xmlns:a16="http://schemas.microsoft.com/office/drawing/2014/main" id="{DB85EC6B-F2E7-F1FF-E1B6-D7D486B22162}"/>
              </a:ext>
            </a:extLst>
          </p:cNvPr>
          <p:cNvSpPr/>
          <p:nvPr/>
        </p:nvSpPr>
        <p:spPr>
          <a:xfrm>
            <a:off x="4343240" y="3712908"/>
            <a:ext cx="579306" cy="458009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55" name="Freeform 108">
            <a:extLst>
              <a:ext uri="{FF2B5EF4-FFF2-40B4-BE49-F238E27FC236}">
                <a16:creationId xmlns:a16="http://schemas.microsoft.com/office/drawing/2014/main" id="{331981F0-3590-991C-B22F-E0BB2C65322A}"/>
              </a:ext>
            </a:extLst>
          </p:cNvPr>
          <p:cNvSpPr/>
          <p:nvPr/>
        </p:nvSpPr>
        <p:spPr>
          <a:xfrm>
            <a:off x="6046166" y="2618113"/>
            <a:ext cx="501857" cy="554554"/>
          </a:xfrm>
          <a:custGeom>
            <a:avLst/>
            <a:gdLst/>
            <a:ahLst/>
            <a:cxnLst/>
            <a:rect l="l" t="t" r="r" b="b"/>
            <a:pathLst>
              <a:path w="341005" h="376812">
                <a:moveTo>
                  <a:pt x="179590" y="105941"/>
                </a:moveTo>
                <a:cubicBezTo>
                  <a:pt x="189466" y="103284"/>
                  <a:pt x="200229" y="106383"/>
                  <a:pt x="207502" y="113978"/>
                </a:cubicBezTo>
                <a:lnTo>
                  <a:pt x="205155" y="116193"/>
                </a:lnTo>
                <a:cubicBezTo>
                  <a:pt x="198727" y="109493"/>
                  <a:pt x="189244" y="106732"/>
                  <a:pt x="180543" y="109027"/>
                </a:cubicBezTo>
                <a:cubicBezTo>
                  <a:pt x="171284" y="111470"/>
                  <a:pt x="164597" y="119184"/>
                  <a:pt x="163491" y="128699"/>
                </a:cubicBezTo>
                <a:lnTo>
                  <a:pt x="160301" y="128192"/>
                </a:lnTo>
                <a:cubicBezTo>
                  <a:pt x="160626" y="125509"/>
                  <a:pt x="161343" y="122953"/>
                  <a:pt x="162397" y="120583"/>
                </a:cubicBezTo>
                <a:cubicBezTo>
                  <a:pt x="163188" y="118806"/>
                  <a:pt x="164168" y="117134"/>
                  <a:pt x="165317" y="115593"/>
                </a:cubicBezTo>
                <a:close/>
                <a:moveTo>
                  <a:pt x="184774" y="76800"/>
                </a:moveTo>
                <a:cubicBezTo>
                  <a:pt x="189722" y="75892"/>
                  <a:pt x="194950" y="76276"/>
                  <a:pt x="199898" y="78055"/>
                </a:cubicBezTo>
                <a:lnTo>
                  <a:pt x="198784" y="81085"/>
                </a:lnTo>
                <a:cubicBezTo>
                  <a:pt x="190044" y="77951"/>
                  <a:pt x="180324" y="79705"/>
                  <a:pt x="173557" y="85636"/>
                </a:cubicBezTo>
                <a:cubicBezTo>
                  <a:pt x="166357" y="91948"/>
                  <a:pt x="163808" y="101834"/>
                  <a:pt x="167057" y="110845"/>
                </a:cubicBezTo>
                <a:lnTo>
                  <a:pt x="163976" y="111813"/>
                </a:lnTo>
                <a:cubicBezTo>
                  <a:pt x="161264" y="104174"/>
                  <a:pt x="162206" y="95982"/>
                  <a:pt x="166259" y="89343"/>
                </a:cubicBezTo>
                <a:lnTo>
                  <a:pt x="171329" y="83298"/>
                </a:lnTo>
                <a:cubicBezTo>
                  <a:pt x="175158" y="79908"/>
                  <a:pt x="179826" y="77708"/>
                  <a:pt x="184774" y="76800"/>
                </a:cubicBezTo>
                <a:close/>
                <a:moveTo>
                  <a:pt x="179076" y="24908"/>
                </a:moveTo>
                <a:cubicBezTo>
                  <a:pt x="173882" y="25821"/>
                  <a:pt x="169065" y="28595"/>
                  <a:pt x="165693" y="33023"/>
                </a:cubicBezTo>
                <a:lnTo>
                  <a:pt x="165081" y="32645"/>
                </a:lnTo>
                <a:lnTo>
                  <a:pt x="164343" y="33841"/>
                </a:lnTo>
                <a:lnTo>
                  <a:pt x="159156" y="28989"/>
                </a:lnTo>
                <a:cubicBezTo>
                  <a:pt x="147650" y="21890"/>
                  <a:pt x="132568" y="25462"/>
                  <a:pt x="125468" y="36968"/>
                </a:cubicBezTo>
                <a:cubicBezTo>
                  <a:pt x="125028" y="37682"/>
                  <a:pt x="124628" y="38410"/>
                  <a:pt x="124607" y="39302"/>
                </a:cubicBezTo>
                <a:cubicBezTo>
                  <a:pt x="121192" y="53871"/>
                  <a:pt x="126621" y="67918"/>
                  <a:pt x="137512" y="72288"/>
                </a:cubicBezTo>
                <a:lnTo>
                  <a:pt x="136408" y="75373"/>
                </a:lnTo>
                <a:cubicBezTo>
                  <a:pt x="125065" y="70889"/>
                  <a:pt x="118824" y="57470"/>
                  <a:pt x="120792" y="42874"/>
                </a:cubicBezTo>
                <a:cubicBezTo>
                  <a:pt x="110219" y="38045"/>
                  <a:pt x="97555" y="41998"/>
                  <a:pt x="91229" y="52250"/>
                </a:cubicBezTo>
                <a:cubicBezTo>
                  <a:pt x="86215" y="60377"/>
                  <a:pt x="87164" y="68019"/>
                  <a:pt x="90995" y="75559"/>
                </a:cubicBezTo>
                <a:cubicBezTo>
                  <a:pt x="88405" y="77546"/>
                  <a:pt x="86197" y="80074"/>
                  <a:pt x="84391" y="83001"/>
                </a:cubicBezTo>
                <a:cubicBezTo>
                  <a:pt x="75261" y="97799"/>
                  <a:pt x="79855" y="117197"/>
                  <a:pt x="94653" y="126328"/>
                </a:cubicBezTo>
                <a:cubicBezTo>
                  <a:pt x="99603" y="129383"/>
                  <a:pt x="105068" y="130901"/>
                  <a:pt x="110449" y="130283"/>
                </a:cubicBezTo>
                <a:cubicBezTo>
                  <a:pt x="111461" y="121556"/>
                  <a:pt x="114239" y="112980"/>
                  <a:pt x="118788" y="105103"/>
                </a:cubicBezTo>
                <a:lnTo>
                  <a:pt x="122060" y="106993"/>
                </a:lnTo>
                <a:cubicBezTo>
                  <a:pt x="117549" y="114804"/>
                  <a:pt x="114885" y="123345"/>
                  <a:pt x="114602" y="132066"/>
                </a:cubicBezTo>
                <a:cubicBezTo>
                  <a:pt x="118189" y="142541"/>
                  <a:pt x="127538" y="149533"/>
                  <a:pt x="138054" y="150704"/>
                </a:cubicBezTo>
                <a:lnTo>
                  <a:pt x="138622" y="157584"/>
                </a:lnTo>
                <a:cubicBezTo>
                  <a:pt x="141809" y="168599"/>
                  <a:pt x="152592" y="175355"/>
                  <a:pt x="163536" y="173320"/>
                </a:cubicBezTo>
                <a:lnTo>
                  <a:pt x="163736" y="174011"/>
                </a:lnTo>
                <a:lnTo>
                  <a:pt x="165086" y="173621"/>
                </a:lnTo>
                <a:lnTo>
                  <a:pt x="165671" y="180699"/>
                </a:lnTo>
                <a:cubicBezTo>
                  <a:pt x="169429" y="193686"/>
                  <a:pt x="183003" y="201168"/>
                  <a:pt x="195990" y="197411"/>
                </a:cubicBezTo>
                <a:cubicBezTo>
                  <a:pt x="196796" y="197178"/>
                  <a:pt x="197581" y="196907"/>
                  <a:pt x="198196" y="196260"/>
                </a:cubicBezTo>
                <a:cubicBezTo>
                  <a:pt x="209934" y="188156"/>
                  <a:pt x="215400" y="175007"/>
                  <a:pt x="211155" y="164763"/>
                </a:cubicBezTo>
                <a:cubicBezTo>
                  <a:pt x="205121" y="170199"/>
                  <a:pt x="196738" y="172687"/>
                  <a:pt x="188343" y="171472"/>
                </a:cubicBezTo>
                <a:lnTo>
                  <a:pt x="188829" y="168281"/>
                </a:lnTo>
                <a:cubicBezTo>
                  <a:pt x="198020" y="169602"/>
                  <a:pt x="207192" y="165939"/>
                  <a:pt x="212635" y="158774"/>
                </a:cubicBezTo>
                <a:cubicBezTo>
                  <a:pt x="218427" y="151149"/>
                  <a:pt x="218946" y="140953"/>
                  <a:pt x="213960" y="132774"/>
                </a:cubicBezTo>
                <a:lnTo>
                  <a:pt x="216785" y="131210"/>
                </a:lnTo>
                <a:cubicBezTo>
                  <a:pt x="222366" y="140465"/>
                  <a:pt x="221779" y="151983"/>
                  <a:pt x="215286" y="160619"/>
                </a:cubicBezTo>
                <a:lnTo>
                  <a:pt x="213805" y="162105"/>
                </a:lnTo>
                <a:cubicBezTo>
                  <a:pt x="218946" y="172938"/>
                  <a:pt x="214526" y="186813"/>
                  <a:pt x="203421" y="196175"/>
                </a:cubicBezTo>
                <a:cubicBezTo>
                  <a:pt x="208012" y="206854"/>
                  <a:pt x="220050" y="212429"/>
                  <a:pt x="231622" y="209082"/>
                </a:cubicBezTo>
                <a:cubicBezTo>
                  <a:pt x="239377" y="206838"/>
                  <a:pt x="243741" y="201989"/>
                  <a:pt x="246092" y="195539"/>
                </a:cubicBezTo>
                <a:cubicBezTo>
                  <a:pt x="255042" y="199507"/>
                  <a:pt x="265290" y="198199"/>
                  <a:pt x="272958" y="192601"/>
                </a:cubicBezTo>
                <a:lnTo>
                  <a:pt x="276795" y="193971"/>
                </a:lnTo>
                <a:cubicBezTo>
                  <a:pt x="289009" y="194016"/>
                  <a:pt x="298363" y="193248"/>
                  <a:pt x="304258" y="183694"/>
                </a:cubicBezTo>
                <a:cubicBezTo>
                  <a:pt x="309343" y="175453"/>
                  <a:pt x="308953" y="165378"/>
                  <a:pt x="303795" y="157923"/>
                </a:cubicBezTo>
                <a:cubicBezTo>
                  <a:pt x="298315" y="164420"/>
                  <a:pt x="291041" y="168177"/>
                  <a:pt x="283702" y="168174"/>
                </a:cubicBezTo>
                <a:lnTo>
                  <a:pt x="283555" y="164527"/>
                </a:lnTo>
                <a:cubicBezTo>
                  <a:pt x="293404" y="164978"/>
                  <a:pt x="303289" y="157339"/>
                  <a:pt x="308110" y="145450"/>
                </a:cubicBezTo>
                <a:cubicBezTo>
                  <a:pt x="311022" y="136198"/>
                  <a:pt x="308752" y="126109"/>
                  <a:pt x="302169" y="119023"/>
                </a:cubicBezTo>
                <a:cubicBezTo>
                  <a:pt x="296249" y="127191"/>
                  <a:pt x="286098" y="131525"/>
                  <a:pt x="275782" y="130309"/>
                </a:cubicBezTo>
                <a:lnTo>
                  <a:pt x="276183" y="127106"/>
                </a:lnTo>
                <a:cubicBezTo>
                  <a:pt x="285405" y="128184"/>
                  <a:pt x="294478" y="124281"/>
                  <a:pt x="299730" y="116974"/>
                </a:cubicBezTo>
                <a:lnTo>
                  <a:pt x="300207" y="116045"/>
                </a:lnTo>
                <a:cubicBezTo>
                  <a:pt x="300079" y="107222"/>
                  <a:pt x="295342" y="98867"/>
                  <a:pt x="287259" y="93880"/>
                </a:cubicBezTo>
                <a:cubicBezTo>
                  <a:pt x="284295" y="92051"/>
                  <a:pt x="281129" y="90828"/>
                  <a:pt x="277855" y="90561"/>
                </a:cubicBezTo>
                <a:cubicBezTo>
                  <a:pt x="271916" y="104194"/>
                  <a:pt x="259881" y="112708"/>
                  <a:pt x="248172" y="111695"/>
                </a:cubicBezTo>
                <a:cubicBezTo>
                  <a:pt x="248002" y="114741"/>
                  <a:pt x="246936" y="117719"/>
                  <a:pt x="245089" y="120348"/>
                </a:cubicBezTo>
                <a:cubicBezTo>
                  <a:pt x="241307" y="125729"/>
                  <a:pt x="234825" y="128827"/>
                  <a:pt x="228007" y="128511"/>
                </a:cubicBezTo>
                <a:lnTo>
                  <a:pt x="228158" y="125380"/>
                </a:lnTo>
                <a:cubicBezTo>
                  <a:pt x="233848" y="125642"/>
                  <a:pt x="239262" y="123097"/>
                  <a:pt x="242439" y="118667"/>
                </a:cubicBezTo>
                <a:cubicBezTo>
                  <a:pt x="244071" y="116391"/>
                  <a:pt x="244987" y="113796"/>
                  <a:pt x="245116" y="111152"/>
                </a:cubicBezTo>
                <a:lnTo>
                  <a:pt x="243716" y="110904"/>
                </a:lnTo>
                <a:lnTo>
                  <a:pt x="244539" y="108155"/>
                </a:lnTo>
                <a:cubicBezTo>
                  <a:pt x="244792" y="106166"/>
                  <a:pt x="244131" y="104285"/>
                  <a:pt x="243078" y="102544"/>
                </a:cubicBezTo>
                <a:cubicBezTo>
                  <a:pt x="240257" y="97875"/>
                  <a:pt x="235048" y="94922"/>
                  <a:pt x="229344" y="94755"/>
                </a:cubicBezTo>
                <a:lnTo>
                  <a:pt x="229436" y="91621"/>
                </a:lnTo>
                <a:cubicBezTo>
                  <a:pt x="236268" y="91821"/>
                  <a:pt x="242499" y="95409"/>
                  <a:pt x="245850" y="101072"/>
                </a:cubicBezTo>
                <a:cubicBezTo>
                  <a:pt x="247129" y="103235"/>
                  <a:pt x="247915" y="105575"/>
                  <a:pt x="248037" y="107973"/>
                </a:cubicBezTo>
                <a:cubicBezTo>
                  <a:pt x="258268" y="109553"/>
                  <a:pt x="268981" y="102051"/>
                  <a:pt x="274232" y="89778"/>
                </a:cubicBezTo>
                <a:cubicBezTo>
                  <a:pt x="278708" y="77339"/>
                  <a:pt x="274020" y="63056"/>
                  <a:pt x="262316" y="55834"/>
                </a:cubicBezTo>
                <a:cubicBezTo>
                  <a:pt x="257734" y="53007"/>
                  <a:pt x="252666" y="51626"/>
                  <a:pt x="247691" y="52231"/>
                </a:cubicBezTo>
                <a:cubicBezTo>
                  <a:pt x="248705" y="60913"/>
                  <a:pt x="245967" y="69020"/>
                  <a:pt x="239739" y="74185"/>
                </a:cubicBezTo>
                <a:lnTo>
                  <a:pt x="237649" y="71664"/>
                </a:lnTo>
                <a:cubicBezTo>
                  <a:pt x="244579" y="65918"/>
                  <a:pt x="246481" y="55888"/>
                  <a:pt x="243151" y="45920"/>
                </a:cubicBezTo>
                <a:cubicBezTo>
                  <a:pt x="241194" y="40124"/>
                  <a:pt x="237183" y="35004"/>
                  <a:pt x="231542" y="31523"/>
                </a:cubicBezTo>
                <a:cubicBezTo>
                  <a:pt x="221392" y="25261"/>
                  <a:pt x="208864" y="26095"/>
                  <a:pt x="199763" y="32668"/>
                </a:cubicBezTo>
                <a:lnTo>
                  <a:pt x="194721" y="27952"/>
                </a:lnTo>
                <a:cubicBezTo>
                  <a:pt x="189842" y="24941"/>
                  <a:pt x="184271" y="23995"/>
                  <a:pt x="179076" y="24908"/>
                </a:cubicBezTo>
                <a:close/>
                <a:moveTo>
                  <a:pt x="190632" y="62"/>
                </a:moveTo>
                <a:cubicBezTo>
                  <a:pt x="300121" y="2329"/>
                  <a:pt x="391248" y="125645"/>
                  <a:pt x="309641" y="225160"/>
                </a:cubicBezTo>
                <a:cubicBezTo>
                  <a:pt x="282892" y="251229"/>
                  <a:pt x="279266" y="288859"/>
                  <a:pt x="302841" y="374772"/>
                </a:cubicBezTo>
                <a:lnTo>
                  <a:pt x="121266" y="376812"/>
                </a:lnTo>
                <a:lnTo>
                  <a:pt x="109025" y="322355"/>
                </a:lnTo>
                <a:cubicBezTo>
                  <a:pt x="76580" y="333165"/>
                  <a:pt x="40716" y="329924"/>
                  <a:pt x="28778" y="318327"/>
                </a:cubicBezTo>
                <a:cubicBezTo>
                  <a:pt x="22923" y="311868"/>
                  <a:pt x="25422" y="291738"/>
                  <a:pt x="32859" y="276164"/>
                </a:cubicBezTo>
                <a:cubicBezTo>
                  <a:pt x="35235" y="270344"/>
                  <a:pt x="23179" y="268321"/>
                  <a:pt x="20618" y="259843"/>
                </a:cubicBezTo>
                <a:cubicBezTo>
                  <a:pt x="19440" y="251965"/>
                  <a:pt x="27377" y="251682"/>
                  <a:pt x="30757" y="247602"/>
                </a:cubicBezTo>
                <a:lnTo>
                  <a:pt x="18516" y="238938"/>
                </a:lnTo>
                <a:cubicBezTo>
                  <a:pt x="12669" y="232923"/>
                  <a:pt x="25811" y="221592"/>
                  <a:pt x="29458" y="212919"/>
                </a:cubicBezTo>
                <a:cubicBezTo>
                  <a:pt x="16679" y="208924"/>
                  <a:pt x="7006" y="203466"/>
                  <a:pt x="307" y="196983"/>
                </a:cubicBezTo>
                <a:cubicBezTo>
                  <a:pt x="-2572" y="186228"/>
                  <a:pt x="15339" y="171234"/>
                  <a:pt x="31089" y="151672"/>
                </a:cubicBezTo>
                <a:cubicBezTo>
                  <a:pt x="47602" y="132201"/>
                  <a:pt x="33821" y="117353"/>
                  <a:pt x="46470" y="75544"/>
                </a:cubicBezTo>
                <a:cubicBezTo>
                  <a:pt x="66559" y="23813"/>
                  <a:pt x="114124" y="-1423"/>
                  <a:pt x="190632" y="6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56" name="Oval 44">
            <a:extLst>
              <a:ext uri="{FF2B5EF4-FFF2-40B4-BE49-F238E27FC236}">
                <a16:creationId xmlns:a16="http://schemas.microsoft.com/office/drawing/2014/main" id="{E65749D1-A2D4-159E-840D-6CB5FAC4788B}"/>
              </a:ext>
            </a:extLst>
          </p:cNvPr>
          <p:cNvSpPr>
            <a:spLocks noChangeAspect="1"/>
          </p:cNvSpPr>
          <p:nvPr/>
        </p:nvSpPr>
        <p:spPr>
          <a:xfrm>
            <a:off x="4996504" y="2558531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519839" y="2469622"/>
                </a:moveTo>
                <a:lnTo>
                  <a:pt x="2201779" y="2787682"/>
                </a:lnTo>
                <a:lnTo>
                  <a:pt x="2003023" y="2588926"/>
                </a:lnTo>
                <a:lnTo>
                  <a:pt x="1901669" y="2690281"/>
                </a:lnTo>
                <a:lnTo>
                  <a:pt x="2203868" y="2992480"/>
                </a:lnTo>
                <a:lnTo>
                  <a:pt x="2305222" y="2891125"/>
                </a:lnTo>
                <a:lnTo>
                  <a:pt x="2303133" y="2889037"/>
                </a:lnTo>
                <a:lnTo>
                  <a:pt x="2621194" y="2570977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 dirty="0"/>
          </a:p>
        </p:txBody>
      </p:sp>
      <p:sp>
        <p:nvSpPr>
          <p:cNvPr id="57" name="Oval 25">
            <a:extLst>
              <a:ext uri="{FF2B5EF4-FFF2-40B4-BE49-F238E27FC236}">
                <a16:creationId xmlns:a16="http://schemas.microsoft.com/office/drawing/2014/main" id="{88E9505B-5438-D6C1-5A88-9D7E2CD0B362}"/>
              </a:ext>
            </a:extLst>
          </p:cNvPr>
          <p:cNvSpPr>
            <a:spLocks noChangeAspect="1"/>
          </p:cNvSpPr>
          <p:nvPr/>
        </p:nvSpPr>
        <p:spPr>
          <a:xfrm>
            <a:off x="6620494" y="3677006"/>
            <a:ext cx="529090" cy="529812"/>
          </a:xfrm>
          <a:custGeom>
            <a:avLst/>
            <a:gdLst/>
            <a:ahLst/>
            <a:cxnLst/>
            <a:rect l="l" t="t" r="r" b="b"/>
            <a:pathLst>
              <a:path w="3225370" h="3229762">
                <a:moveTo>
                  <a:pt x="1355872" y="0"/>
                </a:moveTo>
                <a:cubicBezTo>
                  <a:pt x="1564636" y="0"/>
                  <a:pt x="1733872" y="169236"/>
                  <a:pt x="1733872" y="378000"/>
                </a:cubicBezTo>
                <a:cubicBezTo>
                  <a:pt x="1733872" y="530834"/>
                  <a:pt x="1643169" y="662483"/>
                  <a:pt x="1512292" y="721255"/>
                </a:cubicBezTo>
                <a:lnTo>
                  <a:pt x="1607042" y="1169019"/>
                </a:lnTo>
                <a:cubicBezTo>
                  <a:pt x="1611319" y="1167786"/>
                  <a:pt x="1615651" y="1167712"/>
                  <a:pt x="1620000" y="1167712"/>
                </a:cubicBezTo>
                <a:cubicBezTo>
                  <a:pt x="1828764" y="1167712"/>
                  <a:pt x="1998000" y="1336948"/>
                  <a:pt x="1998000" y="1545712"/>
                </a:cubicBezTo>
                <a:lnTo>
                  <a:pt x="1996362" y="1567711"/>
                </a:lnTo>
                <a:lnTo>
                  <a:pt x="2525816" y="1711728"/>
                </a:lnTo>
                <a:cubicBezTo>
                  <a:pt x="2591164" y="1602543"/>
                  <a:pt x="2710810" y="1530128"/>
                  <a:pt x="2847370" y="1530128"/>
                </a:cubicBezTo>
                <a:cubicBezTo>
                  <a:pt x="3056134" y="1530128"/>
                  <a:pt x="3225370" y="1699364"/>
                  <a:pt x="3225370" y="1908128"/>
                </a:cubicBezTo>
                <a:cubicBezTo>
                  <a:pt x="3225370" y="2116892"/>
                  <a:pt x="3056134" y="2286128"/>
                  <a:pt x="2847370" y="2286128"/>
                </a:cubicBezTo>
                <a:cubicBezTo>
                  <a:pt x="2638606" y="2286128"/>
                  <a:pt x="2469370" y="2116892"/>
                  <a:pt x="2469370" y="1908128"/>
                </a:cubicBezTo>
                <a:lnTo>
                  <a:pt x="2475505" y="1847275"/>
                </a:lnTo>
                <a:lnTo>
                  <a:pt x="1957861" y="1706471"/>
                </a:lnTo>
                <a:cubicBezTo>
                  <a:pt x="1922674" y="1789256"/>
                  <a:pt x="1855841" y="1854310"/>
                  <a:pt x="1773397" y="1890608"/>
                </a:cubicBezTo>
                <a:lnTo>
                  <a:pt x="1908290" y="2478637"/>
                </a:lnTo>
                <a:cubicBezTo>
                  <a:pt x="2094333" y="2500701"/>
                  <a:pt x="2237929" y="2659462"/>
                  <a:pt x="2237929" y="2851762"/>
                </a:cubicBezTo>
                <a:cubicBezTo>
                  <a:pt x="2237929" y="3060526"/>
                  <a:pt x="2068693" y="3229762"/>
                  <a:pt x="1859929" y="3229762"/>
                </a:cubicBezTo>
                <a:cubicBezTo>
                  <a:pt x="1651165" y="3229762"/>
                  <a:pt x="1481929" y="3060526"/>
                  <a:pt x="1481929" y="2851762"/>
                </a:cubicBezTo>
                <a:cubicBezTo>
                  <a:pt x="1481929" y="2676759"/>
                  <a:pt x="1600854" y="2529533"/>
                  <a:pt x="1762693" y="2487978"/>
                </a:cubicBezTo>
                <a:lnTo>
                  <a:pt x="1632951" y="1922407"/>
                </a:lnTo>
                <a:cubicBezTo>
                  <a:pt x="1628677" y="1923639"/>
                  <a:pt x="1624347" y="1923712"/>
                  <a:pt x="1620000" y="1923712"/>
                </a:cubicBezTo>
                <a:cubicBezTo>
                  <a:pt x="1474614" y="1923712"/>
                  <a:pt x="1348399" y="1841634"/>
                  <a:pt x="1286703" y="1720478"/>
                </a:cubicBezTo>
                <a:lnTo>
                  <a:pt x="726463" y="1950491"/>
                </a:lnTo>
                <a:cubicBezTo>
                  <a:pt x="745503" y="1995553"/>
                  <a:pt x="756000" y="2045092"/>
                  <a:pt x="756000" y="2097083"/>
                </a:cubicBezTo>
                <a:cubicBezTo>
                  <a:pt x="756000" y="2305847"/>
                  <a:pt x="586764" y="2475083"/>
                  <a:pt x="378000" y="2475083"/>
                </a:cubicBezTo>
                <a:cubicBezTo>
                  <a:pt x="169236" y="2475083"/>
                  <a:pt x="0" y="2305847"/>
                  <a:pt x="0" y="2097083"/>
                </a:cubicBezTo>
                <a:cubicBezTo>
                  <a:pt x="0" y="1888319"/>
                  <a:pt x="169236" y="1719083"/>
                  <a:pt x="378000" y="1719083"/>
                </a:cubicBezTo>
                <a:cubicBezTo>
                  <a:pt x="481765" y="1719083"/>
                  <a:pt x="575764" y="1760894"/>
                  <a:pt x="643957" y="1828700"/>
                </a:cubicBezTo>
                <a:lnTo>
                  <a:pt x="1245626" y="1581679"/>
                </a:lnTo>
                <a:cubicBezTo>
                  <a:pt x="1242578" y="1569964"/>
                  <a:pt x="1242000" y="1557905"/>
                  <a:pt x="1242000" y="1545712"/>
                </a:cubicBezTo>
                <a:cubicBezTo>
                  <a:pt x="1242000" y="1391666"/>
                  <a:pt x="1334148" y="1259142"/>
                  <a:pt x="1466584" y="1200827"/>
                </a:cubicBezTo>
                <a:lnTo>
                  <a:pt x="1372109" y="754363"/>
                </a:lnTo>
                <a:cubicBezTo>
                  <a:pt x="1366762" y="755885"/>
                  <a:pt x="1361331" y="756000"/>
                  <a:pt x="1355872" y="756000"/>
                </a:cubicBezTo>
                <a:cubicBezTo>
                  <a:pt x="1147108" y="756000"/>
                  <a:pt x="977872" y="586764"/>
                  <a:pt x="977872" y="378000"/>
                </a:cubicBezTo>
                <a:cubicBezTo>
                  <a:pt x="977872" y="169236"/>
                  <a:pt x="1147108" y="0"/>
                  <a:pt x="135587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58" name="Smiley Face 14">
            <a:extLst>
              <a:ext uri="{FF2B5EF4-FFF2-40B4-BE49-F238E27FC236}">
                <a16:creationId xmlns:a16="http://schemas.microsoft.com/office/drawing/2014/main" id="{FFB3F448-7D19-6945-64E6-7D77F7545468}"/>
              </a:ext>
            </a:extLst>
          </p:cNvPr>
          <p:cNvSpPr/>
          <p:nvPr/>
        </p:nvSpPr>
        <p:spPr>
          <a:xfrm>
            <a:off x="7682607" y="3628059"/>
            <a:ext cx="417759" cy="417759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26698" y="2215122"/>
                </a:moveTo>
                <a:cubicBezTo>
                  <a:pt x="1959656" y="2378616"/>
                  <a:pt x="1801229" y="2486070"/>
                  <a:pt x="1624533" y="2487892"/>
                </a:cubicBezTo>
                <a:cubicBezTo>
                  <a:pt x="1447837" y="2489714"/>
                  <a:pt x="1287227" y="2385551"/>
                  <a:pt x="1216828" y="2223474"/>
                </a:cubicBezTo>
                <a:lnTo>
                  <a:pt x="1039110" y="2300667"/>
                </a:lnTo>
                <a:cubicBezTo>
                  <a:pt x="1140541" y="2534187"/>
                  <a:pt x="1371947" y="2684266"/>
                  <a:pt x="1626531" y="2681641"/>
                </a:cubicBezTo>
                <a:cubicBezTo>
                  <a:pt x="1881115" y="2679016"/>
                  <a:pt x="2109376" y="2524196"/>
                  <a:pt x="2205970" y="2288634"/>
                </a:cubicBezTo>
                <a:close/>
                <a:moveTo>
                  <a:pt x="937973" y="986566"/>
                </a:moveTo>
                <a:cubicBezTo>
                  <a:pt x="850807" y="983371"/>
                  <a:pt x="762813" y="1002775"/>
                  <a:pt x="683096" y="1045110"/>
                </a:cubicBezTo>
                <a:cubicBezTo>
                  <a:pt x="523662" y="1129780"/>
                  <a:pt x="421680" y="1293248"/>
                  <a:pt x="415731" y="1473672"/>
                </a:cubicBezTo>
                <a:lnTo>
                  <a:pt x="615852" y="1480270"/>
                </a:lnTo>
                <a:cubicBezTo>
                  <a:pt x="619438" y="1371518"/>
                  <a:pt x="680908" y="1272986"/>
                  <a:pt x="777009" y="1221950"/>
                </a:cubicBezTo>
                <a:cubicBezTo>
                  <a:pt x="873110" y="1170914"/>
                  <a:pt x="989166" y="1175167"/>
                  <a:pt x="1081273" y="1233100"/>
                </a:cubicBezTo>
                <a:cubicBezTo>
                  <a:pt x="1173381" y="1291033"/>
                  <a:pt x="1227475" y="1393800"/>
                  <a:pt x="1223091" y="1502523"/>
                </a:cubicBezTo>
                <a:lnTo>
                  <a:pt x="1423160" y="1510590"/>
                </a:lnTo>
                <a:cubicBezTo>
                  <a:pt x="1430433" y="1330214"/>
                  <a:pt x="1340689" y="1159721"/>
                  <a:pt x="1187880" y="1063608"/>
                </a:cubicBezTo>
                <a:cubicBezTo>
                  <a:pt x="1111476" y="1015552"/>
                  <a:pt x="1025138" y="989760"/>
                  <a:pt x="937973" y="986566"/>
                </a:cubicBezTo>
                <a:close/>
                <a:moveTo>
                  <a:pt x="2306124" y="986566"/>
                </a:moveTo>
                <a:cubicBezTo>
                  <a:pt x="2218958" y="983371"/>
                  <a:pt x="2130964" y="1002775"/>
                  <a:pt x="2051247" y="1045110"/>
                </a:cubicBezTo>
                <a:cubicBezTo>
                  <a:pt x="1891813" y="1129780"/>
                  <a:pt x="1789831" y="1293248"/>
                  <a:pt x="1783882" y="1473672"/>
                </a:cubicBezTo>
                <a:lnTo>
                  <a:pt x="1984003" y="1480270"/>
                </a:lnTo>
                <a:cubicBezTo>
                  <a:pt x="1987589" y="1371518"/>
                  <a:pt x="2049059" y="1272986"/>
                  <a:pt x="2145160" y="1221950"/>
                </a:cubicBezTo>
                <a:cubicBezTo>
                  <a:pt x="2241261" y="1170914"/>
                  <a:pt x="2357317" y="1175167"/>
                  <a:pt x="2449424" y="1233100"/>
                </a:cubicBezTo>
                <a:cubicBezTo>
                  <a:pt x="2541532" y="1291033"/>
                  <a:pt x="2595626" y="1393800"/>
                  <a:pt x="2591242" y="1502523"/>
                </a:cubicBezTo>
                <a:lnTo>
                  <a:pt x="2791311" y="1510590"/>
                </a:lnTo>
                <a:cubicBezTo>
                  <a:pt x="2798584" y="1330214"/>
                  <a:pt x="2708840" y="1159721"/>
                  <a:pt x="2556031" y="1063608"/>
                </a:cubicBezTo>
                <a:cubicBezTo>
                  <a:pt x="2479627" y="1015552"/>
                  <a:pt x="2393289" y="989760"/>
                  <a:pt x="2306124" y="98656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/>
          </a:p>
        </p:txBody>
      </p:sp>
      <p:sp>
        <p:nvSpPr>
          <p:cNvPr id="59" name="Smiley Face 12">
            <a:extLst>
              <a:ext uri="{FF2B5EF4-FFF2-40B4-BE49-F238E27FC236}">
                <a16:creationId xmlns:a16="http://schemas.microsoft.com/office/drawing/2014/main" id="{8296274A-C567-F9E3-814D-6FBD72A314F9}"/>
              </a:ext>
            </a:extLst>
          </p:cNvPr>
          <p:cNvSpPr/>
          <p:nvPr/>
        </p:nvSpPr>
        <p:spPr>
          <a:xfrm>
            <a:off x="8085344" y="3937194"/>
            <a:ext cx="318316" cy="318316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613470" y="2077417"/>
                </a:moveTo>
                <a:cubicBezTo>
                  <a:pt x="1358886" y="2080042"/>
                  <a:pt x="1130625" y="2234862"/>
                  <a:pt x="1034031" y="2470424"/>
                </a:cubicBezTo>
                <a:lnTo>
                  <a:pt x="1213303" y="2543936"/>
                </a:lnTo>
                <a:cubicBezTo>
                  <a:pt x="1280345" y="2380442"/>
                  <a:pt x="1438772" y="2272988"/>
                  <a:pt x="1615468" y="2271166"/>
                </a:cubicBezTo>
                <a:cubicBezTo>
                  <a:pt x="1792164" y="2269344"/>
                  <a:pt x="1952774" y="2373507"/>
                  <a:pt x="2023173" y="2535584"/>
                </a:cubicBezTo>
                <a:lnTo>
                  <a:pt x="2200891" y="2458391"/>
                </a:lnTo>
                <a:cubicBezTo>
                  <a:pt x="2099460" y="2224871"/>
                  <a:pt x="1868054" y="2074792"/>
                  <a:pt x="1613470" y="2077417"/>
                </a:cubicBez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9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8" y="276671"/>
                </a:lnTo>
                <a:lnTo>
                  <a:pt x="2650471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30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30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1" y="2870071"/>
                </a:lnTo>
                <a:lnTo>
                  <a:pt x="2525758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9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3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4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3" y="2802158"/>
                  <a:pt x="474487" y="2765513"/>
                </a:cubicBezTo>
                <a:cubicBezTo>
                  <a:pt x="437842" y="2728868"/>
                  <a:pt x="402944" y="2690475"/>
                  <a:pt x="369930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5" y="2438097"/>
                  <a:pt x="195526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5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5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6" y="847812"/>
                </a:cubicBezTo>
                <a:cubicBezTo>
                  <a:pt x="220465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30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3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4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/>
          </a:p>
        </p:txBody>
      </p:sp>
      <p:sp>
        <p:nvSpPr>
          <p:cNvPr id="60" name="Rectangle 9">
            <a:extLst>
              <a:ext uri="{FF2B5EF4-FFF2-40B4-BE49-F238E27FC236}">
                <a16:creationId xmlns:a16="http://schemas.microsoft.com/office/drawing/2014/main" id="{BBE3B0EA-BEE3-4496-21E6-1EA66E7E1FCB}"/>
              </a:ext>
            </a:extLst>
          </p:cNvPr>
          <p:cNvSpPr/>
          <p:nvPr/>
        </p:nvSpPr>
        <p:spPr>
          <a:xfrm>
            <a:off x="8422649" y="2618113"/>
            <a:ext cx="527335" cy="493633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</p:spTree>
    <p:extLst>
      <p:ext uri="{BB962C8B-B14F-4D97-AF65-F5344CB8AC3E}">
        <p14:creationId xmlns:p14="http://schemas.microsoft.com/office/powerpoint/2010/main" val="17769444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8F0C5-0D1F-5E09-68A9-43DB78929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矩形 63">
            <a:extLst>
              <a:ext uri="{FF2B5EF4-FFF2-40B4-BE49-F238E27FC236}">
                <a16:creationId xmlns:a16="http://schemas.microsoft.com/office/drawing/2014/main" id="{84175B47-22FC-2633-F497-23D93DE6AF73}"/>
              </a:ext>
            </a:extLst>
          </p:cNvPr>
          <p:cNvSpPr/>
          <p:nvPr/>
        </p:nvSpPr>
        <p:spPr>
          <a:xfrm>
            <a:off x="1447914" y="184169"/>
            <a:ext cx="8769512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Equipo Evaluado – Roles y Antigüedad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4" name="矩形 130">
            <a:extLst>
              <a:ext uri="{FF2B5EF4-FFF2-40B4-BE49-F238E27FC236}">
                <a16:creationId xmlns:a16="http://schemas.microsoft.com/office/drawing/2014/main" id="{0A8F2943-49C5-ECD2-63FA-5DCF87C03010}"/>
              </a:ext>
            </a:extLst>
          </p:cNvPr>
          <p:cNvSpPr/>
          <p:nvPr/>
        </p:nvSpPr>
        <p:spPr>
          <a:xfrm>
            <a:off x="1749287" y="1118400"/>
            <a:ext cx="8693426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s-MX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El equipo de TI de Droguería Inti S.A.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6EAFBD12-6BAF-DBD8-6A63-31BD44EE25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9677173"/>
              </p:ext>
            </p:extLst>
          </p:nvPr>
        </p:nvGraphicFramePr>
        <p:xfrm>
          <a:off x="5239026" y="1819619"/>
          <a:ext cx="577353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4510">
                  <a:extLst>
                    <a:ext uri="{9D8B030D-6E8A-4147-A177-3AD203B41FA5}">
                      <a16:colId xmlns:a16="http://schemas.microsoft.com/office/drawing/2014/main" val="107418814"/>
                    </a:ext>
                  </a:extLst>
                </a:gridCol>
                <a:gridCol w="1924510">
                  <a:extLst>
                    <a:ext uri="{9D8B030D-6E8A-4147-A177-3AD203B41FA5}">
                      <a16:colId xmlns:a16="http://schemas.microsoft.com/office/drawing/2014/main" val="780505467"/>
                    </a:ext>
                  </a:extLst>
                </a:gridCol>
                <a:gridCol w="1924510">
                  <a:extLst>
                    <a:ext uri="{9D8B030D-6E8A-4147-A177-3AD203B41FA5}">
                      <a16:colId xmlns:a16="http://schemas.microsoft.com/office/drawing/2014/main" val="2360537148"/>
                    </a:ext>
                  </a:extLst>
                </a:gridCol>
              </a:tblGrid>
              <a:tr h="617054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Cargo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Dedicación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Antigüedad promedio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619713"/>
                  </a:ext>
                </a:extLst>
              </a:tr>
              <a:tr h="617054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Jefe de Sistemas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Tiempo completo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3 años 2 meses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912589"/>
                  </a:ext>
                </a:extLst>
              </a:tr>
              <a:tr h="617054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Técnico de Soporte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Tiempo completo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3 años 4 meses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3712480"/>
                  </a:ext>
                </a:extLst>
              </a:tr>
              <a:tr h="617054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Administrador de BD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Medio tiempo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3 años 9 meses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777025"/>
                  </a:ext>
                </a:extLst>
              </a:tr>
            </a:tbl>
          </a:graphicData>
        </a:graphic>
      </p:graphicFrame>
      <p:grpSp>
        <p:nvGrpSpPr>
          <p:cNvPr id="9" name="组合 128">
            <a:extLst>
              <a:ext uri="{FF2B5EF4-FFF2-40B4-BE49-F238E27FC236}">
                <a16:creationId xmlns:a16="http://schemas.microsoft.com/office/drawing/2014/main" id="{C7602E53-E6D6-C202-2C55-705FC422303A}"/>
              </a:ext>
            </a:extLst>
          </p:cNvPr>
          <p:cNvGrpSpPr/>
          <p:nvPr/>
        </p:nvGrpSpPr>
        <p:grpSpPr>
          <a:xfrm>
            <a:off x="5239025" y="4689191"/>
            <a:ext cx="5726144" cy="707725"/>
            <a:chOff x="7483988" y="3375179"/>
            <a:chExt cx="5726144" cy="707725"/>
          </a:xfrm>
        </p:grpSpPr>
        <p:sp>
          <p:nvSpPr>
            <p:cNvPr id="10" name="矩形 129">
              <a:extLst>
                <a:ext uri="{FF2B5EF4-FFF2-40B4-BE49-F238E27FC236}">
                  <a16:creationId xmlns:a16="http://schemas.microsoft.com/office/drawing/2014/main" id="{11018B95-C041-0E7F-0526-596C07122F76}"/>
                </a:ext>
              </a:extLst>
            </p:cNvPr>
            <p:cNvSpPr/>
            <p:nvPr/>
          </p:nvSpPr>
          <p:spPr>
            <a:xfrm>
              <a:off x="7483989" y="3723447"/>
              <a:ext cx="5726143" cy="35945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0% (</a:t>
              </a:r>
              <a:r>
                <a:rPr lang="en-US" altLang="zh-CN" sz="1600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equipo</a:t>
              </a: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 </a:t>
              </a:r>
              <a:r>
                <a:rPr lang="en-US" altLang="zh-CN" sz="1600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estable</a:t>
              </a: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)</a:t>
              </a:r>
            </a:p>
          </p:txBody>
        </p:sp>
        <p:sp>
          <p:nvSpPr>
            <p:cNvPr id="11" name="矩形 130">
              <a:extLst>
                <a:ext uri="{FF2B5EF4-FFF2-40B4-BE49-F238E27FC236}">
                  <a16:creationId xmlns:a16="http://schemas.microsoft.com/office/drawing/2014/main" id="{A1F7AC50-5C14-E19A-1A7E-FB6B3623C213}"/>
                </a:ext>
              </a:extLst>
            </p:cNvPr>
            <p:cNvSpPr/>
            <p:nvPr/>
          </p:nvSpPr>
          <p:spPr>
            <a:xfrm>
              <a:off x="7483988" y="3375179"/>
              <a:ext cx="4421809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Tasa de rotación últimos 3 años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12" name="组合 128">
            <a:extLst>
              <a:ext uri="{FF2B5EF4-FFF2-40B4-BE49-F238E27FC236}">
                <a16:creationId xmlns:a16="http://schemas.microsoft.com/office/drawing/2014/main" id="{9275176C-4500-4C60-A5CD-640E6CCB647E}"/>
              </a:ext>
            </a:extLst>
          </p:cNvPr>
          <p:cNvGrpSpPr/>
          <p:nvPr/>
        </p:nvGrpSpPr>
        <p:grpSpPr>
          <a:xfrm>
            <a:off x="5239025" y="5429426"/>
            <a:ext cx="5726144" cy="707725"/>
            <a:chOff x="7483988" y="3375179"/>
            <a:chExt cx="5726144" cy="707725"/>
          </a:xfrm>
        </p:grpSpPr>
        <p:sp>
          <p:nvSpPr>
            <p:cNvPr id="13" name="矩形 129">
              <a:extLst>
                <a:ext uri="{FF2B5EF4-FFF2-40B4-BE49-F238E27FC236}">
                  <a16:creationId xmlns:a16="http://schemas.microsoft.com/office/drawing/2014/main" id="{224F52DA-BEF4-1868-E0C5-94F3C91918EB}"/>
                </a:ext>
              </a:extLst>
            </p:cNvPr>
            <p:cNvSpPr/>
            <p:nvPr/>
          </p:nvSpPr>
          <p:spPr>
            <a:xfrm>
              <a:off x="7483989" y="3723447"/>
              <a:ext cx="5726143" cy="35945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sz="1600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Estabilidad</a:t>
              </a: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 ≠ </a:t>
              </a:r>
              <a:r>
                <a:rPr lang="en-US" altLang="zh-CN" sz="1600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Idoneidad</a:t>
              </a:r>
              <a:endParaRPr lang="en-US" altLang="zh-CN" sz="1600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</p:txBody>
        </p:sp>
        <p:sp>
          <p:nvSpPr>
            <p:cNvPr id="14" name="矩形 130">
              <a:extLst>
                <a:ext uri="{FF2B5EF4-FFF2-40B4-BE49-F238E27FC236}">
                  <a16:creationId xmlns:a16="http://schemas.microsoft.com/office/drawing/2014/main" id="{799C348A-F88A-BE35-8520-E5FC8E7CF5E1}"/>
                </a:ext>
              </a:extLst>
            </p:cNvPr>
            <p:cNvSpPr/>
            <p:nvPr/>
          </p:nvSpPr>
          <p:spPr>
            <a:xfrm>
              <a:off x="7483988" y="3375179"/>
              <a:ext cx="4421809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Pero: 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pic>
        <p:nvPicPr>
          <p:cNvPr id="16" name="Imagen 15">
            <a:extLst>
              <a:ext uri="{FF2B5EF4-FFF2-40B4-BE49-F238E27FC236}">
                <a16:creationId xmlns:a16="http://schemas.microsoft.com/office/drawing/2014/main" id="{5C7F9588-C686-C168-8A55-4F1C9EA8B3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766" y="1819619"/>
            <a:ext cx="3715268" cy="3486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365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8A70-2483-F033-5447-D8749AAED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8">
            <a:extLst>
              <a:ext uri="{FF2B5EF4-FFF2-40B4-BE49-F238E27FC236}">
                <a16:creationId xmlns:a16="http://schemas.microsoft.com/office/drawing/2014/main" id="{BA15F988-5273-0819-4F71-1D33DFC27772}"/>
              </a:ext>
            </a:extLst>
          </p:cNvPr>
          <p:cNvSpPr/>
          <p:nvPr/>
        </p:nvSpPr>
        <p:spPr>
          <a:xfrm>
            <a:off x="1453371" y="181895"/>
            <a:ext cx="6448033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Hallazgos</a:t>
            </a:r>
            <a:r>
              <a:rPr lang="en-U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 </a:t>
            </a: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por</a:t>
            </a:r>
            <a:r>
              <a:rPr lang="en-U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 </a:t>
            </a: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Dimensión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6" name="矩形 130">
            <a:extLst>
              <a:ext uri="{FF2B5EF4-FFF2-40B4-BE49-F238E27FC236}">
                <a16:creationId xmlns:a16="http://schemas.microsoft.com/office/drawing/2014/main" id="{D3FAF4FB-ABD2-77E7-8B64-CA1CEB76F219}"/>
              </a:ext>
            </a:extLst>
          </p:cNvPr>
          <p:cNvSpPr/>
          <p:nvPr/>
        </p:nvSpPr>
        <p:spPr>
          <a:xfrm>
            <a:off x="1749287" y="1118400"/>
            <a:ext cx="8693426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s-MX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Principales brechas identificadas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37" name="Tabla 36">
            <a:extLst>
              <a:ext uri="{FF2B5EF4-FFF2-40B4-BE49-F238E27FC236}">
                <a16:creationId xmlns:a16="http://schemas.microsoft.com/office/drawing/2014/main" id="{E93679DD-5BBA-4C43-E5C7-D74BC8794B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213566"/>
              </p:ext>
            </p:extLst>
          </p:nvPr>
        </p:nvGraphicFramePr>
        <p:xfrm>
          <a:off x="1009650" y="1648169"/>
          <a:ext cx="10591800" cy="46435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0600">
                  <a:extLst>
                    <a:ext uri="{9D8B030D-6E8A-4147-A177-3AD203B41FA5}">
                      <a16:colId xmlns:a16="http://schemas.microsoft.com/office/drawing/2014/main" val="107418814"/>
                    </a:ext>
                  </a:extLst>
                </a:gridCol>
                <a:gridCol w="3530600">
                  <a:extLst>
                    <a:ext uri="{9D8B030D-6E8A-4147-A177-3AD203B41FA5}">
                      <a16:colId xmlns:a16="http://schemas.microsoft.com/office/drawing/2014/main" val="780505467"/>
                    </a:ext>
                  </a:extLst>
                </a:gridCol>
                <a:gridCol w="3530600">
                  <a:extLst>
                    <a:ext uri="{9D8B030D-6E8A-4147-A177-3AD203B41FA5}">
                      <a16:colId xmlns:a16="http://schemas.microsoft.com/office/drawing/2014/main" val="2360537148"/>
                    </a:ext>
                  </a:extLst>
                </a:gridCol>
              </a:tblGrid>
              <a:tr h="437278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Dimensión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Hallazgo principal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Riesgo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619713"/>
                  </a:ext>
                </a:extLst>
              </a:tr>
              <a:tr h="797316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Formación académica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 err="1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Admin</a:t>
                      </a:r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. BD sin documentación. Jefe Sistemas egresado sin título.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Alto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912589"/>
                  </a:ext>
                </a:extLst>
              </a:tr>
              <a:tr h="1036511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Experiencia laboral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Equipo sin experiencia en distribución farmacéutica mayorista. </a:t>
                      </a:r>
                      <a:r>
                        <a:rPr lang="es-MX" sz="1800" b="0" i="0" kern="1200" dirty="0" err="1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Admin</a:t>
                      </a:r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. BD sin referencias.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Alto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3712480"/>
                  </a:ext>
                </a:extLst>
              </a:tr>
              <a:tr h="797316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Capacitación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Solo 8 horas inicial (2021). Sin capacitación en seguridad ni DRP.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Alto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777025"/>
                  </a:ext>
                </a:extLst>
              </a:tr>
              <a:tr h="1036511">
                <a:tc>
                  <a:txBody>
                    <a:bodyPr/>
                    <a:lstStyle/>
                    <a:p>
                      <a:r>
                        <a:rPr lang="es-BO" dirty="0">
                          <a:latin typeface="Century Gothic" panose="020B0502020202020204" pitchFamily="34" charset="0"/>
                        </a:rPr>
                        <a:t>Perfil profesional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 err="1">
                          <a:latin typeface="Century Gothic" panose="020B0502020202020204" pitchFamily="34" charset="0"/>
                        </a:rPr>
                        <a:t>Admin</a:t>
                      </a:r>
                      <a:r>
                        <a:rPr lang="es-MX" dirty="0">
                          <a:latin typeface="Century Gothic" panose="020B0502020202020204" pitchFamily="34" charset="0"/>
                        </a:rPr>
                        <a:t>. BD perfil no verificable. Brechas en seguridad y planificación en Jefe Sistemas.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Alto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  <a:p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253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21175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E2ED9-840D-E070-D53F-236A250DF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7">
            <a:extLst>
              <a:ext uri="{FF2B5EF4-FFF2-40B4-BE49-F238E27FC236}">
                <a16:creationId xmlns:a16="http://schemas.microsoft.com/office/drawing/2014/main" id="{D41C82F8-5DC3-811D-48A4-C6BD007E665A}"/>
              </a:ext>
            </a:extLst>
          </p:cNvPr>
          <p:cNvSpPr>
            <a:spLocks/>
          </p:cNvSpPr>
          <p:nvPr/>
        </p:nvSpPr>
        <p:spPr bwMode="auto">
          <a:xfrm>
            <a:off x="2734877" y="2271503"/>
            <a:ext cx="2231402" cy="1433542"/>
          </a:xfrm>
          <a:custGeom>
            <a:avLst/>
            <a:gdLst>
              <a:gd name="T0" fmla="*/ 0 w 307"/>
              <a:gd name="T1" fmla="*/ 307 h 307"/>
              <a:gd name="T2" fmla="*/ 307 w 307"/>
              <a:gd name="T3" fmla="*/ 307 h 307"/>
              <a:gd name="T4" fmla="*/ 0 w 307"/>
              <a:gd name="T5" fmla="*/ 0 h 307"/>
              <a:gd name="T6" fmla="*/ 0 w 307"/>
              <a:gd name="T7" fmla="*/ 307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0" y="307"/>
                </a:moveTo>
                <a:cubicBezTo>
                  <a:pt x="307" y="307"/>
                  <a:pt x="307" y="307"/>
                  <a:pt x="307" y="307"/>
                </a:cubicBezTo>
                <a:cubicBezTo>
                  <a:pt x="301" y="140"/>
                  <a:pt x="167" y="6"/>
                  <a:pt x="0" y="0"/>
                </a:cubicBezTo>
                <a:lnTo>
                  <a:pt x="0" y="307"/>
                </a:lnTo>
                <a:close/>
              </a:path>
            </a:pathLst>
          </a:custGeom>
          <a:solidFill>
            <a:srgbClr val="FFFDEF"/>
          </a:solidFill>
          <a:ln w="9525" cmpd="sng">
            <a:solidFill>
              <a:schemeClr val="accent1"/>
            </a:solidFill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26" name="Freeform 8">
            <a:extLst>
              <a:ext uri="{FF2B5EF4-FFF2-40B4-BE49-F238E27FC236}">
                <a16:creationId xmlns:a16="http://schemas.microsoft.com/office/drawing/2014/main" id="{C8183D84-CBE5-57B7-1B1E-35AE3242FF94}"/>
              </a:ext>
            </a:extLst>
          </p:cNvPr>
          <p:cNvSpPr>
            <a:spLocks/>
          </p:cNvSpPr>
          <p:nvPr/>
        </p:nvSpPr>
        <p:spPr bwMode="auto">
          <a:xfrm>
            <a:off x="373526" y="2281356"/>
            <a:ext cx="2227571" cy="1433542"/>
          </a:xfrm>
          <a:custGeom>
            <a:avLst/>
            <a:gdLst>
              <a:gd name="T0" fmla="*/ 307 w 307"/>
              <a:gd name="T1" fmla="*/ 307 h 307"/>
              <a:gd name="T2" fmla="*/ 307 w 307"/>
              <a:gd name="T3" fmla="*/ 0 h 307"/>
              <a:gd name="T4" fmla="*/ 0 w 307"/>
              <a:gd name="T5" fmla="*/ 307 h 307"/>
              <a:gd name="T6" fmla="*/ 307 w 307"/>
              <a:gd name="T7" fmla="*/ 307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307" y="307"/>
                </a:moveTo>
                <a:cubicBezTo>
                  <a:pt x="307" y="0"/>
                  <a:pt x="307" y="0"/>
                  <a:pt x="307" y="0"/>
                </a:cubicBezTo>
                <a:cubicBezTo>
                  <a:pt x="140" y="6"/>
                  <a:pt x="6" y="140"/>
                  <a:pt x="0" y="307"/>
                </a:cubicBezTo>
                <a:lnTo>
                  <a:pt x="307" y="307"/>
                </a:lnTo>
                <a:close/>
              </a:path>
            </a:pathLst>
          </a:custGeom>
          <a:solidFill>
            <a:schemeClr val="accent1"/>
          </a:solidFill>
          <a:ln w="9525" cmpd="sng">
            <a:noFill/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27" name="Freeform 9">
            <a:extLst>
              <a:ext uri="{FF2B5EF4-FFF2-40B4-BE49-F238E27FC236}">
                <a16:creationId xmlns:a16="http://schemas.microsoft.com/office/drawing/2014/main" id="{99A5CA70-9BD6-84C0-F33D-9A61D78FDFC0}"/>
              </a:ext>
            </a:extLst>
          </p:cNvPr>
          <p:cNvSpPr>
            <a:spLocks/>
          </p:cNvSpPr>
          <p:nvPr/>
        </p:nvSpPr>
        <p:spPr bwMode="auto">
          <a:xfrm>
            <a:off x="5029962" y="3798643"/>
            <a:ext cx="2231402" cy="1433542"/>
          </a:xfrm>
          <a:custGeom>
            <a:avLst/>
            <a:gdLst>
              <a:gd name="T0" fmla="*/ 0 w 307"/>
              <a:gd name="T1" fmla="*/ 0 h 307"/>
              <a:gd name="T2" fmla="*/ 0 w 307"/>
              <a:gd name="T3" fmla="*/ 307 h 307"/>
              <a:gd name="T4" fmla="*/ 307 w 307"/>
              <a:gd name="T5" fmla="*/ 0 h 307"/>
              <a:gd name="T6" fmla="*/ 0 w 307"/>
              <a:gd name="T7" fmla="*/ 0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0" y="0"/>
                </a:moveTo>
                <a:cubicBezTo>
                  <a:pt x="0" y="307"/>
                  <a:pt x="0" y="307"/>
                  <a:pt x="0" y="307"/>
                </a:cubicBezTo>
                <a:cubicBezTo>
                  <a:pt x="167" y="301"/>
                  <a:pt x="301" y="167"/>
                  <a:pt x="307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FFFDEF"/>
          </a:solidFill>
          <a:ln w="9525" cmpd="sng">
            <a:solidFill>
              <a:schemeClr val="accent2"/>
            </a:solidFill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28" name="Freeform 10">
            <a:extLst>
              <a:ext uri="{FF2B5EF4-FFF2-40B4-BE49-F238E27FC236}">
                <a16:creationId xmlns:a16="http://schemas.microsoft.com/office/drawing/2014/main" id="{1B5D3A08-675A-C879-0CFD-72BCE7EDC140}"/>
              </a:ext>
            </a:extLst>
          </p:cNvPr>
          <p:cNvSpPr>
            <a:spLocks/>
          </p:cNvSpPr>
          <p:nvPr/>
        </p:nvSpPr>
        <p:spPr bwMode="auto">
          <a:xfrm>
            <a:off x="2734877" y="3808496"/>
            <a:ext cx="2231402" cy="1433542"/>
          </a:xfrm>
          <a:custGeom>
            <a:avLst/>
            <a:gdLst>
              <a:gd name="T0" fmla="*/ 307 w 307"/>
              <a:gd name="T1" fmla="*/ 0 h 307"/>
              <a:gd name="T2" fmla="*/ 0 w 307"/>
              <a:gd name="T3" fmla="*/ 0 h 307"/>
              <a:gd name="T4" fmla="*/ 307 w 307"/>
              <a:gd name="T5" fmla="*/ 307 h 307"/>
              <a:gd name="T6" fmla="*/ 307 w 307"/>
              <a:gd name="T7" fmla="*/ 0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307" y="0"/>
                </a:moveTo>
                <a:cubicBezTo>
                  <a:pt x="0" y="0"/>
                  <a:pt x="0" y="0"/>
                  <a:pt x="0" y="0"/>
                </a:cubicBezTo>
                <a:cubicBezTo>
                  <a:pt x="6" y="167"/>
                  <a:pt x="140" y="301"/>
                  <a:pt x="307" y="307"/>
                </a:cubicBezTo>
                <a:lnTo>
                  <a:pt x="307" y="0"/>
                </a:lnTo>
                <a:close/>
              </a:path>
            </a:pathLst>
          </a:custGeom>
          <a:solidFill>
            <a:schemeClr val="accent2"/>
          </a:solidFill>
          <a:ln w="9525" cmpd="sng">
            <a:noFill/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29" name="Freeform 11">
            <a:extLst>
              <a:ext uri="{FF2B5EF4-FFF2-40B4-BE49-F238E27FC236}">
                <a16:creationId xmlns:a16="http://schemas.microsoft.com/office/drawing/2014/main" id="{4F49350C-BA60-3499-6772-A665816B2761}"/>
              </a:ext>
            </a:extLst>
          </p:cNvPr>
          <p:cNvSpPr>
            <a:spLocks/>
          </p:cNvSpPr>
          <p:nvPr/>
        </p:nvSpPr>
        <p:spPr bwMode="auto">
          <a:xfrm>
            <a:off x="7407027" y="2271503"/>
            <a:ext cx="2227571" cy="1433542"/>
          </a:xfrm>
          <a:custGeom>
            <a:avLst/>
            <a:gdLst>
              <a:gd name="T0" fmla="*/ 0 w 307"/>
              <a:gd name="T1" fmla="*/ 307 h 307"/>
              <a:gd name="T2" fmla="*/ 307 w 307"/>
              <a:gd name="T3" fmla="*/ 307 h 307"/>
              <a:gd name="T4" fmla="*/ 0 w 307"/>
              <a:gd name="T5" fmla="*/ 0 h 307"/>
              <a:gd name="T6" fmla="*/ 0 w 307"/>
              <a:gd name="T7" fmla="*/ 307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0" y="307"/>
                </a:moveTo>
                <a:cubicBezTo>
                  <a:pt x="307" y="307"/>
                  <a:pt x="307" y="307"/>
                  <a:pt x="307" y="307"/>
                </a:cubicBezTo>
                <a:cubicBezTo>
                  <a:pt x="302" y="140"/>
                  <a:pt x="167" y="6"/>
                  <a:pt x="0" y="0"/>
                </a:cubicBezTo>
                <a:lnTo>
                  <a:pt x="0" y="307"/>
                </a:lnTo>
                <a:close/>
              </a:path>
            </a:pathLst>
          </a:custGeom>
          <a:solidFill>
            <a:srgbClr val="FFFDEF"/>
          </a:solidFill>
          <a:ln w="9525" cmpd="sng">
            <a:solidFill>
              <a:schemeClr val="accent3"/>
            </a:solidFill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0" name="Freeform 12">
            <a:extLst>
              <a:ext uri="{FF2B5EF4-FFF2-40B4-BE49-F238E27FC236}">
                <a16:creationId xmlns:a16="http://schemas.microsoft.com/office/drawing/2014/main" id="{9D3D261E-392F-82B8-1A2B-BAFD207FB319}"/>
              </a:ext>
            </a:extLst>
          </p:cNvPr>
          <p:cNvSpPr>
            <a:spLocks/>
          </p:cNvSpPr>
          <p:nvPr/>
        </p:nvSpPr>
        <p:spPr bwMode="auto">
          <a:xfrm>
            <a:off x="5029962" y="2281356"/>
            <a:ext cx="2231402" cy="1433542"/>
          </a:xfrm>
          <a:custGeom>
            <a:avLst/>
            <a:gdLst>
              <a:gd name="T0" fmla="*/ 307 w 307"/>
              <a:gd name="T1" fmla="*/ 307 h 307"/>
              <a:gd name="T2" fmla="*/ 307 w 307"/>
              <a:gd name="T3" fmla="*/ 0 h 307"/>
              <a:gd name="T4" fmla="*/ 0 w 307"/>
              <a:gd name="T5" fmla="*/ 307 h 307"/>
              <a:gd name="T6" fmla="*/ 307 w 307"/>
              <a:gd name="T7" fmla="*/ 307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307" y="307"/>
                </a:moveTo>
                <a:cubicBezTo>
                  <a:pt x="307" y="0"/>
                  <a:pt x="307" y="0"/>
                  <a:pt x="307" y="0"/>
                </a:cubicBezTo>
                <a:cubicBezTo>
                  <a:pt x="140" y="6"/>
                  <a:pt x="6" y="140"/>
                  <a:pt x="0" y="307"/>
                </a:cubicBezTo>
                <a:lnTo>
                  <a:pt x="307" y="307"/>
                </a:lnTo>
                <a:close/>
              </a:path>
            </a:pathLst>
          </a:custGeom>
          <a:solidFill>
            <a:schemeClr val="accent3"/>
          </a:solidFill>
          <a:ln w="9525" cmpd="sng">
            <a:noFill/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1" name="Freeform 13">
            <a:extLst>
              <a:ext uri="{FF2B5EF4-FFF2-40B4-BE49-F238E27FC236}">
                <a16:creationId xmlns:a16="http://schemas.microsoft.com/office/drawing/2014/main" id="{CAF5B081-6EBB-4395-5E76-525B054C28C3}"/>
              </a:ext>
            </a:extLst>
          </p:cNvPr>
          <p:cNvSpPr>
            <a:spLocks/>
          </p:cNvSpPr>
          <p:nvPr/>
        </p:nvSpPr>
        <p:spPr bwMode="auto">
          <a:xfrm>
            <a:off x="9693782" y="3798643"/>
            <a:ext cx="2219918" cy="1433542"/>
          </a:xfrm>
          <a:custGeom>
            <a:avLst/>
            <a:gdLst>
              <a:gd name="T0" fmla="*/ 0 w 306"/>
              <a:gd name="T1" fmla="*/ 0 h 307"/>
              <a:gd name="T2" fmla="*/ 0 w 306"/>
              <a:gd name="T3" fmla="*/ 307 h 307"/>
              <a:gd name="T4" fmla="*/ 306 w 306"/>
              <a:gd name="T5" fmla="*/ 0 h 307"/>
              <a:gd name="T6" fmla="*/ 0 w 306"/>
              <a:gd name="T7" fmla="*/ 0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6" h="307">
                <a:moveTo>
                  <a:pt x="0" y="0"/>
                </a:moveTo>
                <a:cubicBezTo>
                  <a:pt x="0" y="307"/>
                  <a:pt x="0" y="307"/>
                  <a:pt x="0" y="307"/>
                </a:cubicBezTo>
                <a:cubicBezTo>
                  <a:pt x="166" y="301"/>
                  <a:pt x="301" y="167"/>
                  <a:pt x="306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FFFDEF"/>
          </a:solidFill>
          <a:ln w="9525" cmpd="sng">
            <a:solidFill>
              <a:schemeClr val="accent4"/>
            </a:solidFill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2" name="Freeform 14">
            <a:extLst>
              <a:ext uri="{FF2B5EF4-FFF2-40B4-BE49-F238E27FC236}">
                <a16:creationId xmlns:a16="http://schemas.microsoft.com/office/drawing/2014/main" id="{CAE68B17-2F84-A79A-DEE6-2D3139C57344}"/>
              </a:ext>
            </a:extLst>
          </p:cNvPr>
          <p:cNvSpPr>
            <a:spLocks/>
          </p:cNvSpPr>
          <p:nvPr/>
        </p:nvSpPr>
        <p:spPr bwMode="auto">
          <a:xfrm>
            <a:off x="7407027" y="3808496"/>
            <a:ext cx="2227571" cy="1433542"/>
          </a:xfrm>
          <a:custGeom>
            <a:avLst/>
            <a:gdLst>
              <a:gd name="T0" fmla="*/ 307 w 307"/>
              <a:gd name="T1" fmla="*/ 0 h 307"/>
              <a:gd name="T2" fmla="*/ 0 w 307"/>
              <a:gd name="T3" fmla="*/ 0 h 307"/>
              <a:gd name="T4" fmla="*/ 307 w 307"/>
              <a:gd name="T5" fmla="*/ 307 h 307"/>
              <a:gd name="T6" fmla="*/ 307 w 307"/>
              <a:gd name="T7" fmla="*/ 0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307" y="0"/>
                </a:moveTo>
                <a:cubicBezTo>
                  <a:pt x="0" y="0"/>
                  <a:pt x="0" y="0"/>
                  <a:pt x="0" y="0"/>
                </a:cubicBezTo>
                <a:cubicBezTo>
                  <a:pt x="6" y="167"/>
                  <a:pt x="140" y="301"/>
                  <a:pt x="307" y="307"/>
                </a:cubicBezTo>
                <a:lnTo>
                  <a:pt x="307" y="0"/>
                </a:lnTo>
                <a:close/>
              </a:path>
            </a:pathLst>
          </a:custGeom>
          <a:solidFill>
            <a:schemeClr val="accent4"/>
          </a:solidFill>
          <a:ln w="9525" cmpd="sng">
            <a:noFill/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51" name="Rectangle 31">
            <a:extLst>
              <a:ext uri="{FF2B5EF4-FFF2-40B4-BE49-F238E27FC236}">
                <a16:creationId xmlns:a16="http://schemas.microsoft.com/office/drawing/2014/main" id="{92FD5175-97DD-03FA-B1A3-05FC56A2C1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363" y="1858495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Competencia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técnica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47" name="矩形 8">
            <a:extLst>
              <a:ext uri="{FF2B5EF4-FFF2-40B4-BE49-F238E27FC236}">
                <a16:creationId xmlns:a16="http://schemas.microsoft.com/office/drawing/2014/main" id="{FD6B37D8-C9A3-0E72-04BC-80A840A37D00}"/>
              </a:ext>
            </a:extLst>
          </p:cNvPr>
          <p:cNvSpPr/>
          <p:nvPr/>
        </p:nvSpPr>
        <p:spPr>
          <a:xfrm>
            <a:off x="1453372" y="181895"/>
            <a:ext cx="10510028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Radar de Capital Humano – El diagnóstico integral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2" name="Rectangle 22">
            <a:extLst>
              <a:ext uri="{FF2B5EF4-FFF2-40B4-BE49-F238E27FC236}">
                <a16:creationId xmlns:a16="http://schemas.microsoft.com/office/drawing/2014/main" id="{8573AB8E-6F0D-974B-4BA4-35579500B4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4878" y="1115461"/>
            <a:ext cx="660224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Resultado del Radar de Capital Humano TI</a:t>
            </a:r>
            <a:endParaRPr lang="en-US" altLang="zh-CN" sz="1600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" name="Rectangle 31">
            <a:extLst>
              <a:ext uri="{FF2B5EF4-FFF2-40B4-BE49-F238E27FC236}">
                <a16:creationId xmlns:a16="http://schemas.microsoft.com/office/drawing/2014/main" id="{A6F7419F-2F1C-B520-5109-FA7580D7BE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50" y="1850469"/>
            <a:ext cx="211981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Conocimiento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del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negocio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4" name="Rectangle 31">
            <a:extLst>
              <a:ext uri="{FF2B5EF4-FFF2-40B4-BE49-F238E27FC236}">
                <a16:creationId xmlns:a16="http://schemas.microsoft.com/office/drawing/2014/main" id="{760B788F-D40E-2918-28D4-3F29B33BF8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1097" y="5347257"/>
            <a:ext cx="1819838" cy="777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Conocimiento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del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negocio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  <a:p>
            <a:pPr algn="ctr"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5" name="Rectangle 31">
            <a:extLst>
              <a:ext uri="{FF2B5EF4-FFF2-40B4-BE49-F238E27FC236}">
                <a16:creationId xmlns:a16="http://schemas.microsoft.com/office/drawing/2014/main" id="{E9086E4D-1A01-A051-5AC7-08E3925FFC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63024" y="5347257"/>
            <a:ext cx="1765277" cy="777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Habilidades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blandas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  <a:p>
            <a:pPr algn="ctr"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C5F59FAF-E3CA-1539-9F53-251CA3DE56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8430" y="1829225"/>
            <a:ext cx="211981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Compromiso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y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proactividad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3161B8CD-4773-1CD6-5D7F-925E19876A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1442" y="1850468"/>
            <a:ext cx="150676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Documentación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y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orden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8" name="Rectangle 31">
            <a:extLst>
              <a:ext uri="{FF2B5EF4-FFF2-40B4-BE49-F238E27FC236}">
                <a16:creationId xmlns:a16="http://schemas.microsoft.com/office/drawing/2014/main" id="{8FA2D753-5028-5255-9ED0-EF48AA0663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8583" y="5304938"/>
            <a:ext cx="150676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Enfoque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en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seguridad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9" name="Rectangle 31">
            <a:extLst>
              <a:ext uri="{FF2B5EF4-FFF2-40B4-BE49-F238E27FC236}">
                <a16:creationId xmlns:a16="http://schemas.microsoft.com/office/drawing/2014/main" id="{B5B4C41A-BD59-6509-5CA6-D5D298198E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50357" y="5302572"/>
            <a:ext cx="150676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Resiliencia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operativa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0" name="Rectangle 31">
            <a:extLst>
              <a:ext uri="{FF2B5EF4-FFF2-40B4-BE49-F238E27FC236}">
                <a16:creationId xmlns:a16="http://schemas.microsoft.com/office/drawing/2014/main" id="{60ABC02D-D5F3-2D27-86B1-54977C8D94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6438" y="2892849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/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3.0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1" name="Rectangle 31">
            <a:extLst>
              <a:ext uri="{FF2B5EF4-FFF2-40B4-BE49-F238E27FC236}">
                <a16:creationId xmlns:a16="http://schemas.microsoft.com/office/drawing/2014/main" id="{B1FC85A5-7FDE-FB70-9B0A-2D97E4CDC7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4168" y="2892848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2.0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2" name="Rectangle 31">
            <a:extLst>
              <a:ext uri="{FF2B5EF4-FFF2-40B4-BE49-F238E27FC236}">
                <a16:creationId xmlns:a16="http://schemas.microsoft.com/office/drawing/2014/main" id="{6A57C38D-45CB-476E-CFB9-124AEA797C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77532" y="4182471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/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1.7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3" name="Rectangle 31">
            <a:extLst>
              <a:ext uri="{FF2B5EF4-FFF2-40B4-BE49-F238E27FC236}">
                <a16:creationId xmlns:a16="http://schemas.microsoft.com/office/drawing/2014/main" id="{1B1C894C-C06A-DBEF-28D8-E67586CA71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17285" y="4182470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2.7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4" name="Rectangle 31">
            <a:extLst>
              <a:ext uri="{FF2B5EF4-FFF2-40B4-BE49-F238E27FC236}">
                <a16:creationId xmlns:a16="http://schemas.microsoft.com/office/drawing/2014/main" id="{05B785FB-0E85-922C-B7F5-16FACEB33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9111" y="2901812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/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2.3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5" name="Rectangle 31">
            <a:extLst>
              <a:ext uri="{FF2B5EF4-FFF2-40B4-BE49-F238E27FC236}">
                <a16:creationId xmlns:a16="http://schemas.microsoft.com/office/drawing/2014/main" id="{C2E1C660-39A7-2E48-1F89-90F1224E0B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01435" y="2901811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2.0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6" name="Rectangle 31">
            <a:extLst>
              <a:ext uri="{FF2B5EF4-FFF2-40B4-BE49-F238E27FC236}">
                <a16:creationId xmlns:a16="http://schemas.microsoft.com/office/drawing/2014/main" id="{DDB21034-840E-4133-E9BB-D468D81A23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5112" y="4182470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/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1.7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7" name="Rectangle 31">
            <a:extLst>
              <a:ext uri="{FF2B5EF4-FFF2-40B4-BE49-F238E27FC236}">
                <a16:creationId xmlns:a16="http://schemas.microsoft.com/office/drawing/2014/main" id="{BE29454D-C6B7-B0F2-208E-36676F2744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80261" y="4182470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1.0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8" name="Rectangle 22">
            <a:extLst>
              <a:ext uri="{FF2B5EF4-FFF2-40B4-BE49-F238E27FC236}">
                <a16:creationId xmlns:a16="http://schemas.microsoft.com/office/drawing/2014/main" id="{56253919-FA73-DA48-753F-BA10E6A8EE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721" y="6124393"/>
            <a:ext cx="757062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sz="16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Promedio general del equipo:</a:t>
            </a:r>
            <a:r>
              <a:rPr lang="es-MX" altLang="zh-CN" sz="1600" b="1" i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 </a:t>
            </a:r>
            <a:r>
              <a:rPr lang="es-MX" altLang="zh-CN" sz="1600" i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2.0 / 5 → NIVEL “BAJO” (riesgo operativo)</a:t>
            </a:r>
            <a:endParaRPr lang="en-US" altLang="zh-CN" sz="1400" i="1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737958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o 17">
            <a:extLst>
              <a:ext uri="{FF2B5EF4-FFF2-40B4-BE49-F238E27FC236}">
                <a16:creationId xmlns:a16="http://schemas.microsoft.com/office/drawing/2014/main" id="{1FE707FF-409A-4A6B-ABF3-983CC71F2F44}"/>
              </a:ext>
            </a:extLst>
          </p:cNvPr>
          <p:cNvGrpSpPr/>
          <p:nvPr/>
        </p:nvGrpSpPr>
        <p:grpSpPr>
          <a:xfrm>
            <a:off x="320635" y="1016676"/>
            <a:ext cx="10885262" cy="5512953"/>
            <a:chOff x="381615" y="1016676"/>
            <a:chExt cx="8151544" cy="4128433"/>
          </a:xfrm>
        </p:grpSpPr>
        <p:sp>
          <p:nvSpPr>
            <p:cNvPr id="2" name="Up Arrow 64">
              <a:extLst>
                <a:ext uri="{FF2B5EF4-FFF2-40B4-BE49-F238E27FC236}">
                  <a16:creationId xmlns:a16="http://schemas.microsoft.com/office/drawing/2014/main" id="{9ADB092D-A57A-4898-B270-D95D62CD9973}"/>
                </a:ext>
              </a:extLst>
            </p:cNvPr>
            <p:cNvSpPr/>
            <p:nvPr/>
          </p:nvSpPr>
          <p:spPr>
            <a:xfrm>
              <a:off x="4272112" y="1016676"/>
              <a:ext cx="370550" cy="4128430"/>
            </a:xfrm>
            <a:prstGeom prst="upArrow">
              <a:avLst>
                <a:gd name="adj1" fmla="val 50000"/>
                <a:gd name="adj2" fmla="val 6714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5032" tIns="32516" rIns="65032" bIns="32516" rtlCol="0" anchor="ctr"/>
            <a:lstStyle/>
            <a:p>
              <a:pPr algn="ctr"/>
              <a:endParaRPr lang="en-US" dirty="0">
                <a:latin typeface="印品黑体" panose="00000500000000000000" pitchFamily="2" charset="-122"/>
              </a:endParaRPr>
            </a:p>
          </p:txBody>
        </p:sp>
        <p:sp>
          <p:nvSpPr>
            <p:cNvPr id="3" name="Bent Arrow 65">
              <a:extLst>
                <a:ext uri="{FF2B5EF4-FFF2-40B4-BE49-F238E27FC236}">
                  <a16:creationId xmlns:a16="http://schemas.microsoft.com/office/drawing/2014/main" id="{52C59972-EC96-481D-9312-24AA2A48B251}"/>
                </a:ext>
              </a:extLst>
            </p:cNvPr>
            <p:cNvSpPr/>
            <p:nvPr/>
          </p:nvSpPr>
          <p:spPr>
            <a:xfrm>
              <a:off x="4363680" y="1734086"/>
              <a:ext cx="2337603" cy="3411020"/>
            </a:xfrm>
            <a:prstGeom prst="bentArrow">
              <a:avLst>
                <a:gd name="adj1" fmla="val 8879"/>
                <a:gd name="adj2" fmla="val 9038"/>
                <a:gd name="adj3" fmla="val 15734"/>
                <a:gd name="adj4" fmla="val 19454"/>
              </a:avLst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5032" tIns="32516" rIns="65032" bIns="32516"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印品黑体" panose="00000500000000000000" pitchFamily="2" charset="-122"/>
              </a:endParaRPr>
            </a:p>
          </p:txBody>
        </p:sp>
        <p:sp>
          <p:nvSpPr>
            <p:cNvPr id="4" name="Bent Arrow 53">
              <a:extLst>
                <a:ext uri="{FF2B5EF4-FFF2-40B4-BE49-F238E27FC236}">
                  <a16:creationId xmlns:a16="http://schemas.microsoft.com/office/drawing/2014/main" id="{4067304E-BF04-46DC-9988-5904E4878F4B}"/>
                </a:ext>
              </a:extLst>
            </p:cNvPr>
            <p:cNvSpPr/>
            <p:nvPr/>
          </p:nvSpPr>
          <p:spPr>
            <a:xfrm flipH="1">
              <a:off x="2235193" y="2420099"/>
              <a:ext cx="2337603" cy="2725008"/>
            </a:xfrm>
            <a:prstGeom prst="bentArrow">
              <a:avLst>
                <a:gd name="adj1" fmla="val 8879"/>
                <a:gd name="adj2" fmla="val 9038"/>
                <a:gd name="adj3" fmla="val 15734"/>
                <a:gd name="adj4" fmla="val 1945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5032" tIns="32516" rIns="65032" bIns="32516"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印品黑体" panose="00000500000000000000" pitchFamily="2" charset="-122"/>
              </a:endParaRPr>
            </a:p>
          </p:txBody>
        </p:sp>
        <p:sp>
          <p:nvSpPr>
            <p:cNvPr id="6" name="Bent Arrow 56">
              <a:extLst>
                <a:ext uri="{FF2B5EF4-FFF2-40B4-BE49-F238E27FC236}">
                  <a16:creationId xmlns:a16="http://schemas.microsoft.com/office/drawing/2014/main" id="{3FAAC3C0-A68A-406D-B520-3CCE0BCFE2A1}"/>
                </a:ext>
              </a:extLst>
            </p:cNvPr>
            <p:cNvSpPr/>
            <p:nvPr/>
          </p:nvSpPr>
          <p:spPr>
            <a:xfrm flipH="1">
              <a:off x="2790803" y="3396804"/>
              <a:ext cx="1781993" cy="1748305"/>
            </a:xfrm>
            <a:prstGeom prst="bentArrow">
              <a:avLst>
                <a:gd name="adj1" fmla="val 13458"/>
                <a:gd name="adj2" fmla="val 12349"/>
                <a:gd name="adj3" fmla="val 17061"/>
                <a:gd name="adj4" fmla="val 30061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5032" tIns="32516" rIns="65032" bIns="32516"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印品黑体" panose="00000500000000000000" pitchFamily="2" charset="-122"/>
              </a:endParaRPr>
            </a:p>
          </p:txBody>
        </p:sp>
        <p:sp>
          <p:nvSpPr>
            <p:cNvPr id="7" name="TextBox 66">
              <a:extLst>
                <a:ext uri="{FF2B5EF4-FFF2-40B4-BE49-F238E27FC236}">
                  <a16:creationId xmlns:a16="http://schemas.microsoft.com/office/drawing/2014/main" id="{41FFA3AC-942E-4ABD-8A31-B6104A0F1094}"/>
                </a:ext>
              </a:extLst>
            </p:cNvPr>
            <p:cNvSpPr txBox="1"/>
            <p:nvPr/>
          </p:nvSpPr>
          <p:spPr>
            <a:xfrm>
              <a:off x="1910633" y="3949744"/>
              <a:ext cx="1722880" cy="625379"/>
            </a:xfrm>
            <a:prstGeom prst="rect">
              <a:avLst/>
            </a:prstGeom>
            <a:noFill/>
          </p:spPr>
          <p:txBody>
            <a:bodyPr wrap="square" lIns="65032" tIns="32516" rIns="65032" bIns="32516" rtlCol="0">
              <a:spAutoFit/>
            </a:bodyPr>
            <a:lstStyle/>
            <a:p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Sin 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bitácora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 de 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cambios</a:t>
              </a:r>
              <a:endParaRPr lang="en-US" altLang="zh-CN" sz="14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  <a:p>
              <a:endParaRPr lang="es-MX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  <a:p>
              <a:r>
                <a:rPr lang="es-MX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No hay trazabilidad de modificaciones.</a:t>
              </a:r>
              <a:endParaRPr lang="en-GB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</p:txBody>
        </p:sp>
        <p:sp>
          <p:nvSpPr>
            <p:cNvPr id="8" name="TextBox 68">
              <a:extLst>
                <a:ext uri="{FF2B5EF4-FFF2-40B4-BE49-F238E27FC236}">
                  <a16:creationId xmlns:a16="http://schemas.microsoft.com/office/drawing/2014/main" id="{A6631629-965B-4D3C-B665-2690A9EAA793}"/>
                </a:ext>
              </a:extLst>
            </p:cNvPr>
            <p:cNvSpPr txBox="1"/>
            <p:nvPr/>
          </p:nvSpPr>
          <p:spPr>
            <a:xfrm>
              <a:off x="381615" y="2120255"/>
              <a:ext cx="1700415" cy="1478162"/>
            </a:xfrm>
            <a:prstGeom prst="rect">
              <a:avLst/>
            </a:prstGeom>
            <a:noFill/>
          </p:spPr>
          <p:txBody>
            <a:bodyPr wrap="square" lIns="65032" tIns="32516" rIns="65032" bIns="32516" rtlCol="0">
              <a:spAutoFit/>
            </a:bodyPr>
            <a:lstStyle/>
            <a:p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Documentación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 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técnica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:</a:t>
              </a:r>
            </a:p>
            <a:p>
              <a:endParaRPr lang="en-US" altLang="zh-CN" sz="14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Manual de </a:t>
              </a: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usuario</a:t>
              </a:r>
              <a:r>
                <a:rPr lang="en-US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: </a:t>
              </a: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incompleto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Diagramas</a:t>
              </a:r>
              <a:r>
                <a:rPr lang="en-US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 de red: </a:t>
              </a: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desactualizados</a:t>
              </a:r>
              <a:r>
                <a:rPr lang="en-US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 (2020)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Procedimientos</a:t>
              </a:r>
              <a:r>
                <a:rPr lang="en-US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 de backup y DRP: </a:t>
              </a: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inexistentes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10" name="TextBox 70">
              <a:extLst>
                <a:ext uri="{FF2B5EF4-FFF2-40B4-BE49-F238E27FC236}">
                  <a16:creationId xmlns:a16="http://schemas.microsoft.com/office/drawing/2014/main" id="{5ADB4021-83D4-42BB-B0ED-BBD042A13E02}"/>
                </a:ext>
              </a:extLst>
            </p:cNvPr>
            <p:cNvSpPr txBox="1"/>
            <p:nvPr/>
          </p:nvSpPr>
          <p:spPr>
            <a:xfrm>
              <a:off x="2510102" y="1106889"/>
              <a:ext cx="1700415" cy="1063295"/>
            </a:xfrm>
            <a:prstGeom prst="rect">
              <a:avLst/>
            </a:prstGeom>
            <a:noFill/>
          </p:spPr>
          <p:txBody>
            <a:bodyPr wrap="square" lIns="65032" tIns="32516" rIns="65032" bIns="32516" rtlCol="0">
              <a:spAutoFit/>
            </a:bodyPr>
            <a:lstStyle/>
            <a:p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Dependencia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 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crítica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:</a:t>
              </a:r>
            </a:p>
            <a:p>
              <a:endParaRPr lang="en-US" altLang="zh-CN" sz="14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  <a:p>
              <a:r>
                <a:rPr lang="es-MX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Contraseñas maestras, configuraciones de red y procedimientos de </a:t>
              </a:r>
              <a:r>
                <a:rPr lang="es-MX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backup</a:t>
              </a:r>
              <a:r>
                <a:rPr lang="es-MX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 solo en la cabeza del Jefe de Sistemas.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11" name="TextBox 71">
              <a:extLst>
                <a:ext uri="{FF2B5EF4-FFF2-40B4-BE49-F238E27FC236}">
                  <a16:creationId xmlns:a16="http://schemas.microsoft.com/office/drawing/2014/main" id="{26D5EFEF-C773-42D9-92A8-8CAFF1819E00}"/>
                </a:ext>
              </a:extLst>
            </p:cNvPr>
            <p:cNvSpPr txBox="1"/>
            <p:nvPr/>
          </p:nvSpPr>
          <p:spPr>
            <a:xfrm>
              <a:off x="6832744" y="1406652"/>
              <a:ext cx="1700415" cy="786717"/>
            </a:xfrm>
            <a:prstGeom prst="rect">
              <a:avLst/>
            </a:prstGeom>
            <a:noFill/>
          </p:spPr>
          <p:txBody>
            <a:bodyPr wrap="square" lIns="65032" tIns="32516" rIns="65032" bIns="32516" rtlCol="0">
              <a:spAutoFit/>
            </a:bodyPr>
            <a:lstStyle/>
            <a:p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Riesgo: </a:t>
              </a:r>
              <a:r>
                <a:rPr lang="zh-CN" altLang="en-US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🔴 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Alto</a:t>
              </a:r>
            </a:p>
            <a:p>
              <a:endParaRPr lang="en-US" altLang="zh-CN" sz="14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  <a:p>
              <a:r>
                <a:rPr lang="es-MX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Una ausencia del Jefe de Sistemas paraliza la operación.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</p:grpSp>
      <p:sp>
        <p:nvSpPr>
          <p:cNvPr id="17" name="矩形 8">
            <a:extLst>
              <a:ext uri="{FF2B5EF4-FFF2-40B4-BE49-F238E27FC236}">
                <a16:creationId xmlns:a16="http://schemas.microsoft.com/office/drawing/2014/main" id="{BA8DADFA-F346-4263-BBE3-82C6223C2F6E}"/>
              </a:ext>
            </a:extLst>
          </p:cNvPr>
          <p:cNvSpPr/>
          <p:nvPr/>
        </p:nvSpPr>
        <p:spPr>
          <a:xfrm>
            <a:off x="1453372" y="181895"/>
            <a:ext cx="11520506" cy="558358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28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Gestión del Conocimiento – El riesgo de la persona clave</a:t>
            </a:r>
            <a:endParaRPr lang="zh-CN" altLang="en-US" sz="28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D1D0774E-7B04-DA86-B7B7-24296A39B0DE}"/>
              </a:ext>
            </a:extLst>
          </p:cNvPr>
          <p:cNvSpPr txBox="1"/>
          <p:nvPr/>
        </p:nvSpPr>
        <p:spPr>
          <a:xfrm>
            <a:off x="290991" y="1260018"/>
            <a:ext cx="28719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</a:rPr>
              <a:t>¿Qué pasa si el Jefe de Sistemas renuncia?</a:t>
            </a:r>
            <a:endParaRPr kumimoji="0" lang="en-US" altLang="zh-CN" sz="1800" b="1" i="0" u="none" strike="noStrike" kern="120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</a:endParaRPr>
          </a:p>
        </p:txBody>
      </p:sp>
      <p:pic>
        <p:nvPicPr>
          <p:cNvPr id="21" name="Imagen 20" descr="10,495 Collapsing House Cards Stock Vectors and Vector Art | Shutterstock">
            <a:extLst>
              <a:ext uri="{FF2B5EF4-FFF2-40B4-BE49-F238E27FC236}">
                <a16:creationId xmlns:a16="http://schemas.microsoft.com/office/drawing/2014/main" id="{F186C416-64B2-7091-9D33-00EBA6D77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7283" y="2992539"/>
            <a:ext cx="2977768" cy="297776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459774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CD54C-820D-2049-4B23-878079137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8">
            <a:extLst>
              <a:ext uri="{FF2B5EF4-FFF2-40B4-BE49-F238E27FC236}">
                <a16:creationId xmlns:a16="http://schemas.microsoft.com/office/drawing/2014/main" id="{95611C0C-BDC6-7C6F-1756-AD4F303BDA3C}"/>
              </a:ext>
            </a:extLst>
          </p:cNvPr>
          <p:cNvSpPr/>
          <p:nvPr/>
        </p:nvSpPr>
        <p:spPr>
          <a:xfrm>
            <a:off x="1453371" y="181895"/>
            <a:ext cx="8989342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La visión de los usuarios (Cuestionarios)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6" name="矩形 130">
            <a:extLst>
              <a:ext uri="{FF2B5EF4-FFF2-40B4-BE49-F238E27FC236}">
                <a16:creationId xmlns:a16="http://schemas.microsoft.com/office/drawing/2014/main" id="{5601E958-0441-5CD1-31A0-ED3862528192}"/>
              </a:ext>
            </a:extLst>
          </p:cNvPr>
          <p:cNvSpPr/>
          <p:nvPr/>
        </p:nvSpPr>
        <p:spPr>
          <a:xfrm>
            <a:off x="1749287" y="1118400"/>
            <a:ext cx="8693426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s-MX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¿Qué piensan los usuarios del sistema?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37" name="Tabla 36">
            <a:extLst>
              <a:ext uri="{FF2B5EF4-FFF2-40B4-BE49-F238E27FC236}">
                <a16:creationId xmlns:a16="http://schemas.microsoft.com/office/drawing/2014/main" id="{06BD6380-2DA2-7BED-E74E-C91C81D27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602090"/>
              </p:ext>
            </p:extLst>
          </p:nvPr>
        </p:nvGraphicFramePr>
        <p:xfrm>
          <a:off x="1009650" y="1648169"/>
          <a:ext cx="10591800" cy="41445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0600">
                  <a:extLst>
                    <a:ext uri="{9D8B030D-6E8A-4147-A177-3AD203B41FA5}">
                      <a16:colId xmlns:a16="http://schemas.microsoft.com/office/drawing/2014/main" val="107418814"/>
                    </a:ext>
                  </a:extLst>
                </a:gridCol>
                <a:gridCol w="3530600">
                  <a:extLst>
                    <a:ext uri="{9D8B030D-6E8A-4147-A177-3AD203B41FA5}">
                      <a16:colId xmlns:a16="http://schemas.microsoft.com/office/drawing/2014/main" val="780505467"/>
                    </a:ext>
                  </a:extLst>
                </a:gridCol>
                <a:gridCol w="3530600">
                  <a:extLst>
                    <a:ext uri="{9D8B030D-6E8A-4147-A177-3AD203B41FA5}">
                      <a16:colId xmlns:a16="http://schemas.microsoft.com/office/drawing/2014/main" val="2360537148"/>
                    </a:ext>
                  </a:extLst>
                </a:gridCol>
              </a:tblGrid>
              <a:tr h="420847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Indicador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Resultado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Estado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619713"/>
                  </a:ext>
                </a:extLst>
              </a:tr>
              <a:tr h="659363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Satisfacción con el sistema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2.73 / 5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🟡 Insatisfactorio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912589"/>
                  </a:ext>
                </a:extLst>
              </a:tr>
              <a:tr h="690682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Satisfacción con soporte TI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3.15 / 5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🟢 Aceptable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3712480"/>
                  </a:ext>
                </a:extLst>
              </a:tr>
              <a:tr h="659363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Comparten contraseñas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77%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Crítico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777025"/>
                  </a:ext>
                </a:extLst>
              </a:tr>
              <a:tr h="857172">
                <a:tc>
                  <a:txBody>
                    <a:bodyPr/>
                    <a:lstStyle/>
                    <a:p>
                      <a:r>
                        <a:rPr lang="es-BO" dirty="0">
                          <a:latin typeface="Century Gothic" panose="020B0502020202020204" pitchFamily="34" charset="0"/>
                        </a:rPr>
                        <a:t>Sin capacitación en seguridad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entury Gothic" panose="020B0502020202020204" pitchFamily="34" charset="0"/>
                        </a:rPr>
                        <a:t>85%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Crítico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253216"/>
                  </a:ext>
                </a:extLst>
              </a:tr>
              <a:tr h="857172">
                <a:tc>
                  <a:txBody>
                    <a:bodyPr/>
                    <a:lstStyle/>
                    <a:p>
                      <a:r>
                        <a:rPr lang="es-BO" dirty="0">
                          <a:latin typeface="Century Gothic" panose="020B0502020202020204" pitchFamily="34" charset="0"/>
                        </a:rPr>
                        <a:t>Recomiendan mejorar/cambiar sistema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dirty="0">
                          <a:latin typeface="Century Gothic" panose="020B0502020202020204" pitchFamily="34" charset="0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BO" dirty="0">
                          <a:latin typeface="Century Gothic" panose="020B0502020202020204" pitchFamily="34" charset="0"/>
                        </a:rPr>
                        <a:t>Unánime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06321"/>
                  </a:ext>
                </a:extLst>
              </a:tr>
            </a:tbl>
          </a:graphicData>
        </a:graphic>
      </p:graphicFrame>
      <p:sp>
        <p:nvSpPr>
          <p:cNvPr id="2" name="Rectangle 22">
            <a:extLst>
              <a:ext uri="{FF2B5EF4-FFF2-40B4-BE49-F238E27FC236}">
                <a16:creationId xmlns:a16="http://schemas.microsoft.com/office/drawing/2014/main" id="{61D1A241-E0D8-EF3D-BDA5-954A38E9EB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0295" y="5930570"/>
            <a:ext cx="7455493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sz="1600" i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13 usuarios encuestados (87% de participación)</a:t>
            </a:r>
            <a:endParaRPr lang="en-US" altLang="zh-CN" sz="1400" i="1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067185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5A3C-C42C-119D-6D6F-568F71B6C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8">
            <a:extLst>
              <a:ext uri="{FF2B5EF4-FFF2-40B4-BE49-F238E27FC236}">
                <a16:creationId xmlns:a16="http://schemas.microsoft.com/office/drawing/2014/main" id="{65A90DF2-C98E-5011-3F87-9A4AC6F59244}"/>
              </a:ext>
            </a:extLst>
          </p:cNvPr>
          <p:cNvSpPr/>
          <p:nvPr/>
        </p:nvSpPr>
        <p:spPr>
          <a:xfrm>
            <a:off x="1453371" y="181895"/>
            <a:ext cx="8989342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Resumen de Riesgos y Acciones Prioritarias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6" name="矩形 130">
            <a:extLst>
              <a:ext uri="{FF2B5EF4-FFF2-40B4-BE49-F238E27FC236}">
                <a16:creationId xmlns:a16="http://schemas.microsoft.com/office/drawing/2014/main" id="{77444E8D-32DC-6430-EA1D-4259961CCBF8}"/>
              </a:ext>
            </a:extLst>
          </p:cNvPr>
          <p:cNvSpPr/>
          <p:nvPr/>
        </p:nvSpPr>
        <p:spPr>
          <a:xfrm>
            <a:off x="1749287" y="1118400"/>
            <a:ext cx="8693426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s-MX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¿Qué hacer ahora? – Recomendaciones urgentes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37" name="Tabla 36">
            <a:extLst>
              <a:ext uri="{FF2B5EF4-FFF2-40B4-BE49-F238E27FC236}">
                <a16:creationId xmlns:a16="http://schemas.microsoft.com/office/drawing/2014/main" id="{5D91DC8A-0183-7D6D-6B1C-A22696500B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401555"/>
              </p:ext>
            </p:extLst>
          </p:nvPr>
        </p:nvGraphicFramePr>
        <p:xfrm>
          <a:off x="1009650" y="1648169"/>
          <a:ext cx="10591800" cy="41445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8837">
                  <a:extLst>
                    <a:ext uri="{9D8B030D-6E8A-4147-A177-3AD203B41FA5}">
                      <a16:colId xmlns:a16="http://schemas.microsoft.com/office/drawing/2014/main" val="107418814"/>
                    </a:ext>
                  </a:extLst>
                </a:gridCol>
                <a:gridCol w="7195930">
                  <a:extLst>
                    <a:ext uri="{9D8B030D-6E8A-4147-A177-3AD203B41FA5}">
                      <a16:colId xmlns:a16="http://schemas.microsoft.com/office/drawing/2014/main" val="780505467"/>
                    </a:ext>
                  </a:extLst>
                </a:gridCol>
                <a:gridCol w="1437033">
                  <a:extLst>
                    <a:ext uri="{9D8B030D-6E8A-4147-A177-3AD203B41FA5}">
                      <a16:colId xmlns:a16="http://schemas.microsoft.com/office/drawing/2014/main" val="2360537148"/>
                    </a:ext>
                  </a:extLst>
                </a:gridCol>
              </a:tblGrid>
              <a:tr h="420847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Prioridad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Acción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Plazo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619713"/>
                  </a:ext>
                </a:extLst>
              </a:tr>
              <a:tr h="659363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Inmediata 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Evaluar continuidad del Administrador de BD (reemplazo si no acredita documentación).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15 días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912589"/>
                  </a:ext>
                </a:extLst>
              </a:tr>
              <a:tr h="690682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Inmediata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Documentar contraseñas maestras y configuraciones (compartir con un respaldo).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7 días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3712480"/>
                  </a:ext>
                </a:extLst>
              </a:tr>
              <a:tr h="659363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🟡 Corta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Implementar usuarios individuales en el sistema de inventarios (eliminar cuentas compartidas).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20 días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777025"/>
                  </a:ext>
                </a:extLst>
              </a:tr>
              <a:tr h="857172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🟡 </a:t>
                      </a:r>
                      <a:r>
                        <a:rPr lang="es-BO" dirty="0">
                          <a:latin typeface="Century Gothic" panose="020B0502020202020204" pitchFamily="34" charset="0"/>
                        </a:rPr>
                        <a:t>Corta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entury Gothic" panose="020B0502020202020204" pitchFamily="34" charset="0"/>
                        </a:rPr>
                        <a:t>Capacitación obligatoria en seguridad y DRP a todo el equipo TI y usuarios.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30 días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253216"/>
                  </a:ext>
                </a:extLst>
              </a:tr>
              <a:tr h="857172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🟢 </a:t>
                      </a:r>
                      <a:r>
                        <a:rPr lang="es-BO" dirty="0">
                          <a:latin typeface="Century Gothic" panose="020B0502020202020204" pitchFamily="34" charset="0"/>
                        </a:rPr>
                        <a:t>Media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entury Gothic" panose="020B0502020202020204" pitchFamily="34" charset="0"/>
                        </a:rPr>
                        <a:t>Diseñar DRP documentado y realizar prueba de restauración real.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BO" dirty="0">
                          <a:latin typeface="Century Gothic" panose="020B0502020202020204" pitchFamily="34" charset="0"/>
                        </a:rPr>
                        <a:t>60 días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06321"/>
                  </a:ext>
                </a:extLst>
              </a:tr>
            </a:tbl>
          </a:graphicData>
        </a:graphic>
      </p:graphicFrame>
      <p:sp>
        <p:nvSpPr>
          <p:cNvPr id="3" name="Rectangle 22">
            <a:extLst>
              <a:ext uri="{FF2B5EF4-FFF2-40B4-BE49-F238E27FC236}">
                <a16:creationId xmlns:a16="http://schemas.microsoft.com/office/drawing/2014/main" id="{0EE5827F-919B-17A2-5862-244AE9A383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0295" y="5930570"/>
            <a:ext cx="7455493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sz="1600" i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“El sistema funciona… pero está mal controlado. La auditoría detecta lo que nadie revisa hasta que ocurre un problema.”</a:t>
            </a:r>
            <a:endParaRPr lang="en-US" altLang="zh-CN" sz="1400" i="1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78643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/>
          <p:cNvGrpSpPr/>
          <p:nvPr/>
        </p:nvGrpSpPr>
        <p:grpSpPr>
          <a:xfrm>
            <a:off x="2329688" y="2314540"/>
            <a:ext cx="6245297" cy="2433959"/>
            <a:chOff x="1805287" y="2560089"/>
            <a:chExt cx="6737350" cy="2625725"/>
          </a:xfrm>
        </p:grpSpPr>
        <p:grpSp>
          <p:nvGrpSpPr>
            <p:cNvPr id="2" name="组合 1"/>
            <p:cNvGrpSpPr/>
            <p:nvPr/>
          </p:nvGrpSpPr>
          <p:grpSpPr>
            <a:xfrm>
              <a:off x="1805287" y="2741064"/>
              <a:ext cx="1163638" cy="1747838"/>
              <a:chOff x="2052030" y="3002321"/>
              <a:chExt cx="1163638" cy="1747838"/>
            </a:xfrm>
          </p:grpSpPr>
          <p:sp>
            <p:nvSpPr>
              <p:cNvPr id="3" name="任意多边形 2"/>
              <p:cNvSpPr/>
              <p:nvPr/>
            </p:nvSpPr>
            <p:spPr>
              <a:xfrm rot="12966304">
                <a:off x="2052030" y="3718284"/>
                <a:ext cx="1163638" cy="1031875"/>
              </a:xfrm>
              <a:custGeom>
                <a:avLst/>
                <a:gdLst>
                  <a:gd name="connsiteX0" fmla="*/ 1052874 w 1164173"/>
                  <a:gd name="connsiteY0" fmla="*/ 962340 h 1031654"/>
                  <a:gd name="connsiteX1" fmla="*/ 1069057 w 1164173"/>
                  <a:gd name="connsiteY1" fmla="*/ 858943 h 1031654"/>
                  <a:gd name="connsiteX2" fmla="*/ 965659 w 1164173"/>
                  <a:gd name="connsiteY2" fmla="*/ 842761 h 1031654"/>
                  <a:gd name="connsiteX3" fmla="*/ 949477 w 1164173"/>
                  <a:gd name="connsiteY3" fmla="*/ 946158 h 1031654"/>
                  <a:gd name="connsiteX4" fmla="*/ 1052874 w 1164173"/>
                  <a:gd name="connsiteY4" fmla="*/ 962340 h 1031654"/>
                  <a:gd name="connsiteX5" fmla="*/ 1135899 w 1164173"/>
                  <a:gd name="connsiteY5" fmla="*/ 1003380 h 1031654"/>
                  <a:gd name="connsiteX6" fmla="*/ 1067640 w 1164173"/>
                  <a:gd name="connsiteY6" fmla="*/ 1031654 h 1031654"/>
                  <a:gd name="connsiteX7" fmla="*/ 102307 w 1164173"/>
                  <a:gd name="connsiteY7" fmla="*/ 1031654 h 1031654"/>
                  <a:gd name="connsiteX8" fmla="*/ 64732 w 1164173"/>
                  <a:gd name="connsiteY8" fmla="*/ 1024068 h 1031654"/>
                  <a:gd name="connsiteX9" fmla="*/ 59198 w 1164173"/>
                  <a:gd name="connsiteY9" fmla="*/ 1020337 h 1031654"/>
                  <a:gd name="connsiteX10" fmla="*/ 48283 w 1164173"/>
                  <a:gd name="connsiteY10" fmla="*/ 1015422 h 1031654"/>
                  <a:gd name="connsiteX11" fmla="*/ 36524 w 1164173"/>
                  <a:gd name="connsiteY11" fmla="*/ 1005050 h 1031654"/>
                  <a:gd name="connsiteX12" fmla="*/ 34048 w 1164173"/>
                  <a:gd name="connsiteY12" fmla="*/ 1003380 h 1031654"/>
                  <a:gd name="connsiteX13" fmla="*/ 33191 w 1164173"/>
                  <a:gd name="connsiteY13" fmla="*/ 1002110 h 1031654"/>
                  <a:gd name="connsiteX14" fmla="*/ 19535 w 1164173"/>
                  <a:gd name="connsiteY14" fmla="*/ 990064 h 1031654"/>
                  <a:gd name="connsiteX15" fmla="*/ 12949 w 1164173"/>
                  <a:gd name="connsiteY15" fmla="*/ 883555 h 1031654"/>
                  <a:gd name="connsiteX16" fmla="*/ 495615 w 1164173"/>
                  <a:gd name="connsiteY16" fmla="*/ 47552 h 1031654"/>
                  <a:gd name="connsiteX17" fmla="*/ 520972 w 1164173"/>
                  <a:gd name="connsiteY17" fmla="*/ 18805 h 1031654"/>
                  <a:gd name="connsiteX18" fmla="*/ 534039 w 1164173"/>
                  <a:gd name="connsiteY18" fmla="*/ 12428 h 1031654"/>
                  <a:gd name="connsiteX19" fmla="*/ 534278 w 1164173"/>
                  <a:gd name="connsiteY19" fmla="*/ 12218 h 1031654"/>
                  <a:gd name="connsiteX20" fmla="*/ 536772 w 1164173"/>
                  <a:gd name="connsiteY20" fmla="*/ 11095 h 1031654"/>
                  <a:gd name="connsiteX21" fmla="*/ 554231 w 1164173"/>
                  <a:gd name="connsiteY21" fmla="*/ 2574 h 1031654"/>
                  <a:gd name="connsiteX22" fmla="*/ 561466 w 1164173"/>
                  <a:gd name="connsiteY22" fmla="*/ 2070 h 1031654"/>
                  <a:gd name="connsiteX23" fmla="*/ 570612 w 1164173"/>
                  <a:gd name="connsiteY23" fmla="*/ 0 h 1031654"/>
                  <a:gd name="connsiteX24" fmla="*/ 580884 w 1164173"/>
                  <a:gd name="connsiteY24" fmla="*/ 716 h 1031654"/>
                  <a:gd name="connsiteX25" fmla="*/ 591149 w 1164173"/>
                  <a:gd name="connsiteY25" fmla="*/ 1 h 1031654"/>
                  <a:gd name="connsiteX26" fmla="*/ 600288 w 1164173"/>
                  <a:gd name="connsiteY26" fmla="*/ 2070 h 1031654"/>
                  <a:gd name="connsiteX27" fmla="*/ 607528 w 1164173"/>
                  <a:gd name="connsiteY27" fmla="*/ 2574 h 1031654"/>
                  <a:gd name="connsiteX28" fmla="*/ 625016 w 1164173"/>
                  <a:gd name="connsiteY28" fmla="*/ 11107 h 1031654"/>
                  <a:gd name="connsiteX29" fmla="*/ 627483 w 1164173"/>
                  <a:gd name="connsiteY29" fmla="*/ 12218 h 1031654"/>
                  <a:gd name="connsiteX30" fmla="*/ 627718 w 1164173"/>
                  <a:gd name="connsiteY30" fmla="*/ 12426 h 1031654"/>
                  <a:gd name="connsiteX31" fmla="*/ 640787 w 1164173"/>
                  <a:gd name="connsiteY31" fmla="*/ 18804 h 1031654"/>
                  <a:gd name="connsiteX32" fmla="*/ 666144 w 1164173"/>
                  <a:gd name="connsiteY32" fmla="*/ 47552 h 1031654"/>
                  <a:gd name="connsiteX33" fmla="*/ 1148811 w 1164173"/>
                  <a:gd name="connsiteY33" fmla="*/ 883554 h 1031654"/>
                  <a:gd name="connsiteX34" fmla="*/ 1150460 w 1164173"/>
                  <a:gd name="connsiteY34" fmla="*/ 888458 h 1031654"/>
                  <a:gd name="connsiteX35" fmla="*/ 1156587 w 1164173"/>
                  <a:gd name="connsiteY35" fmla="*/ 897546 h 1031654"/>
                  <a:gd name="connsiteX36" fmla="*/ 1164173 w 1164173"/>
                  <a:gd name="connsiteY36" fmla="*/ 935121 h 1031654"/>
                  <a:gd name="connsiteX37" fmla="*/ 1135899 w 1164173"/>
                  <a:gd name="connsiteY37" fmla="*/ 1003380 h 10316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1164173" h="1031654">
                    <a:moveTo>
                      <a:pt x="1052874" y="962340"/>
                    </a:moveTo>
                    <a:cubicBezTo>
                      <a:pt x="1085896" y="938256"/>
                      <a:pt x="1093141" y="891964"/>
                      <a:pt x="1069057" y="858943"/>
                    </a:cubicBezTo>
                    <a:cubicBezTo>
                      <a:pt x="1044973" y="825922"/>
                      <a:pt x="998680" y="818677"/>
                      <a:pt x="965659" y="842761"/>
                    </a:cubicBezTo>
                    <a:cubicBezTo>
                      <a:pt x="932638" y="866845"/>
                      <a:pt x="925393" y="913137"/>
                      <a:pt x="949477" y="946158"/>
                    </a:cubicBezTo>
                    <a:cubicBezTo>
                      <a:pt x="973561" y="979179"/>
                      <a:pt x="1019853" y="986424"/>
                      <a:pt x="1052874" y="962340"/>
                    </a:cubicBezTo>
                    <a:close/>
                    <a:moveTo>
                      <a:pt x="1135899" y="1003380"/>
                    </a:moveTo>
                    <a:cubicBezTo>
                      <a:pt x="1118430" y="1020849"/>
                      <a:pt x="1094297" y="1031654"/>
                      <a:pt x="1067640" y="1031654"/>
                    </a:cubicBezTo>
                    <a:lnTo>
                      <a:pt x="102307" y="1031654"/>
                    </a:lnTo>
                    <a:cubicBezTo>
                      <a:pt x="88978" y="1031654"/>
                      <a:pt x="76281" y="1028953"/>
                      <a:pt x="64732" y="1024068"/>
                    </a:cubicBezTo>
                    <a:lnTo>
                      <a:pt x="59198" y="1020337"/>
                    </a:lnTo>
                    <a:lnTo>
                      <a:pt x="48283" y="1015422"/>
                    </a:lnTo>
                    <a:lnTo>
                      <a:pt x="36524" y="1005050"/>
                    </a:lnTo>
                    <a:lnTo>
                      <a:pt x="34048" y="1003380"/>
                    </a:lnTo>
                    <a:lnTo>
                      <a:pt x="33191" y="1002110"/>
                    </a:lnTo>
                    <a:lnTo>
                      <a:pt x="19535" y="990064"/>
                    </a:lnTo>
                    <a:cubicBezTo>
                      <a:pt x="-3144" y="960050"/>
                      <a:pt x="-7044" y="918183"/>
                      <a:pt x="12949" y="883555"/>
                    </a:cubicBezTo>
                    <a:lnTo>
                      <a:pt x="495615" y="47552"/>
                    </a:lnTo>
                    <a:cubicBezTo>
                      <a:pt x="502280" y="36009"/>
                      <a:pt x="510968" y="26364"/>
                      <a:pt x="520972" y="18805"/>
                    </a:cubicBezTo>
                    <a:lnTo>
                      <a:pt x="534039" y="12428"/>
                    </a:lnTo>
                    <a:lnTo>
                      <a:pt x="534278" y="12218"/>
                    </a:lnTo>
                    <a:lnTo>
                      <a:pt x="536772" y="11095"/>
                    </a:lnTo>
                    <a:lnTo>
                      <a:pt x="554231" y="2574"/>
                    </a:lnTo>
                    <a:lnTo>
                      <a:pt x="561466" y="2070"/>
                    </a:lnTo>
                    <a:lnTo>
                      <a:pt x="570612" y="0"/>
                    </a:lnTo>
                    <a:lnTo>
                      <a:pt x="580884" y="716"/>
                    </a:lnTo>
                    <a:lnTo>
                      <a:pt x="591149" y="1"/>
                    </a:lnTo>
                    <a:lnTo>
                      <a:pt x="600288" y="2070"/>
                    </a:lnTo>
                    <a:lnTo>
                      <a:pt x="607528" y="2574"/>
                    </a:lnTo>
                    <a:lnTo>
                      <a:pt x="625016" y="11107"/>
                    </a:lnTo>
                    <a:lnTo>
                      <a:pt x="627483" y="12218"/>
                    </a:lnTo>
                    <a:lnTo>
                      <a:pt x="627718" y="12426"/>
                    </a:lnTo>
                    <a:lnTo>
                      <a:pt x="640787" y="18804"/>
                    </a:lnTo>
                    <a:cubicBezTo>
                      <a:pt x="650792" y="26363"/>
                      <a:pt x="659480" y="36009"/>
                      <a:pt x="666144" y="47552"/>
                    </a:cubicBezTo>
                    <a:lnTo>
                      <a:pt x="1148811" y="883554"/>
                    </a:lnTo>
                    <a:lnTo>
                      <a:pt x="1150460" y="888458"/>
                    </a:lnTo>
                    <a:lnTo>
                      <a:pt x="1156587" y="897546"/>
                    </a:lnTo>
                    <a:cubicBezTo>
                      <a:pt x="1161472" y="909095"/>
                      <a:pt x="1164173" y="921792"/>
                      <a:pt x="1164173" y="935121"/>
                    </a:cubicBezTo>
                    <a:cubicBezTo>
                      <a:pt x="1164173" y="961778"/>
                      <a:pt x="1153368" y="985911"/>
                      <a:pt x="1135899" y="1003380"/>
                    </a:cubicBezTo>
                    <a:close/>
                  </a:path>
                </a:pathLst>
              </a:custGeom>
              <a:ln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anchor="ctr">
                <a:scene3d>
                  <a:camera prst="orthographicFront"/>
                  <a:lightRig rig="threePt" dir="t"/>
                </a:scene3d>
                <a:sp3d contourW="12700"/>
              </a:bodyPr>
              <a:lstStyle/>
              <a:p>
                <a:pPr algn="ctr">
                  <a:defRPr/>
                </a:pPr>
                <a:endParaRPr lang="zh-CN" altLang="en-US" sz="1400">
                  <a:latin typeface="Century Gothic" panose="020B0502020202020204" pitchFamily="34" charset="0"/>
                </a:endParaRPr>
              </a:p>
            </p:txBody>
          </p:sp>
          <p:cxnSp>
            <p:nvCxnSpPr>
              <p:cNvPr id="4" name="直接箭头连接符 3"/>
              <p:cNvCxnSpPr/>
              <p:nvPr/>
            </p:nvCxnSpPr>
            <p:spPr>
              <a:xfrm flipV="1">
                <a:off x="2494943" y="3002321"/>
                <a:ext cx="0" cy="504825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" name="文本框 5"/>
              <p:cNvSpPr txBox="1">
                <a:spLocks noChangeArrowheads="1"/>
              </p:cNvSpPr>
              <p:nvPr/>
            </p:nvSpPr>
            <p:spPr bwMode="auto">
              <a:xfrm>
                <a:off x="2531455" y="3975459"/>
                <a:ext cx="412292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FontTx/>
                  <a:buNone/>
                </a:pPr>
                <a:r>
                  <a:rPr lang="en-US" altLang="zh-CN" sz="1400" dirty="0">
                    <a:solidFill>
                      <a:schemeClr val="bg1"/>
                    </a:solidFill>
                    <a:latin typeface="Century Gothic" panose="020B0502020202020204" pitchFamily="34" charset="0"/>
                    <a:ea typeface="+mj-ea"/>
                  </a:rPr>
                  <a:t>01</a:t>
                </a:r>
                <a:endParaRPr lang="zh-CN" altLang="en-US" sz="1400" dirty="0">
                  <a:solidFill>
                    <a:schemeClr val="bg1"/>
                  </a:solidFill>
                  <a:latin typeface="Century Gothic" panose="020B0502020202020204" pitchFamily="34" charset="0"/>
                  <a:ea typeface="+mj-ea"/>
                </a:endParaRPr>
              </a:p>
            </p:txBody>
          </p:sp>
        </p:grpSp>
        <p:grpSp>
          <p:nvGrpSpPr>
            <p:cNvPr id="6" name="组合 5"/>
            <p:cNvGrpSpPr/>
            <p:nvPr/>
          </p:nvGrpSpPr>
          <p:grpSpPr>
            <a:xfrm>
              <a:off x="3607100" y="3072852"/>
              <a:ext cx="1346200" cy="1973262"/>
              <a:chOff x="3853843" y="3334109"/>
              <a:chExt cx="1346200" cy="1973262"/>
            </a:xfrm>
          </p:grpSpPr>
          <p:sp>
            <p:nvSpPr>
              <p:cNvPr id="7" name="任意多边形 6"/>
              <p:cNvSpPr/>
              <p:nvPr/>
            </p:nvSpPr>
            <p:spPr>
              <a:xfrm>
                <a:off x="3853843" y="3334109"/>
                <a:ext cx="1346200" cy="1446212"/>
              </a:xfrm>
              <a:custGeom>
                <a:avLst/>
                <a:gdLst>
                  <a:gd name="connsiteX0" fmla="*/ 170487 w 1345719"/>
                  <a:gd name="connsiteY0" fmla="*/ 1152570 h 1446325"/>
                  <a:gd name="connsiteX1" fmla="*/ 75237 w 1345719"/>
                  <a:gd name="connsiteY1" fmla="*/ 1245439 h 1446325"/>
                  <a:gd name="connsiteX2" fmla="*/ 170487 w 1345719"/>
                  <a:gd name="connsiteY2" fmla="*/ 1338308 h 1446325"/>
                  <a:gd name="connsiteX3" fmla="*/ 265737 w 1345719"/>
                  <a:gd name="connsiteY3" fmla="*/ 1245439 h 1446325"/>
                  <a:gd name="connsiteX4" fmla="*/ 170487 w 1345719"/>
                  <a:gd name="connsiteY4" fmla="*/ 1152570 h 1446325"/>
                  <a:gd name="connsiteX5" fmla="*/ 229941 w 1345719"/>
                  <a:gd name="connsiteY5" fmla="*/ 1457 h 1446325"/>
                  <a:gd name="connsiteX6" fmla="*/ 319553 w 1345719"/>
                  <a:gd name="connsiteY6" fmla="*/ 23145 h 1446325"/>
                  <a:gd name="connsiteX7" fmla="*/ 1292832 w 1345719"/>
                  <a:gd name="connsiteY7" fmla="*/ 733005 h 1446325"/>
                  <a:gd name="connsiteX8" fmla="*/ 1325137 w 1345719"/>
                  <a:gd name="connsiteY8" fmla="*/ 768284 h 1446325"/>
                  <a:gd name="connsiteX9" fmla="*/ 1327973 w 1345719"/>
                  <a:gd name="connsiteY9" fmla="*/ 776116 h 1446325"/>
                  <a:gd name="connsiteX10" fmla="*/ 1335364 w 1345719"/>
                  <a:gd name="connsiteY10" fmla="*/ 789097 h 1446325"/>
                  <a:gd name="connsiteX11" fmla="*/ 1339593 w 1345719"/>
                  <a:gd name="connsiteY11" fmla="*/ 808201 h 1446325"/>
                  <a:gd name="connsiteX12" fmla="*/ 1340862 w 1345719"/>
                  <a:gd name="connsiteY12" fmla="*/ 811706 h 1446325"/>
                  <a:gd name="connsiteX13" fmla="*/ 1340792 w 1345719"/>
                  <a:gd name="connsiteY13" fmla="*/ 813617 h 1446325"/>
                  <a:gd name="connsiteX14" fmla="*/ 1345702 w 1345719"/>
                  <a:gd name="connsiteY14" fmla="*/ 835803 h 1446325"/>
                  <a:gd name="connsiteX15" fmla="*/ 1274021 w 1345719"/>
                  <a:gd name="connsiteY15" fmla="*/ 948033 h 1446325"/>
                  <a:gd name="connsiteX16" fmla="*/ 172626 w 1345719"/>
                  <a:gd name="connsiteY16" fmla="*/ 1435987 h 1446325"/>
                  <a:gd name="connsiteX17" fmla="*/ 125921 w 1345719"/>
                  <a:gd name="connsiteY17" fmla="*/ 1446325 h 1446325"/>
                  <a:gd name="connsiteX18" fmla="*/ 108057 w 1345719"/>
                  <a:gd name="connsiteY18" fmla="*/ 1443146 h 1446325"/>
                  <a:gd name="connsiteX19" fmla="*/ 107662 w 1345719"/>
                  <a:gd name="connsiteY19" fmla="*/ 1443182 h 1446325"/>
                  <a:gd name="connsiteX20" fmla="*/ 104321 w 1345719"/>
                  <a:gd name="connsiteY20" fmla="*/ 1442479 h 1446325"/>
                  <a:gd name="connsiteX21" fmla="*/ 80452 w 1345719"/>
                  <a:gd name="connsiteY21" fmla="*/ 1438232 h 1446325"/>
                  <a:gd name="connsiteX22" fmla="*/ 72788 w 1345719"/>
                  <a:gd name="connsiteY22" fmla="*/ 1433421 h 1446325"/>
                  <a:gd name="connsiteX23" fmla="*/ 62044 w 1345719"/>
                  <a:gd name="connsiteY23" fmla="*/ 1428782 h 1446325"/>
                  <a:gd name="connsiteX24" fmla="*/ 52214 w 1345719"/>
                  <a:gd name="connsiteY24" fmla="*/ 1420507 h 1446325"/>
                  <a:gd name="connsiteX25" fmla="*/ 41338 w 1345719"/>
                  <a:gd name="connsiteY25" fmla="*/ 1413679 h 1446325"/>
                  <a:gd name="connsiteX26" fmla="*/ 33645 w 1345719"/>
                  <a:gd name="connsiteY26" fmla="*/ 1404872 h 1446325"/>
                  <a:gd name="connsiteX27" fmla="*/ 26716 w 1345719"/>
                  <a:gd name="connsiteY27" fmla="*/ 1399040 h 1446325"/>
                  <a:gd name="connsiteX28" fmla="*/ 15359 w 1345719"/>
                  <a:gd name="connsiteY28" fmla="*/ 1377578 h 1446325"/>
                  <a:gd name="connsiteX29" fmla="*/ 13689 w 1345719"/>
                  <a:gd name="connsiteY29" fmla="*/ 1374643 h 1446325"/>
                  <a:gd name="connsiteX30" fmla="*/ 13605 w 1345719"/>
                  <a:gd name="connsiteY30" fmla="*/ 1374261 h 1446325"/>
                  <a:gd name="connsiteX31" fmla="*/ 5119 w 1345719"/>
                  <a:gd name="connsiteY31" fmla="*/ 1358219 h 1446325"/>
                  <a:gd name="connsiteX32" fmla="*/ 693 w 1345719"/>
                  <a:gd name="connsiteY32" fmla="*/ 1310588 h 1446325"/>
                  <a:gd name="connsiteX33" fmla="*/ 25982 w 1345719"/>
                  <a:gd name="connsiteY33" fmla="*/ 1074146 h 1446325"/>
                  <a:gd name="connsiteX34" fmla="*/ 332057 w 1345719"/>
                  <a:gd name="connsiteY34" fmla="*/ 938546 h 1446325"/>
                  <a:gd name="connsiteX35" fmla="*/ 389498 w 1345719"/>
                  <a:gd name="connsiteY35" fmla="*/ 848612 h 1446325"/>
                  <a:gd name="connsiteX36" fmla="*/ 385563 w 1345719"/>
                  <a:gd name="connsiteY36" fmla="*/ 830832 h 1446325"/>
                  <a:gd name="connsiteX37" fmla="*/ 385619 w 1345719"/>
                  <a:gd name="connsiteY37" fmla="*/ 829301 h 1446325"/>
                  <a:gd name="connsiteX38" fmla="*/ 384602 w 1345719"/>
                  <a:gd name="connsiteY38" fmla="*/ 826493 h 1446325"/>
                  <a:gd name="connsiteX39" fmla="*/ 381214 w 1345719"/>
                  <a:gd name="connsiteY39" fmla="*/ 811184 h 1446325"/>
                  <a:gd name="connsiteX40" fmla="*/ 375291 w 1345719"/>
                  <a:gd name="connsiteY40" fmla="*/ 800781 h 1446325"/>
                  <a:gd name="connsiteX41" fmla="*/ 373019 w 1345719"/>
                  <a:gd name="connsiteY41" fmla="*/ 794506 h 1446325"/>
                  <a:gd name="connsiteX42" fmla="*/ 347131 w 1345719"/>
                  <a:gd name="connsiteY42" fmla="*/ 766235 h 1446325"/>
                  <a:gd name="connsiteX43" fmla="*/ 79772 w 1345719"/>
                  <a:gd name="connsiteY43" fmla="*/ 571237 h 1446325"/>
                  <a:gd name="connsiteX44" fmla="*/ 128808 w 1345719"/>
                  <a:gd name="connsiteY44" fmla="*/ 112775 h 1446325"/>
                  <a:gd name="connsiteX45" fmla="*/ 130751 w 1345719"/>
                  <a:gd name="connsiteY45" fmla="*/ 106618 h 1446325"/>
                  <a:gd name="connsiteX46" fmla="*/ 131257 w 1345719"/>
                  <a:gd name="connsiteY46" fmla="*/ 92950 h 1446325"/>
                  <a:gd name="connsiteX47" fmla="*/ 151240 w 1345719"/>
                  <a:gd name="connsiteY47" fmla="*/ 49487 h 1446325"/>
                  <a:gd name="connsiteX48" fmla="*/ 229941 w 1345719"/>
                  <a:gd name="connsiteY48" fmla="*/ 1457 h 1446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</a:cxnLst>
                <a:rect l="l" t="t" r="r" b="b"/>
                <a:pathLst>
                  <a:path w="1345719" h="1446325">
                    <a:moveTo>
                      <a:pt x="170487" y="1152570"/>
                    </a:moveTo>
                    <a:cubicBezTo>
                      <a:pt x="117882" y="1152570"/>
                      <a:pt x="75237" y="1194149"/>
                      <a:pt x="75237" y="1245439"/>
                    </a:cubicBezTo>
                    <a:cubicBezTo>
                      <a:pt x="75237" y="1296729"/>
                      <a:pt x="117882" y="1338308"/>
                      <a:pt x="170487" y="1338308"/>
                    </a:cubicBezTo>
                    <a:cubicBezTo>
                      <a:pt x="223092" y="1338308"/>
                      <a:pt x="265737" y="1296729"/>
                      <a:pt x="265737" y="1245439"/>
                    </a:cubicBezTo>
                    <a:cubicBezTo>
                      <a:pt x="265737" y="1194149"/>
                      <a:pt x="223092" y="1152570"/>
                      <a:pt x="170487" y="1152570"/>
                    </a:cubicBezTo>
                    <a:close/>
                    <a:moveTo>
                      <a:pt x="229941" y="1457"/>
                    </a:moveTo>
                    <a:cubicBezTo>
                      <a:pt x="260400" y="-3310"/>
                      <a:pt x="292677" y="3543"/>
                      <a:pt x="319553" y="23145"/>
                    </a:cubicBezTo>
                    <a:lnTo>
                      <a:pt x="1292832" y="733005"/>
                    </a:lnTo>
                    <a:cubicBezTo>
                      <a:pt x="1306271" y="742807"/>
                      <a:pt x="1317086" y="754866"/>
                      <a:pt x="1325137" y="768284"/>
                    </a:cubicBezTo>
                    <a:lnTo>
                      <a:pt x="1327973" y="776116"/>
                    </a:lnTo>
                    <a:lnTo>
                      <a:pt x="1335364" y="789097"/>
                    </a:lnTo>
                    <a:lnTo>
                      <a:pt x="1339593" y="808201"/>
                    </a:lnTo>
                    <a:lnTo>
                      <a:pt x="1340862" y="811706"/>
                    </a:lnTo>
                    <a:lnTo>
                      <a:pt x="1340792" y="813617"/>
                    </a:lnTo>
                    <a:lnTo>
                      <a:pt x="1345702" y="835803"/>
                    </a:lnTo>
                    <a:cubicBezTo>
                      <a:pt x="1346497" y="882742"/>
                      <a:pt x="1319642" y="927821"/>
                      <a:pt x="1274021" y="948033"/>
                    </a:cubicBezTo>
                    <a:lnTo>
                      <a:pt x="172626" y="1435987"/>
                    </a:lnTo>
                    <a:cubicBezTo>
                      <a:pt x="157418" y="1442724"/>
                      <a:pt x="141565" y="1446060"/>
                      <a:pt x="125921" y="1446325"/>
                    </a:cubicBezTo>
                    <a:lnTo>
                      <a:pt x="108057" y="1443146"/>
                    </a:lnTo>
                    <a:lnTo>
                      <a:pt x="107662" y="1443182"/>
                    </a:lnTo>
                    <a:lnTo>
                      <a:pt x="104321" y="1442479"/>
                    </a:lnTo>
                    <a:lnTo>
                      <a:pt x="80452" y="1438232"/>
                    </a:lnTo>
                    <a:lnTo>
                      <a:pt x="72788" y="1433421"/>
                    </a:lnTo>
                    <a:lnTo>
                      <a:pt x="62044" y="1428782"/>
                    </a:lnTo>
                    <a:lnTo>
                      <a:pt x="52214" y="1420507"/>
                    </a:lnTo>
                    <a:lnTo>
                      <a:pt x="41338" y="1413679"/>
                    </a:lnTo>
                    <a:lnTo>
                      <a:pt x="33645" y="1404872"/>
                    </a:lnTo>
                    <a:lnTo>
                      <a:pt x="26716" y="1399040"/>
                    </a:lnTo>
                    <a:lnTo>
                      <a:pt x="15359" y="1377578"/>
                    </a:lnTo>
                    <a:lnTo>
                      <a:pt x="13689" y="1374643"/>
                    </a:lnTo>
                    <a:lnTo>
                      <a:pt x="13605" y="1374261"/>
                    </a:lnTo>
                    <a:lnTo>
                      <a:pt x="5119" y="1358219"/>
                    </a:lnTo>
                    <a:cubicBezTo>
                      <a:pt x="590" y="1343241"/>
                      <a:pt x="-1076" y="1327127"/>
                      <a:pt x="693" y="1310588"/>
                    </a:cubicBezTo>
                    <a:lnTo>
                      <a:pt x="25982" y="1074146"/>
                    </a:lnTo>
                    <a:lnTo>
                      <a:pt x="332057" y="938546"/>
                    </a:lnTo>
                    <a:cubicBezTo>
                      <a:pt x="368615" y="922349"/>
                      <a:pt x="390135" y="886225"/>
                      <a:pt x="389498" y="848612"/>
                    </a:cubicBezTo>
                    <a:lnTo>
                      <a:pt x="385563" y="830832"/>
                    </a:lnTo>
                    <a:lnTo>
                      <a:pt x="385619" y="829301"/>
                    </a:lnTo>
                    <a:lnTo>
                      <a:pt x="384602" y="826493"/>
                    </a:lnTo>
                    <a:lnTo>
                      <a:pt x="381214" y="811184"/>
                    </a:lnTo>
                    <a:lnTo>
                      <a:pt x="375291" y="800781"/>
                    </a:lnTo>
                    <a:lnTo>
                      <a:pt x="373019" y="794506"/>
                    </a:lnTo>
                    <a:cubicBezTo>
                      <a:pt x="366567" y="783753"/>
                      <a:pt x="357900" y="774089"/>
                      <a:pt x="347131" y="766235"/>
                    </a:cubicBezTo>
                    <a:lnTo>
                      <a:pt x="79772" y="571237"/>
                    </a:lnTo>
                    <a:lnTo>
                      <a:pt x="128808" y="112775"/>
                    </a:lnTo>
                    <a:lnTo>
                      <a:pt x="130751" y="106618"/>
                    </a:lnTo>
                    <a:lnTo>
                      <a:pt x="131257" y="92950"/>
                    </a:lnTo>
                    <a:cubicBezTo>
                      <a:pt x="134825" y="77714"/>
                      <a:pt x="141438" y="62926"/>
                      <a:pt x="151240" y="49487"/>
                    </a:cubicBezTo>
                    <a:cubicBezTo>
                      <a:pt x="170842" y="22611"/>
                      <a:pt x="199482" y="6225"/>
                      <a:pt x="229941" y="1457"/>
                    </a:cubicBezTo>
                    <a:close/>
                  </a:path>
                </a:pathLst>
              </a:custGeom>
              <a:ln/>
            </p:spPr>
            <p:style>
              <a:lnRef idx="1">
                <a:schemeClr val="accent5"/>
              </a:lnRef>
              <a:fillRef idx="3">
                <a:schemeClr val="accent5"/>
              </a:fillRef>
              <a:effectRef idx="2">
                <a:schemeClr val="accent5"/>
              </a:effectRef>
              <a:fontRef idx="minor">
                <a:schemeClr val="lt1"/>
              </a:fontRef>
            </p:style>
            <p:txBody>
              <a:bodyPr anchor="ctr">
                <a:scene3d>
                  <a:camera prst="orthographicFront"/>
                  <a:lightRig rig="threePt" dir="t"/>
                </a:scene3d>
                <a:sp3d contourW="12700"/>
              </a:bodyPr>
              <a:lstStyle/>
              <a:p>
                <a:pPr algn="ctr">
                  <a:defRPr/>
                </a:pPr>
                <a:endParaRPr lang="zh-CN" altLang="en-US" sz="1400">
                  <a:latin typeface="Century Gothic" panose="020B0502020202020204" pitchFamily="34" charset="0"/>
                </a:endParaRPr>
              </a:p>
            </p:txBody>
          </p:sp>
          <p:cxnSp>
            <p:nvCxnSpPr>
              <p:cNvPr id="8" name="直接箭头连接符 7"/>
              <p:cNvCxnSpPr/>
              <p:nvPr/>
            </p:nvCxnSpPr>
            <p:spPr>
              <a:xfrm>
                <a:off x="3999893" y="4780321"/>
                <a:ext cx="0" cy="527050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文本框 6"/>
              <p:cNvSpPr txBox="1">
                <a:spLocks noChangeArrowheads="1"/>
              </p:cNvSpPr>
              <p:nvPr/>
            </p:nvSpPr>
            <p:spPr bwMode="auto">
              <a:xfrm>
                <a:off x="4379305" y="3945296"/>
                <a:ext cx="44114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FontTx/>
                  <a:buNone/>
                </a:pPr>
                <a:r>
                  <a:rPr lang="en-US" altLang="zh-CN" sz="1600" dirty="0">
                    <a:solidFill>
                      <a:schemeClr val="bg1"/>
                    </a:solidFill>
                    <a:latin typeface="Century Gothic" panose="020B0502020202020204" pitchFamily="34" charset="0"/>
                    <a:ea typeface="+mj-ea"/>
                  </a:rPr>
                  <a:t>02</a:t>
                </a:r>
                <a:endParaRPr lang="zh-CN" altLang="en-US" sz="1600" dirty="0">
                  <a:solidFill>
                    <a:schemeClr val="bg1"/>
                  </a:solidFill>
                  <a:latin typeface="Century Gothic" panose="020B0502020202020204" pitchFamily="34" charset="0"/>
                  <a:ea typeface="+mj-ea"/>
                </a:endParaRPr>
              </a:p>
            </p:txBody>
          </p:sp>
        </p:grpSp>
        <p:grpSp>
          <p:nvGrpSpPr>
            <p:cNvPr id="10" name="组合 9"/>
            <p:cNvGrpSpPr/>
            <p:nvPr/>
          </p:nvGrpSpPr>
          <p:grpSpPr>
            <a:xfrm>
              <a:off x="5105700" y="2560089"/>
              <a:ext cx="1452562" cy="2057400"/>
              <a:chOff x="5352443" y="2821346"/>
              <a:chExt cx="1452562" cy="2057400"/>
            </a:xfrm>
          </p:grpSpPr>
          <p:sp>
            <p:nvSpPr>
              <p:cNvPr id="11" name="任意多边形 10"/>
              <p:cNvSpPr/>
              <p:nvPr/>
            </p:nvSpPr>
            <p:spPr>
              <a:xfrm rot="12966304">
                <a:off x="5352443" y="3591284"/>
                <a:ext cx="1452562" cy="1287462"/>
              </a:xfrm>
              <a:custGeom>
                <a:avLst/>
                <a:gdLst>
                  <a:gd name="connsiteX0" fmla="*/ 1313889 w 1452780"/>
                  <a:gd name="connsiteY0" fmla="*/ 1200911 h 1287408"/>
                  <a:gd name="connsiteX1" fmla="*/ 1334084 w 1452780"/>
                  <a:gd name="connsiteY1" fmla="*/ 1071881 h 1287408"/>
                  <a:gd name="connsiteX2" fmla="*/ 1205053 w 1452780"/>
                  <a:gd name="connsiteY2" fmla="*/ 1051687 h 1287408"/>
                  <a:gd name="connsiteX3" fmla="*/ 1184859 w 1452780"/>
                  <a:gd name="connsiteY3" fmla="*/ 1180717 h 1287408"/>
                  <a:gd name="connsiteX4" fmla="*/ 1313889 w 1452780"/>
                  <a:gd name="connsiteY4" fmla="*/ 1200911 h 1287408"/>
                  <a:gd name="connsiteX5" fmla="*/ 1417497 w 1452780"/>
                  <a:gd name="connsiteY5" fmla="*/ 1252125 h 1287408"/>
                  <a:gd name="connsiteX6" fmla="*/ 1332316 w 1452780"/>
                  <a:gd name="connsiteY6" fmla="*/ 1287408 h 1287408"/>
                  <a:gd name="connsiteX7" fmla="*/ 127670 w 1452780"/>
                  <a:gd name="connsiteY7" fmla="*/ 1287408 h 1287408"/>
                  <a:gd name="connsiteX8" fmla="*/ 80780 w 1452780"/>
                  <a:gd name="connsiteY8" fmla="*/ 1277941 h 1287408"/>
                  <a:gd name="connsiteX9" fmla="*/ 73874 w 1452780"/>
                  <a:gd name="connsiteY9" fmla="*/ 1273285 h 1287408"/>
                  <a:gd name="connsiteX10" fmla="*/ 60253 w 1452780"/>
                  <a:gd name="connsiteY10" fmla="*/ 1267152 h 1287408"/>
                  <a:gd name="connsiteX11" fmla="*/ 45579 w 1452780"/>
                  <a:gd name="connsiteY11" fmla="*/ 1254209 h 1287408"/>
                  <a:gd name="connsiteX12" fmla="*/ 42489 w 1452780"/>
                  <a:gd name="connsiteY12" fmla="*/ 1252125 h 1287408"/>
                  <a:gd name="connsiteX13" fmla="*/ 41419 w 1452780"/>
                  <a:gd name="connsiteY13" fmla="*/ 1250540 h 1287408"/>
                  <a:gd name="connsiteX14" fmla="*/ 24378 w 1452780"/>
                  <a:gd name="connsiteY14" fmla="*/ 1235508 h 1287408"/>
                  <a:gd name="connsiteX15" fmla="*/ 16159 w 1452780"/>
                  <a:gd name="connsiteY15" fmla="*/ 1102594 h 1287408"/>
                  <a:gd name="connsiteX16" fmla="*/ 618482 w 1452780"/>
                  <a:gd name="connsiteY16" fmla="*/ 59341 h 1287408"/>
                  <a:gd name="connsiteX17" fmla="*/ 650125 w 1452780"/>
                  <a:gd name="connsiteY17" fmla="*/ 23467 h 1287408"/>
                  <a:gd name="connsiteX18" fmla="*/ 666431 w 1452780"/>
                  <a:gd name="connsiteY18" fmla="*/ 15509 h 1287408"/>
                  <a:gd name="connsiteX19" fmla="*/ 666729 w 1452780"/>
                  <a:gd name="connsiteY19" fmla="*/ 15247 h 1287408"/>
                  <a:gd name="connsiteX20" fmla="*/ 669842 w 1452780"/>
                  <a:gd name="connsiteY20" fmla="*/ 13846 h 1287408"/>
                  <a:gd name="connsiteX21" fmla="*/ 691629 w 1452780"/>
                  <a:gd name="connsiteY21" fmla="*/ 3212 h 1287408"/>
                  <a:gd name="connsiteX22" fmla="*/ 700657 w 1452780"/>
                  <a:gd name="connsiteY22" fmla="*/ 2583 h 1287408"/>
                  <a:gd name="connsiteX23" fmla="*/ 712071 w 1452780"/>
                  <a:gd name="connsiteY23" fmla="*/ 0 h 1287408"/>
                  <a:gd name="connsiteX24" fmla="*/ 724889 w 1452780"/>
                  <a:gd name="connsiteY24" fmla="*/ 893 h 1287408"/>
                  <a:gd name="connsiteX25" fmla="*/ 737699 w 1452780"/>
                  <a:gd name="connsiteY25" fmla="*/ 1 h 1287408"/>
                  <a:gd name="connsiteX26" fmla="*/ 749104 w 1452780"/>
                  <a:gd name="connsiteY26" fmla="*/ 2583 h 1287408"/>
                  <a:gd name="connsiteX27" fmla="*/ 758139 w 1452780"/>
                  <a:gd name="connsiteY27" fmla="*/ 3212 h 1287408"/>
                  <a:gd name="connsiteX28" fmla="*/ 779962 w 1452780"/>
                  <a:gd name="connsiteY28" fmla="*/ 13860 h 1287408"/>
                  <a:gd name="connsiteX29" fmla="*/ 783041 w 1452780"/>
                  <a:gd name="connsiteY29" fmla="*/ 15247 h 1287408"/>
                  <a:gd name="connsiteX30" fmla="*/ 783334 w 1452780"/>
                  <a:gd name="connsiteY30" fmla="*/ 15506 h 1287408"/>
                  <a:gd name="connsiteX31" fmla="*/ 799643 w 1452780"/>
                  <a:gd name="connsiteY31" fmla="*/ 23466 h 1287408"/>
                  <a:gd name="connsiteX32" fmla="*/ 831286 w 1452780"/>
                  <a:gd name="connsiteY32" fmla="*/ 59341 h 1287408"/>
                  <a:gd name="connsiteX33" fmla="*/ 950182 w 1452780"/>
                  <a:gd name="connsiteY33" fmla="*/ 265273 h 1287408"/>
                  <a:gd name="connsiteX34" fmla="*/ 782798 w 1452780"/>
                  <a:gd name="connsiteY34" fmla="*/ 555190 h 1287408"/>
                  <a:gd name="connsiteX35" fmla="*/ 789384 w 1452780"/>
                  <a:gd name="connsiteY35" fmla="*/ 661699 h 1287408"/>
                  <a:gd name="connsiteX36" fmla="*/ 803040 w 1452780"/>
                  <a:gd name="connsiteY36" fmla="*/ 673745 h 1287408"/>
                  <a:gd name="connsiteX37" fmla="*/ 803897 w 1452780"/>
                  <a:gd name="connsiteY37" fmla="*/ 675015 h 1287408"/>
                  <a:gd name="connsiteX38" fmla="*/ 806373 w 1452780"/>
                  <a:gd name="connsiteY38" fmla="*/ 676685 h 1287408"/>
                  <a:gd name="connsiteX39" fmla="*/ 818132 w 1452780"/>
                  <a:gd name="connsiteY39" fmla="*/ 687057 h 1287408"/>
                  <a:gd name="connsiteX40" fmla="*/ 829047 w 1452780"/>
                  <a:gd name="connsiteY40" fmla="*/ 691972 h 1287408"/>
                  <a:gd name="connsiteX41" fmla="*/ 834581 w 1452780"/>
                  <a:gd name="connsiteY41" fmla="*/ 695703 h 1287408"/>
                  <a:gd name="connsiteX42" fmla="*/ 872156 w 1452780"/>
                  <a:gd name="connsiteY42" fmla="*/ 703289 h 1287408"/>
                  <a:gd name="connsiteX43" fmla="*/ 1203071 w 1452780"/>
                  <a:gd name="connsiteY43" fmla="*/ 703289 h 1287408"/>
                  <a:gd name="connsiteX44" fmla="*/ 1433610 w 1452780"/>
                  <a:gd name="connsiteY44" fmla="*/ 1102593 h 1287408"/>
                  <a:gd name="connsiteX45" fmla="*/ 1435668 w 1452780"/>
                  <a:gd name="connsiteY45" fmla="*/ 1108713 h 1287408"/>
                  <a:gd name="connsiteX46" fmla="*/ 1443313 w 1452780"/>
                  <a:gd name="connsiteY46" fmla="*/ 1120054 h 1287408"/>
                  <a:gd name="connsiteX47" fmla="*/ 1452780 w 1452780"/>
                  <a:gd name="connsiteY47" fmla="*/ 1166944 h 1287408"/>
                  <a:gd name="connsiteX48" fmla="*/ 1417497 w 1452780"/>
                  <a:gd name="connsiteY48" fmla="*/ 1252125 h 12874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</a:cxnLst>
                <a:rect l="l" t="t" r="r" b="b"/>
                <a:pathLst>
                  <a:path w="1452780" h="1287408">
                    <a:moveTo>
                      <a:pt x="1313889" y="1200911"/>
                    </a:moveTo>
                    <a:cubicBezTo>
                      <a:pt x="1355097" y="1170856"/>
                      <a:pt x="1364139" y="1113088"/>
                      <a:pt x="1334084" y="1071881"/>
                    </a:cubicBezTo>
                    <a:cubicBezTo>
                      <a:pt x="1304030" y="1030674"/>
                      <a:pt x="1246260" y="1021633"/>
                      <a:pt x="1205053" y="1051687"/>
                    </a:cubicBezTo>
                    <a:cubicBezTo>
                      <a:pt x="1163846" y="1081742"/>
                      <a:pt x="1154805" y="1139510"/>
                      <a:pt x="1184859" y="1180717"/>
                    </a:cubicBezTo>
                    <a:cubicBezTo>
                      <a:pt x="1214914" y="1221924"/>
                      <a:pt x="1272682" y="1230965"/>
                      <a:pt x="1313889" y="1200911"/>
                    </a:cubicBezTo>
                    <a:close/>
                    <a:moveTo>
                      <a:pt x="1417497" y="1252125"/>
                    </a:moveTo>
                    <a:cubicBezTo>
                      <a:pt x="1395697" y="1273925"/>
                      <a:pt x="1365581" y="1287408"/>
                      <a:pt x="1332316" y="1287408"/>
                    </a:cubicBezTo>
                    <a:lnTo>
                      <a:pt x="127670" y="1287408"/>
                    </a:lnTo>
                    <a:cubicBezTo>
                      <a:pt x="111036" y="1287408"/>
                      <a:pt x="95192" y="1284038"/>
                      <a:pt x="80780" y="1277941"/>
                    </a:cubicBezTo>
                    <a:lnTo>
                      <a:pt x="73874" y="1273285"/>
                    </a:lnTo>
                    <a:lnTo>
                      <a:pt x="60253" y="1267152"/>
                    </a:lnTo>
                    <a:lnTo>
                      <a:pt x="45579" y="1254209"/>
                    </a:lnTo>
                    <a:lnTo>
                      <a:pt x="42489" y="1252125"/>
                    </a:lnTo>
                    <a:lnTo>
                      <a:pt x="41419" y="1250540"/>
                    </a:lnTo>
                    <a:lnTo>
                      <a:pt x="24378" y="1235508"/>
                    </a:lnTo>
                    <a:cubicBezTo>
                      <a:pt x="-3923" y="1198053"/>
                      <a:pt x="-8790" y="1145807"/>
                      <a:pt x="16159" y="1102594"/>
                    </a:cubicBezTo>
                    <a:lnTo>
                      <a:pt x="618482" y="59341"/>
                    </a:lnTo>
                    <a:cubicBezTo>
                      <a:pt x="626799" y="44936"/>
                      <a:pt x="637641" y="32900"/>
                      <a:pt x="650125" y="23467"/>
                    </a:cubicBezTo>
                    <a:lnTo>
                      <a:pt x="666431" y="15509"/>
                    </a:lnTo>
                    <a:lnTo>
                      <a:pt x="666729" y="15247"/>
                    </a:lnTo>
                    <a:lnTo>
                      <a:pt x="669842" y="13846"/>
                    </a:lnTo>
                    <a:lnTo>
                      <a:pt x="691629" y="3212"/>
                    </a:lnTo>
                    <a:lnTo>
                      <a:pt x="700657" y="2583"/>
                    </a:lnTo>
                    <a:lnTo>
                      <a:pt x="712071" y="0"/>
                    </a:lnTo>
                    <a:lnTo>
                      <a:pt x="724889" y="893"/>
                    </a:lnTo>
                    <a:lnTo>
                      <a:pt x="737699" y="1"/>
                    </a:lnTo>
                    <a:lnTo>
                      <a:pt x="749104" y="2583"/>
                    </a:lnTo>
                    <a:lnTo>
                      <a:pt x="758139" y="3212"/>
                    </a:lnTo>
                    <a:lnTo>
                      <a:pt x="779962" y="13860"/>
                    </a:lnTo>
                    <a:lnTo>
                      <a:pt x="783041" y="15247"/>
                    </a:lnTo>
                    <a:lnTo>
                      <a:pt x="783334" y="15506"/>
                    </a:lnTo>
                    <a:lnTo>
                      <a:pt x="799643" y="23466"/>
                    </a:lnTo>
                    <a:cubicBezTo>
                      <a:pt x="812128" y="32899"/>
                      <a:pt x="822970" y="44936"/>
                      <a:pt x="831286" y="59341"/>
                    </a:cubicBezTo>
                    <a:lnTo>
                      <a:pt x="950182" y="265273"/>
                    </a:lnTo>
                    <a:lnTo>
                      <a:pt x="782798" y="555190"/>
                    </a:lnTo>
                    <a:cubicBezTo>
                      <a:pt x="762805" y="589818"/>
                      <a:pt x="766705" y="631685"/>
                      <a:pt x="789384" y="661699"/>
                    </a:cubicBezTo>
                    <a:lnTo>
                      <a:pt x="803040" y="673745"/>
                    </a:lnTo>
                    <a:lnTo>
                      <a:pt x="803897" y="675015"/>
                    </a:lnTo>
                    <a:lnTo>
                      <a:pt x="806373" y="676685"/>
                    </a:lnTo>
                    <a:lnTo>
                      <a:pt x="818132" y="687057"/>
                    </a:lnTo>
                    <a:lnTo>
                      <a:pt x="829047" y="691972"/>
                    </a:lnTo>
                    <a:lnTo>
                      <a:pt x="834581" y="695703"/>
                    </a:lnTo>
                    <a:cubicBezTo>
                      <a:pt x="846130" y="700588"/>
                      <a:pt x="858827" y="703289"/>
                      <a:pt x="872156" y="703289"/>
                    </a:cubicBezTo>
                    <a:lnTo>
                      <a:pt x="1203071" y="703289"/>
                    </a:lnTo>
                    <a:lnTo>
                      <a:pt x="1433610" y="1102593"/>
                    </a:lnTo>
                    <a:lnTo>
                      <a:pt x="1435668" y="1108713"/>
                    </a:lnTo>
                    <a:lnTo>
                      <a:pt x="1443313" y="1120054"/>
                    </a:lnTo>
                    <a:cubicBezTo>
                      <a:pt x="1449409" y="1134466"/>
                      <a:pt x="1452780" y="1150311"/>
                      <a:pt x="1452780" y="1166944"/>
                    </a:cubicBezTo>
                    <a:cubicBezTo>
                      <a:pt x="1452780" y="1200209"/>
                      <a:pt x="1439296" y="1230325"/>
                      <a:pt x="1417497" y="1252125"/>
                    </a:cubicBezTo>
                    <a:close/>
                  </a:path>
                </a:pathLst>
              </a:custGeom>
              <a:ln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anchor="ctr">
                <a:scene3d>
                  <a:camera prst="orthographicFront"/>
                  <a:lightRig rig="threePt" dir="t"/>
                </a:scene3d>
                <a:sp3d contourW="12700"/>
              </a:bodyPr>
              <a:lstStyle/>
              <a:p>
                <a:pPr algn="ctr">
                  <a:defRPr/>
                </a:pPr>
                <a:endParaRPr lang="zh-CN" altLang="en-US" sz="1400">
                  <a:latin typeface="Century Gothic" panose="020B0502020202020204" pitchFamily="34" charset="0"/>
                </a:endParaRPr>
              </a:p>
            </p:txBody>
          </p:sp>
          <p:cxnSp>
            <p:nvCxnSpPr>
              <p:cNvPr id="12" name="直接箭头连接符 11"/>
              <p:cNvCxnSpPr/>
              <p:nvPr/>
            </p:nvCxnSpPr>
            <p:spPr>
              <a:xfrm flipV="1">
                <a:off x="5914418" y="2821346"/>
                <a:ext cx="0" cy="504825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文本框 7"/>
              <p:cNvSpPr txBox="1">
                <a:spLocks noChangeArrowheads="1"/>
              </p:cNvSpPr>
              <p:nvPr/>
            </p:nvSpPr>
            <p:spPr bwMode="auto">
              <a:xfrm>
                <a:off x="6143018" y="3913546"/>
                <a:ext cx="475903" cy="3984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FontTx/>
                  <a:buNone/>
                </a:pPr>
                <a:r>
                  <a:rPr lang="en-US" altLang="zh-CN" sz="1800" dirty="0">
                    <a:solidFill>
                      <a:schemeClr val="bg1"/>
                    </a:solidFill>
                    <a:latin typeface="Century Gothic" panose="020B0502020202020204" pitchFamily="34" charset="0"/>
                    <a:ea typeface="+mj-ea"/>
                  </a:rPr>
                  <a:t>03</a:t>
                </a:r>
                <a:endParaRPr lang="zh-CN" altLang="en-US" sz="1800" dirty="0">
                  <a:solidFill>
                    <a:schemeClr val="bg1"/>
                  </a:solidFill>
                  <a:latin typeface="Century Gothic" panose="020B0502020202020204" pitchFamily="34" charset="0"/>
                  <a:ea typeface="+mj-ea"/>
                </a:endParaRPr>
              </a:p>
            </p:txBody>
          </p:sp>
        </p:grpSp>
        <p:grpSp>
          <p:nvGrpSpPr>
            <p:cNvPr id="14" name="组合 13"/>
            <p:cNvGrpSpPr/>
            <p:nvPr/>
          </p:nvGrpSpPr>
          <p:grpSpPr>
            <a:xfrm>
              <a:off x="7198025" y="3072852"/>
              <a:ext cx="1344612" cy="2112962"/>
              <a:chOff x="7444768" y="3334109"/>
              <a:chExt cx="1344612" cy="2112962"/>
            </a:xfrm>
          </p:grpSpPr>
          <p:sp>
            <p:nvSpPr>
              <p:cNvPr id="15" name="任意多边形 14"/>
              <p:cNvSpPr/>
              <p:nvPr/>
            </p:nvSpPr>
            <p:spPr>
              <a:xfrm>
                <a:off x="7444768" y="3334109"/>
                <a:ext cx="1344612" cy="1446212"/>
              </a:xfrm>
              <a:custGeom>
                <a:avLst/>
                <a:gdLst>
                  <a:gd name="connsiteX0" fmla="*/ 174959 w 1345719"/>
                  <a:gd name="connsiteY0" fmla="*/ 1164949 h 1446325"/>
                  <a:gd name="connsiteX1" fmla="*/ 77328 w 1345719"/>
                  <a:gd name="connsiteY1" fmla="*/ 1262580 h 1446325"/>
                  <a:gd name="connsiteX2" fmla="*/ 174959 w 1345719"/>
                  <a:gd name="connsiteY2" fmla="*/ 1360211 h 1446325"/>
                  <a:gd name="connsiteX3" fmla="*/ 272590 w 1345719"/>
                  <a:gd name="connsiteY3" fmla="*/ 1262580 h 1446325"/>
                  <a:gd name="connsiteX4" fmla="*/ 174959 w 1345719"/>
                  <a:gd name="connsiteY4" fmla="*/ 1164949 h 1446325"/>
                  <a:gd name="connsiteX5" fmla="*/ 229941 w 1345719"/>
                  <a:gd name="connsiteY5" fmla="*/ 1457 h 1446325"/>
                  <a:gd name="connsiteX6" fmla="*/ 319553 w 1345719"/>
                  <a:gd name="connsiteY6" fmla="*/ 23145 h 1446325"/>
                  <a:gd name="connsiteX7" fmla="*/ 1292832 w 1345719"/>
                  <a:gd name="connsiteY7" fmla="*/ 733005 h 1446325"/>
                  <a:gd name="connsiteX8" fmla="*/ 1325137 w 1345719"/>
                  <a:gd name="connsiteY8" fmla="*/ 768284 h 1446325"/>
                  <a:gd name="connsiteX9" fmla="*/ 1327973 w 1345719"/>
                  <a:gd name="connsiteY9" fmla="*/ 776116 h 1446325"/>
                  <a:gd name="connsiteX10" fmla="*/ 1335364 w 1345719"/>
                  <a:gd name="connsiteY10" fmla="*/ 789097 h 1446325"/>
                  <a:gd name="connsiteX11" fmla="*/ 1339593 w 1345719"/>
                  <a:gd name="connsiteY11" fmla="*/ 808201 h 1446325"/>
                  <a:gd name="connsiteX12" fmla="*/ 1340862 w 1345719"/>
                  <a:gd name="connsiteY12" fmla="*/ 811706 h 1446325"/>
                  <a:gd name="connsiteX13" fmla="*/ 1340792 w 1345719"/>
                  <a:gd name="connsiteY13" fmla="*/ 813617 h 1446325"/>
                  <a:gd name="connsiteX14" fmla="*/ 1345702 w 1345719"/>
                  <a:gd name="connsiteY14" fmla="*/ 835803 h 1446325"/>
                  <a:gd name="connsiteX15" fmla="*/ 1274021 w 1345719"/>
                  <a:gd name="connsiteY15" fmla="*/ 948033 h 1446325"/>
                  <a:gd name="connsiteX16" fmla="*/ 172626 w 1345719"/>
                  <a:gd name="connsiteY16" fmla="*/ 1435987 h 1446325"/>
                  <a:gd name="connsiteX17" fmla="*/ 125920 w 1345719"/>
                  <a:gd name="connsiteY17" fmla="*/ 1446325 h 1446325"/>
                  <a:gd name="connsiteX18" fmla="*/ 108057 w 1345719"/>
                  <a:gd name="connsiteY18" fmla="*/ 1443146 h 1446325"/>
                  <a:gd name="connsiteX19" fmla="*/ 107662 w 1345719"/>
                  <a:gd name="connsiteY19" fmla="*/ 1443182 h 1446325"/>
                  <a:gd name="connsiteX20" fmla="*/ 104321 w 1345719"/>
                  <a:gd name="connsiteY20" fmla="*/ 1442479 h 1446325"/>
                  <a:gd name="connsiteX21" fmla="*/ 80452 w 1345719"/>
                  <a:gd name="connsiteY21" fmla="*/ 1438232 h 1446325"/>
                  <a:gd name="connsiteX22" fmla="*/ 72787 w 1345719"/>
                  <a:gd name="connsiteY22" fmla="*/ 1433421 h 1446325"/>
                  <a:gd name="connsiteX23" fmla="*/ 62044 w 1345719"/>
                  <a:gd name="connsiteY23" fmla="*/ 1428782 h 1446325"/>
                  <a:gd name="connsiteX24" fmla="*/ 52214 w 1345719"/>
                  <a:gd name="connsiteY24" fmla="*/ 1420507 h 1446325"/>
                  <a:gd name="connsiteX25" fmla="*/ 41338 w 1345719"/>
                  <a:gd name="connsiteY25" fmla="*/ 1413679 h 1446325"/>
                  <a:gd name="connsiteX26" fmla="*/ 33645 w 1345719"/>
                  <a:gd name="connsiteY26" fmla="*/ 1404872 h 1446325"/>
                  <a:gd name="connsiteX27" fmla="*/ 26716 w 1345719"/>
                  <a:gd name="connsiteY27" fmla="*/ 1399040 h 1446325"/>
                  <a:gd name="connsiteX28" fmla="*/ 15359 w 1345719"/>
                  <a:gd name="connsiteY28" fmla="*/ 1377578 h 1446325"/>
                  <a:gd name="connsiteX29" fmla="*/ 13689 w 1345719"/>
                  <a:gd name="connsiteY29" fmla="*/ 1374643 h 1446325"/>
                  <a:gd name="connsiteX30" fmla="*/ 13605 w 1345719"/>
                  <a:gd name="connsiteY30" fmla="*/ 1374261 h 1446325"/>
                  <a:gd name="connsiteX31" fmla="*/ 5119 w 1345719"/>
                  <a:gd name="connsiteY31" fmla="*/ 1358219 h 1446325"/>
                  <a:gd name="connsiteX32" fmla="*/ 693 w 1345719"/>
                  <a:gd name="connsiteY32" fmla="*/ 1310588 h 1446325"/>
                  <a:gd name="connsiteX33" fmla="*/ 25982 w 1345719"/>
                  <a:gd name="connsiteY33" fmla="*/ 1074146 h 1446325"/>
                  <a:gd name="connsiteX34" fmla="*/ 332057 w 1345719"/>
                  <a:gd name="connsiteY34" fmla="*/ 938546 h 1446325"/>
                  <a:gd name="connsiteX35" fmla="*/ 389498 w 1345719"/>
                  <a:gd name="connsiteY35" fmla="*/ 848612 h 1446325"/>
                  <a:gd name="connsiteX36" fmla="*/ 385563 w 1345719"/>
                  <a:gd name="connsiteY36" fmla="*/ 830832 h 1446325"/>
                  <a:gd name="connsiteX37" fmla="*/ 385619 w 1345719"/>
                  <a:gd name="connsiteY37" fmla="*/ 829301 h 1446325"/>
                  <a:gd name="connsiteX38" fmla="*/ 384603 w 1345719"/>
                  <a:gd name="connsiteY38" fmla="*/ 826493 h 1446325"/>
                  <a:gd name="connsiteX39" fmla="*/ 381214 w 1345719"/>
                  <a:gd name="connsiteY39" fmla="*/ 811184 h 1446325"/>
                  <a:gd name="connsiteX40" fmla="*/ 375292 w 1345719"/>
                  <a:gd name="connsiteY40" fmla="*/ 800781 h 1446325"/>
                  <a:gd name="connsiteX41" fmla="*/ 373019 w 1345719"/>
                  <a:gd name="connsiteY41" fmla="*/ 794506 h 1446325"/>
                  <a:gd name="connsiteX42" fmla="*/ 347131 w 1345719"/>
                  <a:gd name="connsiteY42" fmla="*/ 766235 h 1446325"/>
                  <a:gd name="connsiteX43" fmla="*/ 79772 w 1345719"/>
                  <a:gd name="connsiteY43" fmla="*/ 571237 h 1446325"/>
                  <a:gd name="connsiteX44" fmla="*/ 128808 w 1345719"/>
                  <a:gd name="connsiteY44" fmla="*/ 112775 h 1446325"/>
                  <a:gd name="connsiteX45" fmla="*/ 130751 w 1345719"/>
                  <a:gd name="connsiteY45" fmla="*/ 106618 h 1446325"/>
                  <a:gd name="connsiteX46" fmla="*/ 131257 w 1345719"/>
                  <a:gd name="connsiteY46" fmla="*/ 92950 h 1446325"/>
                  <a:gd name="connsiteX47" fmla="*/ 151240 w 1345719"/>
                  <a:gd name="connsiteY47" fmla="*/ 49487 h 1446325"/>
                  <a:gd name="connsiteX48" fmla="*/ 229941 w 1345719"/>
                  <a:gd name="connsiteY48" fmla="*/ 1457 h 1446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</a:cxnLst>
                <a:rect l="l" t="t" r="r" b="b"/>
                <a:pathLst>
                  <a:path w="1345719" h="1446325">
                    <a:moveTo>
                      <a:pt x="174959" y="1164949"/>
                    </a:moveTo>
                    <a:cubicBezTo>
                      <a:pt x="121039" y="1164949"/>
                      <a:pt x="77328" y="1208660"/>
                      <a:pt x="77328" y="1262580"/>
                    </a:cubicBezTo>
                    <a:cubicBezTo>
                      <a:pt x="77328" y="1316500"/>
                      <a:pt x="121039" y="1360211"/>
                      <a:pt x="174959" y="1360211"/>
                    </a:cubicBezTo>
                    <a:cubicBezTo>
                      <a:pt x="228879" y="1360211"/>
                      <a:pt x="272590" y="1316500"/>
                      <a:pt x="272590" y="1262580"/>
                    </a:cubicBezTo>
                    <a:cubicBezTo>
                      <a:pt x="272590" y="1208660"/>
                      <a:pt x="228879" y="1164949"/>
                      <a:pt x="174959" y="1164949"/>
                    </a:cubicBezTo>
                    <a:close/>
                    <a:moveTo>
                      <a:pt x="229941" y="1457"/>
                    </a:moveTo>
                    <a:cubicBezTo>
                      <a:pt x="260400" y="-3310"/>
                      <a:pt x="292677" y="3543"/>
                      <a:pt x="319553" y="23145"/>
                    </a:cubicBezTo>
                    <a:lnTo>
                      <a:pt x="1292832" y="733005"/>
                    </a:lnTo>
                    <a:cubicBezTo>
                      <a:pt x="1306271" y="742807"/>
                      <a:pt x="1317086" y="754866"/>
                      <a:pt x="1325137" y="768284"/>
                    </a:cubicBezTo>
                    <a:lnTo>
                      <a:pt x="1327973" y="776116"/>
                    </a:lnTo>
                    <a:lnTo>
                      <a:pt x="1335364" y="789097"/>
                    </a:lnTo>
                    <a:lnTo>
                      <a:pt x="1339593" y="808201"/>
                    </a:lnTo>
                    <a:lnTo>
                      <a:pt x="1340862" y="811706"/>
                    </a:lnTo>
                    <a:lnTo>
                      <a:pt x="1340792" y="813617"/>
                    </a:lnTo>
                    <a:lnTo>
                      <a:pt x="1345702" y="835803"/>
                    </a:lnTo>
                    <a:cubicBezTo>
                      <a:pt x="1346497" y="882742"/>
                      <a:pt x="1319642" y="927821"/>
                      <a:pt x="1274021" y="948033"/>
                    </a:cubicBezTo>
                    <a:lnTo>
                      <a:pt x="172626" y="1435987"/>
                    </a:lnTo>
                    <a:cubicBezTo>
                      <a:pt x="157418" y="1442724"/>
                      <a:pt x="141565" y="1446060"/>
                      <a:pt x="125920" y="1446325"/>
                    </a:cubicBezTo>
                    <a:lnTo>
                      <a:pt x="108057" y="1443146"/>
                    </a:lnTo>
                    <a:lnTo>
                      <a:pt x="107662" y="1443182"/>
                    </a:lnTo>
                    <a:lnTo>
                      <a:pt x="104321" y="1442479"/>
                    </a:lnTo>
                    <a:lnTo>
                      <a:pt x="80452" y="1438232"/>
                    </a:lnTo>
                    <a:lnTo>
                      <a:pt x="72787" y="1433421"/>
                    </a:lnTo>
                    <a:lnTo>
                      <a:pt x="62044" y="1428782"/>
                    </a:lnTo>
                    <a:lnTo>
                      <a:pt x="52214" y="1420507"/>
                    </a:lnTo>
                    <a:lnTo>
                      <a:pt x="41338" y="1413679"/>
                    </a:lnTo>
                    <a:lnTo>
                      <a:pt x="33645" y="1404872"/>
                    </a:lnTo>
                    <a:lnTo>
                      <a:pt x="26716" y="1399040"/>
                    </a:lnTo>
                    <a:lnTo>
                      <a:pt x="15359" y="1377578"/>
                    </a:lnTo>
                    <a:lnTo>
                      <a:pt x="13689" y="1374643"/>
                    </a:lnTo>
                    <a:lnTo>
                      <a:pt x="13605" y="1374261"/>
                    </a:lnTo>
                    <a:lnTo>
                      <a:pt x="5119" y="1358219"/>
                    </a:lnTo>
                    <a:cubicBezTo>
                      <a:pt x="590" y="1343241"/>
                      <a:pt x="-1077" y="1327127"/>
                      <a:pt x="693" y="1310588"/>
                    </a:cubicBezTo>
                    <a:lnTo>
                      <a:pt x="25982" y="1074146"/>
                    </a:lnTo>
                    <a:lnTo>
                      <a:pt x="332057" y="938546"/>
                    </a:lnTo>
                    <a:cubicBezTo>
                      <a:pt x="368615" y="922349"/>
                      <a:pt x="390135" y="886225"/>
                      <a:pt x="389498" y="848612"/>
                    </a:cubicBezTo>
                    <a:lnTo>
                      <a:pt x="385563" y="830832"/>
                    </a:lnTo>
                    <a:lnTo>
                      <a:pt x="385619" y="829301"/>
                    </a:lnTo>
                    <a:lnTo>
                      <a:pt x="384603" y="826493"/>
                    </a:lnTo>
                    <a:lnTo>
                      <a:pt x="381214" y="811184"/>
                    </a:lnTo>
                    <a:lnTo>
                      <a:pt x="375292" y="800781"/>
                    </a:lnTo>
                    <a:lnTo>
                      <a:pt x="373019" y="794506"/>
                    </a:lnTo>
                    <a:cubicBezTo>
                      <a:pt x="366567" y="783753"/>
                      <a:pt x="357900" y="774089"/>
                      <a:pt x="347131" y="766235"/>
                    </a:cubicBezTo>
                    <a:lnTo>
                      <a:pt x="79772" y="571237"/>
                    </a:lnTo>
                    <a:lnTo>
                      <a:pt x="128808" y="112775"/>
                    </a:lnTo>
                    <a:lnTo>
                      <a:pt x="130751" y="106618"/>
                    </a:lnTo>
                    <a:lnTo>
                      <a:pt x="131257" y="92950"/>
                    </a:lnTo>
                    <a:cubicBezTo>
                      <a:pt x="134825" y="77714"/>
                      <a:pt x="141438" y="62926"/>
                      <a:pt x="151240" y="49487"/>
                    </a:cubicBezTo>
                    <a:cubicBezTo>
                      <a:pt x="170842" y="22611"/>
                      <a:pt x="199482" y="6225"/>
                      <a:pt x="229941" y="1457"/>
                    </a:cubicBezTo>
                    <a:close/>
                  </a:path>
                </a:pathLst>
              </a:custGeom>
              <a:ln/>
            </p:spPr>
            <p:style>
              <a:lnRef idx="1">
                <a:schemeClr val="accent3"/>
              </a:lnRef>
              <a:fillRef idx="3">
                <a:schemeClr val="accent3"/>
              </a:fillRef>
              <a:effectRef idx="2">
                <a:schemeClr val="accent3"/>
              </a:effectRef>
              <a:fontRef idx="minor">
                <a:schemeClr val="lt1"/>
              </a:fontRef>
            </p:style>
            <p:txBody>
              <a:bodyPr anchor="ctr">
                <a:scene3d>
                  <a:camera prst="orthographicFront"/>
                  <a:lightRig rig="threePt" dir="t"/>
                </a:scene3d>
                <a:sp3d contourW="12700"/>
              </a:bodyPr>
              <a:lstStyle/>
              <a:p>
                <a:pPr algn="ctr">
                  <a:defRPr/>
                </a:pPr>
                <a:endParaRPr lang="zh-CN" altLang="en-US" sz="1400">
                  <a:latin typeface="Century Gothic" panose="020B0502020202020204" pitchFamily="34" charset="0"/>
                </a:endParaRPr>
              </a:p>
            </p:txBody>
          </p:sp>
          <p:cxnSp>
            <p:nvCxnSpPr>
              <p:cNvPr id="16" name="直接箭头连接符 15"/>
              <p:cNvCxnSpPr/>
              <p:nvPr/>
            </p:nvCxnSpPr>
            <p:spPr>
              <a:xfrm>
                <a:off x="7574943" y="4780321"/>
                <a:ext cx="4762" cy="666750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文本框 8"/>
              <p:cNvSpPr txBox="1">
                <a:spLocks noChangeArrowheads="1"/>
              </p:cNvSpPr>
              <p:nvPr/>
            </p:nvSpPr>
            <p:spPr bwMode="auto">
              <a:xfrm>
                <a:off x="7886093" y="3883385"/>
                <a:ext cx="507030" cy="4316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FontTx/>
                  <a:buNone/>
                </a:pPr>
                <a:r>
                  <a:rPr lang="en-US" altLang="zh-CN" sz="2000" dirty="0">
                    <a:solidFill>
                      <a:schemeClr val="bg1"/>
                    </a:solidFill>
                    <a:latin typeface="Century Gothic" panose="020B0502020202020204" pitchFamily="34" charset="0"/>
                    <a:ea typeface="+mj-ea"/>
                  </a:rPr>
                  <a:t>04</a:t>
                </a:r>
                <a:endParaRPr lang="zh-CN" altLang="en-US" sz="2000">
                  <a:solidFill>
                    <a:schemeClr val="bg1"/>
                  </a:solidFill>
                  <a:latin typeface="Century Gothic" panose="020B0502020202020204" pitchFamily="34" charset="0"/>
                  <a:ea typeface="+mj-ea"/>
                </a:endParaRPr>
              </a:p>
            </p:txBody>
          </p:sp>
        </p:grpSp>
      </p:grpSp>
      <p:grpSp>
        <p:nvGrpSpPr>
          <p:cNvPr id="23" name="组合 22"/>
          <p:cNvGrpSpPr/>
          <p:nvPr/>
        </p:nvGrpSpPr>
        <p:grpSpPr>
          <a:xfrm>
            <a:off x="1190050" y="1530667"/>
            <a:ext cx="3168098" cy="1068606"/>
            <a:chOff x="7483989" y="3375179"/>
            <a:chExt cx="2910662" cy="1068606"/>
          </a:xfrm>
        </p:grpSpPr>
        <p:sp>
          <p:nvSpPr>
            <p:cNvPr id="24" name="矩形 23"/>
            <p:cNvSpPr/>
            <p:nvPr/>
          </p:nvSpPr>
          <p:spPr>
            <a:xfrm>
              <a:off x="7483989" y="3761547"/>
              <a:ext cx="2910662" cy="682238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ES" altLang="zh-CN" sz="1100" dirty="0">
                  <a:latin typeface="Century Gothic" panose="020B0502020202020204" pitchFamily="34" charset="0"/>
                </a:rPr>
                <a:t>El sistema funciona operativamente pero está mal controlado. Nivel de madurez medio-bajo (3.1/5).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25" name="矩形 24"/>
            <p:cNvSpPr/>
            <p:nvPr/>
          </p:nvSpPr>
          <p:spPr>
            <a:xfrm>
              <a:off x="7483989" y="3375179"/>
              <a:ext cx="2050552" cy="39568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Primera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26" name="组合 25"/>
          <p:cNvGrpSpPr/>
          <p:nvPr/>
        </p:nvGrpSpPr>
        <p:grpSpPr>
          <a:xfrm>
            <a:off x="5758415" y="1430089"/>
            <a:ext cx="3168098" cy="865474"/>
            <a:chOff x="7483989" y="3375179"/>
            <a:chExt cx="2910662" cy="865474"/>
          </a:xfrm>
        </p:grpSpPr>
        <p:sp>
          <p:nvSpPr>
            <p:cNvPr id="27" name="矩形 26"/>
            <p:cNvSpPr/>
            <p:nvPr/>
          </p:nvSpPr>
          <p:spPr>
            <a:xfrm>
              <a:off x="7483989" y="3761547"/>
              <a:ext cx="2910662" cy="47910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ES" altLang="zh-CN" sz="1100" dirty="0">
                  <a:latin typeface="Century Gothic" panose="020B0502020202020204" pitchFamily="34" charset="0"/>
                </a:rPr>
                <a:t>Dos riesgos CRÍTICOS y cuatro ALTOS identificados.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>
              <a:off x="7483989" y="3375179"/>
              <a:ext cx="2050552" cy="39568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Tercera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4017925" y="4619000"/>
            <a:ext cx="3168098" cy="1068606"/>
            <a:chOff x="7483989" y="3375179"/>
            <a:chExt cx="2910662" cy="1068606"/>
          </a:xfrm>
        </p:grpSpPr>
        <p:sp>
          <p:nvSpPr>
            <p:cNvPr id="33" name="矩形 32"/>
            <p:cNvSpPr/>
            <p:nvPr/>
          </p:nvSpPr>
          <p:spPr>
            <a:xfrm>
              <a:off x="7483989" y="3761547"/>
              <a:ext cx="2910662" cy="682238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ES" altLang="zh-CN" sz="1100" dirty="0">
                  <a:latin typeface="Century Gothic" panose="020B0502020202020204" pitchFamily="34" charset="0"/>
                </a:rPr>
                <a:t>Estructura vertical excesiva, TI no es independiente y no hay segregación de funciones.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7483989" y="3375179"/>
              <a:ext cx="2050552" cy="39568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Segunda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7325876" y="4744273"/>
            <a:ext cx="3168098" cy="1068606"/>
            <a:chOff x="7483989" y="3375179"/>
            <a:chExt cx="2910662" cy="1068606"/>
          </a:xfrm>
        </p:grpSpPr>
        <p:sp>
          <p:nvSpPr>
            <p:cNvPr id="36" name="矩形 35"/>
            <p:cNvSpPr/>
            <p:nvPr/>
          </p:nvSpPr>
          <p:spPr>
            <a:xfrm>
              <a:off x="7483989" y="3761547"/>
              <a:ext cx="2910662" cy="682238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ES" altLang="zh-CN" sz="1100" dirty="0">
                  <a:latin typeface="Century Gothic" panose="020B0502020202020204" pitchFamily="34" charset="0"/>
                </a:rPr>
                <a:t>Equipo TI con debilidades críticas. Administrador BD sin acreditar. Sin experiencia en farmacia mayorista.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7483989" y="3375179"/>
              <a:ext cx="2050552" cy="39568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Cuarta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sp>
        <p:nvSpPr>
          <p:cNvPr id="44" name="矩形 43">
            <a:extLst>
              <a:ext uri="{FF2B5EF4-FFF2-40B4-BE49-F238E27FC236}">
                <a16:creationId xmlns:a16="http://schemas.microsoft.com/office/drawing/2014/main" id="{B4B21C19-99EF-44A1-89B2-0B5B185506CC}"/>
              </a:ext>
            </a:extLst>
          </p:cNvPr>
          <p:cNvSpPr/>
          <p:nvPr/>
        </p:nvSpPr>
        <p:spPr>
          <a:xfrm>
            <a:off x="1377422" y="205759"/>
            <a:ext cx="5190344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Conclusiones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26302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/>
          <p:cNvGrpSpPr/>
          <p:nvPr/>
        </p:nvGrpSpPr>
        <p:grpSpPr>
          <a:xfrm>
            <a:off x="2618429" y="2305376"/>
            <a:ext cx="5322629" cy="2690010"/>
            <a:chOff x="5105700" y="2283864"/>
            <a:chExt cx="5741987" cy="2901950"/>
          </a:xfrm>
        </p:grpSpPr>
        <p:grpSp>
          <p:nvGrpSpPr>
            <p:cNvPr id="10" name="组合 9"/>
            <p:cNvGrpSpPr/>
            <p:nvPr/>
          </p:nvGrpSpPr>
          <p:grpSpPr>
            <a:xfrm>
              <a:off x="5105700" y="2560089"/>
              <a:ext cx="1452562" cy="2057400"/>
              <a:chOff x="5352443" y="2821346"/>
              <a:chExt cx="1452562" cy="2057400"/>
            </a:xfrm>
          </p:grpSpPr>
          <p:sp>
            <p:nvSpPr>
              <p:cNvPr id="11" name="任意多边形 10"/>
              <p:cNvSpPr/>
              <p:nvPr/>
            </p:nvSpPr>
            <p:spPr>
              <a:xfrm rot="12966304">
                <a:off x="5352443" y="3591284"/>
                <a:ext cx="1452562" cy="1287462"/>
              </a:xfrm>
              <a:custGeom>
                <a:avLst/>
                <a:gdLst>
                  <a:gd name="connsiteX0" fmla="*/ 1313889 w 1452780"/>
                  <a:gd name="connsiteY0" fmla="*/ 1200911 h 1287408"/>
                  <a:gd name="connsiteX1" fmla="*/ 1334084 w 1452780"/>
                  <a:gd name="connsiteY1" fmla="*/ 1071881 h 1287408"/>
                  <a:gd name="connsiteX2" fmla="*/ 1205053 w 1452780"/>
                  <a:gd name="connsiteY2" fmla="*/ 1051687 h 1287408"/>
                  <a:gd name="connsiteX3" fmla="*/ 1184859 w 1452780"/>
                  <a:gd name="connsiteY3" fmla="*/ 1180717 h 1287408"/>
                  <a:gd name="connsiteX4" fmla="*/ 1313889 w 1452780"/>
                  <a:gd name="connsiteY4" fmla="*/ 1200911 h 1287408"/>
                  <a:gd name="connsiteX5" fmla="*/ 1417497 w 1452780"/>
                  <a:gd name="connsiteY5" fmla="*/ 1252125 h 1287408"/>
                  <a:gd name="connsiteX6" fmla="*/ 1332316 w 1452780"/>
                  <a:gd name="connsiteY6" fmla="*/ 1287408 h 1287408"/>
                  <a:gd name="connsiteX7" fmla="*/ 127670 w 1452780"/>
                  <a:gd name="connsiteY7" fmla="*/ 1287408 h 1287408"/>
                  <a:gd name="connsiteX8" fmla="*/ 80780 w 1452780"/>
                  <a:gd name="connsiteY8" fmla="*/ 1277941 h 1287408"/>
                  <a:gd name="connsiteX9" fmla="*/ 73874 w 1452780"/>
                  <a:gd name="connsiteY9" fmla="*/ 1273285 h 1287408"/>
                  <a:gd name="connsiteX10" fmla="*/ 60253 w 1452780"/>
                  <a:gd name="connsiteY10" fmla="*/ 1267152 h 1287408"/>
                  <a:gd name="connsiteX11" fmla="*/ 45579 w 1452780"/>
                  <a:gd name="connsiteY11" fmla="*/ 1254209 h 1287408"/>
                  <a:gd name="connsiteX12" fmla="*/ 42489 w 1452780"/>
                  <a:gd name="connsiteY12" fmla="*/ 1252125 h 1287408"/>
                  <a:gd name="connsiteX13" fmla="*/ 41419 w 1452780"/>
                  <a:gd name="connsiteY13" fmla="*/ 1250540 h 1287408"/>
                  <a:gd name="connsiteX14" fmla="*/ 24378 w 1452780"/>
                  <a:gd name="connsiteY14" fmla="*/ 1235508 h 1287408"/>
                  <a:gd name="connsiteX15" fmla="*/ 16159 w 1452780"/>
                  <a:gd name="connsiteY15" fmla="*/ 1102594 h 1287408"/>
                  <a:gd name="connsiteX16" fmla="*/ 618482 w 1452780"/>
                  <a:gd name="connsiteY16" fmla="*/ 59341 h 1287408"/>
                  <a:gd name="connsiteX17" fmla="*/ 650125 w 1452780"/>
                  <a:gd name="connsiteY17" fmla="*/ 23467 h 1287408"/>
                  <a:gd name="connsiteX18" fmla="*/ 666431 w 1452780"/>
                  <a:gd name="connsiteY18" fmla="*/ 15509 h 1287408"/>
                  <a:gd name="connsiteX19" fmla="*/ 666729 w 1452780"/>
                  <a:gd name="connsiteY19" fmla="*/ 15247 h 1287408"/>
                  <a:gd name="connsiteX20" fmla="*/ 669842 w 1452780"/>
                  <a:gd name="connsiteY20" fmla="*/ 13846 h 1287408"/>
                  <a:gd name="connsiteX21" fmla="*/ 691629 w 1452780"/>
                  <a:gd name="connsiteY21" fmla="*/ 3212 h 1287408"/>
                  <a:gd name="connsiteX22" fmla="*/ 700657 w 1452780"/>
                  <a:gd name="connsiteY22" fmla="*/ 2583 h 1287408"/>
                  <a:gd name="connsiteX23" fmla="*/ 712071 w 1452780"/>
                  <a:gd name="connsiteY23" fmla="*/ 0 h 1287408"/>
                  <a:gd name="connsiteX24" fmla="*/ 724889 w 1452780"/>
                  <a:gd name="connsiteY24" fmla="*/ 893 h 1287408"/>
                  <a:gd name="connsiteX25" fmla="*/ 737699 w 1452780"/>
                  <a:gd name="connsiteY25" fmla="*/ 1 h 1287408"/>
                  <a:gd name="connsiteX26" fmla="*/ 749104 w 1452780"/>
                  <a:gd name="connsiteY26" fmla="*/ 2583 h 1287408"/>
                  <a:gd name="connsiteX27" fmla="*/ 758139 w 1452780"/>
                  <a:gd name="connsiteY27" fmla="*/ 3212 h 1287408"/>
                  <a:gd name="connsiteX28" fmla="*/ 779962 w 1452780"/>
                  <a:gd name="connsiteY28" fmla="*/ 13860 h 1287408"/>
                  <a:gd name="connsiteX29" fmla="*/ 783041 w 1452780"/>
                  <a:gd name="connsiteY29" fmla="*/ 15247 h 1287408"/>
                  <a:gd name="connsiteX30" fmla="*/ 783334 w 1452780"/>
                  <a:gd name="connsiteY30" fmla="*/ 15506 h 1287408"/>
                  <a:gd name="connsiteX31" fmla="*/ 799643 w 1452780"/>
                  <a:gd name="connsiteY31" fmla="*/ 23466 h 1287408"/>
                  <a:gd name="connsiteX32" fmla="*/ 831286 w 1452780"/>
                  <a:gd name="connsiteY32" fmla="*/ 59341 h 1287408"/>
                  <a:gd name="connsiteX33" fmla="*/ 950182 w 1452780"/>
                  <a:gd name="connsiteY33" fmla="*/ 265273 h 1287408"/>
                  <a:gd name="connsiteX34" fmla="*/ 782798 w 1452780"/>
                  <a:gd name="connsiteY34" fmla="*/ 555190 h 1287408"/>
                  <a:gd name="connsiteX35" fmla="*/ 789384 w 1452780"/>
                  <a:gd name="connsiteY35" fmla="*/ 661699 h 1287408"/>
                  <a:gd name="connsiteX36" fmla="*/ 803040 w 1452780"/>
                  <a:gd name="connsiteY36" fmla="*/ 673745 h 1287408"/>
                  <a:gd name="connsiteX37" fmla="*/ 803897 w 1452780"/>
                  <a:gd name="connsiteY37" fmla="*/ 675015 h 1287408"/>
                  <a:gd name="connsiteX38" fmla="*/ 806373 w 1452780"/>
                  <a:gd name="connsiteY38" fmla="*/ 676685 h 1287408"/>
                  <a:gd name="connsiteX39" fmla="*/ 818132 w 1452780"/>
                  <a:gd name="connsiteY39" fmla="*/ 687057 h 1287408"/>
                  <a:gd name="connsiteX40" fmla="*/ 829047 w 1452780"/>
                  <a:gd name="connsiteY40" fmla="*/ 691972 h 1287408"/>
                  <a:gd name="connsiteX41" fmla="*/ 834581 w 1452780"/>
                  <a:gd name="connsiteY41" fmla="*/ 695703 h 1287408"/>
                  <a:gd name="connsiteX42" fmla="*/ 872156 w 1452780"/>
                  <a:gd name="connsiteY42" fmla="*/ 703289 h 1287408"/>
                  <a:gd name="connsiteX43" fmla="*/ 1203071 w 1452780"/>
                  <a:gd name="connsiteY43" fmla="*/ 703289 h 1287408"/>
                  <a:gd name="connsiteX44" fmla="*/ 1433610 w 1452780"/>
                  <a:gd name="connsiteY44" fmla="*/ 1102593 h 1287408"/>
                  <a:gd name="connsiteX45" fmla="*/ 1435668 w 1452780"/>
                  <a:gd name="connsiteY45" fmla="*/ 1108713 h 1287408"/>
                  <a:gd name="connsiteX46" fmla="*/ 1443313 w 1452780"/>
                  <a:gd name="connsiteY46" fmla="*/ 1120054 h 1287408"/>
                  <a:gd name="connsiteX47" fmla="*/ 1452780 w 1452780"/>
                  <a:gd name="connsiteY47" fmla="*/ 1166944 h 1287408"/>
                  <a:gd name="connsiteX48" fmla="*/ 1417497 w 1452780"/>
                  <a:gd name="connsiteY48" fmla="*/ 1252125 h 12874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</a:cxnLst>
                <a:rect l="l" t="t" r="r" b="b"/>
                <a:pathLst>
                  <a:path w="1452780" h="1287408">
                    <a:moveTo>
                      <a:pt x="1313889" y="1200911"/>
                    </a:moveTo>
                    <a:cubicBezTo>
                      <a:pt x="1355097" y="1170856"/>
                      <a:pt x="1364139" y="1113088"/>
                      <a:pt x="1334084" y="1071881"/>
                    </a:cubicBezTo>
                    <a:cubicBezTo>
                      <a:pt x="1304030" y="1030674"/>
                      <a:pt x="1246260" y="1021633"/>
                      <a:pt x="1205053" y="1051687"/>
                    </a:cubicBezTo>
                    <a:cubicBezTo>
                      <a:pt x="1163846" y="1081742"/>
                      <a:pt x="1154805" y="1139510"/>
                      <a:pt x="1184859" y="1180717"/>
                    </a:cubicBezTo>
                    <a:cubicBezTo>
                      <a:pt x="1214914" y="1221924"/>
                      <a:pt x="1272682" y="1230965"/>
                      <a:pt x="1313889" y="1200911"/>
                    </a:cubicBezTo>
                    <a:close/>
                    <a:moveTo>
                      <a:pt x="1417497" y="1252125"/>
                    </a:moveTo>
                    <a:cubicBezTo>
                      <a:pt x="1395697" y="1273925"/>
                      <a:pt x="1365581" y="1287408"/>
                      <a:pt x="1332316" y="1287408"/>
                    </a:cubicBezTo>
                    <a:lnTo>
                      <a:pt x="127670" y="1287408"/>
                    </a:lnTo>
                    <a:cubicBezTo>
                      <a:pt x="111036" y="1287408"/>
                      <a:pt x="95192" y="1284038"/>
                      <a:pt x="80780" y="1277941"/>
                    </a:cubicBezTo>
                    <a:lnTo>
                      <a:pt x="73874" y="1273285"/>
                    </a:lnTo>
                    <a:lnTo>
                      <a:pt x="60253" y="1267152"/>
                    </a:lnTo>
                    <a:lnTo>
                      <a:pt x="45579" y="1254209"/>
                    </a:lnTo>
                    <a:lnTo>
                      <a:pt x="42489" y="1252125"/>
                    </a:lnTo>
                    <a:lnTo>
                      <a:pt x="41419" y="1250540"/>
                    </a:lnTo>
                    <a:lnTo>
                      <a:pt x="24378" y="1235508"/>
                    </a:lnTo>
                    <a:cubicBezTo>
                      <a:pt x="-3923" y="1198053"/>
                      <a:pt x="-8790" y="1145807"/>
                      <a:pt x="16159" y="1102594"/>
                    </a:cubicBezTo>
                    <a:lnTo>
                      <a:pt x="618482" y="59341"/>
                    </a:lnTo>
                    <a:cubicBezTo>
                      <a:pt x="626799" y="44936"/>
                      <a:pt x="637641" y="32900"/>
                      <a:pt x="650125" y="23467"/>
                    </a:cubicBezTo>
                    <a:lnTo>
                      <a:pt x="666431" y="15509"/>
                    </a:lnTo>
                    <a:lnTo>
                      <a:pt x="666729" y="15247"/>
                    </a:lnTo>
                    <a:lnTo>
                      <a:pt x="669842" y="13846"/>
                    </a:lnTo>
                    <a:lnTo>
                      <a:pt x="691629" y="3212"/>
                    </a:lnTo>
                    <a:lnTo>
                      <a:pt x="700657" y="2583"/>
                    </a:lnTo>
                    <a:lnTo>
                      <a:pt x="712071" y="0"/>
                    </a:lnTo>
                    <a:lnTo>
                      <a:pt x="724889" y="893"/>
                    </a:lnTo>
                    <a:lnTo>
                      <a:pt x="737699" y="1"/>
                    </a:lnTo>
                    <a:lnTo>
                      <a:pt x="749104" y="2583"/>
                    </a:lnTo>
                    <a:lnTo>
                      <a:pt x="758139" y="3212"/>
                    </a:lnTo>
                    <a:lnTo>
                      <a:pt x="779962" y="13860"/>
                    </a:lnTo>
                    <a:lnTo>
                      <a:pt x="783041" y="15247"/>
                    </a:lnTo>
                    <a:lnTo>
                      <a:pt x="783334" y="15506"/>
                    </a:lnTo>
                    <a:lnTo>
                      <a:pt x="799643" y="23466"/>
                    </a:lnTo>
                    <a:cubicBezTo>
                      <a:pt x="812128" y="32899"/>
                      <a:pt x="822970" y="44936"/>
                      <a:pt x="831286" y="59341"/>
                    </a:cubicBezTo>
                    <a:lnTo>
                      <a:pt x="950182" y="265273"/>
                    </a:lnTo>
                    <a:lnTo>
                      <a:pt x="782798" y="555190"/>
                    </a:lnTo>
                    <a:cubicBezTo>
                      <a:pt x="762805" y="589818"/>
                      <a:pt x="766705" y="631685"/>
                      <a:pt x="789384" y="661699"/>
                    </a:cubicBezTo>
                    <a:lnTo>
                      <a:pt x="803040" y="673745"/>
                    </a:lnTo>
                    <a:lnTo>
                      <a:pt x="803897" y="675015"/>
                    </a:lnTo>
                    <a:lnTo>
                      <a:pt x="806373" y="676685"/>
                    </a:lnTo>
                    <a:lnTo>
                      <a:pt x="818132" y="687057"/>
                    </a:lnTo>
                    <a:lnTo>
                      <a:pt x="829047" y="691972"/>
                    </a:lnTo>
                    <a:lnTo>
                      <a:pt x="834581" y="695703"/>
                    </a:lnTo>
                    <a:cubicBezTo>
                      <a:pt x="846130" y="700588"/>
                      <a:pt x="858827" y="703289"/>
                      <a:pt x="872156" y="703289"/>
                    </a:cubicBezTo>
                    <a:lnTo>
                      <a:pt x="1203071" y="703289"/>
                    </a:lnTo>
                    <a:lnTo>
                      <a:pt x="1433610" y="1102593"/>
                    </a:lnTo>
                    <a:lnTo>
                      <a:pt x="1435668" y="1108713"/>
                    </a:lnTo>
                    <a:lnTo>
                      <a:pt x="1443313" y="1120054"/>
                    </a:lnTo>
                    <a:cubicBezTo>
                      <a:pt x="1449409" y="1134466"/>
                      <a:pt x="1452780" y="1150311"/>
                      <a:pt x="1452780" y="1166944"/>
                    </a:cubicBezTo>
                    <a:cubicBezTo>
                      <a:pt x="1452780" y="1200209"/>
                      <a:pt x="1439296" y="1230325"/>
                      <a:pt x="1417497" y="1252125"/>
                    </a:cubicBezTo>
                    <a:close/>
                  </a:path>
                </a:pathLst>
              </a:custGeom>
              <a:ln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anchor="ctr">
                <a:scene3d>
                  <a:camera prst="orthographicFront"/>
                  <a:lightRig rig="threePt" dir="t"/>
                </a:scene3d>
                <a:sp3d contourW="12700"/>
              </a:bodyPr>
              <a:lstStyle/>
              <a:p>
                <a:pPr algn="ctr">
                  <a:defRPr/>
                </a:pPr>
                <a:endParaRPr lang="zh-CN" altLang="en-US" sz="1400">
                  <a:latin typeface="Century Gothic" panose="020B0502020202020204" pitchFamily="34" charset="0"/>
                </a:endParaRPr>
              </a:p>
            </p:txBody>
          </p:sp>
          <p:cxnSp>
            <p:nvCxnSpPr>
              <p:cNvPr id="12" name="直接箭头连接符 11"/>
              <p:cNvCxnSpPr/>
              <p:nvPr/>
            </p:nvCxnSpPr>
            <p:spPr>
              <a:xfrm flipV="1">
                <a:off x="5914418" y="2821346"/>
                <a:ext cx="0" cy="504825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文本框 7"/>
              <p:cNvSpPr txBox="1">
                <a:spLocks noChangeArrowheads="1"/>
              </p:cNvSpPr>
              <p:nvPr/>
            </p:nvSpPr>
            <p:spPr bwMode="auto">
              <a:xfrm>
                <a:off x="6143018" y="3913546"/>
                <a:ext cx="475903" cy="3984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FontTx/>
                  <a:buNone/>
                </a:pPr>
                <a:r>
                  <a:rPr lang="en-US" altLang="zh-CN" sz="1800" dirty="0">
                    <a:solidFill>
                      <a:schemeClr val="bg1"/>
                    </a:solidFill>
                    <a:latin typeface="Century Gothic" panose="020B0502020202020204" pitchFamily="34" charset="0"/>
                    <a:ea typeface="+mj-ea"/>
                  </a:rPr>
                  <a:t>05</a:t>
                </a:r>
                <a:endParaRPr lang="zh-CN" altLang="en-US" sz="1800" dirty="0">
                  <a:solidFill>
                    <a:schemeClr val="bg1"/>
                  </a:solidFill>
                  <a:latin typeface="Century Gothic" panose="020B0502020202020204" pitchFamily="34" charset="0"/>
                  <a:ea typeface="+mj-ea"/>
                </a:endParaRPr>
              </a:p>
            </p:txBody>
          </p:sp>
        </p:grpSp>
        <p:grpSp>
          <p:nvGrpSpPr>
            <p:cNvPr id="14" name="组合 13"/>
            <p:cNvGrpSpPr/>
            <p:nvPr/>
          </p:nvGrpSpPr>
          <p:grpSpPr>
            <a:xfrm>
              <a:off x="7198025" y="3072852"/>
              <a:ext cx="1344612" cy="2112962"/>
              <a:chOff x="7444768" y="3334109"/>
              <a:chExt cx="1344612" cy="2112962"/>
            </a:xfrm>
          </p:grpSpPr>
          <p:sp>
            <p:nvSpPr>
              <p:cNvPr id="15" name="任意多边形 14"/>
              <p:cNvSpPr/>
              <p:nvPr/>
            </p:nvSpPr>
            <p:spPr>
              <a:xfrm>
                <a:off x="7444768" y="3334109"/>
                <a:ext cx="1344612" cy="1446212"/>
              </a:xfrm>
              <a:custGeom>
                <a:avLst/>
                <a:gdLst>
                  <a:gd name="connsiteX0" fmla="*/ 174959 w 1345719"/>
                  <a:gd name="connsiteY0" fmla="*/ 1164949 h 1446325"/>
                  <a:gd name="connsiteX1" fmla="*/ 77328 w 1345719"/>
                  <a:gd name="connsiteY1" fmla="*/ 1262580 h 1446325"/>
                  <a:gd name="connsiteX2" fmla="*/ 174959 w 1345719"/>
                  <a:gd name="connsiteY2" fmla="*/ 1360211 h 1446325"/>
                  <a:gd name="connsiteX3" fmla="*/ 272590 w 1345719"/>
                  <a:gd name="connsiteY3" fmla="*/ 1262580 h 1446325"/>
                  <a:gd name="connsiteX4" fmla="*/ 174959 w 1345719"/>
                  <a:gd name="connsiteY4" fmla="*/ 1164949 h 1446325"/>
                  <a:gd name="connsiteX5" fmla="*/ 229941 w 1345719"/>
                  <a:gd name="connsiteY5" fmla="*/ 1457 h 1446325"/>
                  <a:gd name="connsiteX6" fmla="*/ 319553 w 1345719"/>
                  <a:gd name="connsiteY6" fmla="*/ 23145 h 1446325"/>
                  <a:gd name="connsiteX7" fmla="*/ 1292832 w 1345719"/>
                  <a:gd name="connsiteY7" fmla="*/ 733005 h 1446325"/>
                  <a:gd name="connsiteX8" fmla="*/ 1325137 w 1345719"/>
                  <a:gd name="connsiteY8" fmla="*/ 768284 h 1446325"/>
                  <a:gd name="connsiteX9" fmla="*/ 1327973 w 1345719"/>
                  <a:gd name="connsiteY9" fmla="*/ 776116 h 1446325"/>
                  <a:gd name="connsiteX10" fmla="*/ 1335364 w 1345719"/>
                  <a:gd name="connsiteY10" fmla="*/ 789097 h 1446325"/>
                  <a:gd name="connsiteX11" fmla="*/ 1339593 w 1345719"/>
                  <a:gd name="connsiteY11" fmla="*/ 808201 h 1446325"/>
                  <a:gd name="connsiteX12" fmla="*/ 1340862 w 1345719"/>
                  <a:gd name="connsiteY12" fmla="*/ 811706 h 1446325"/>
                  <a:gd name="connsiteX13" fmla="*/ 1340792 w 1345719"/>
                  <a:gd name="connsiteY13" fmla="*/ 813617 h 1446325"/>
                  <a:gd name="connsiteX14" fmla="*/ 1345702 w 1345719"/>
                  <a:gd name="connsiteY14" fmla="*/ 835803 h 1446325"/>
                  <a:gd name="connsiteX15" fmla="*/ 1274021 w 1345719"/>
                  <a:gd name="connsiteY15" fmla="*/ 948033 h 1446325"/>
                  <a:gd name="connsiteX16" fmla="*/ 172626 w 1345719"/>
                  <a:gd name="connsiteY16" fmla="*/ 1435987 h 1446325"/>
                  <a:gd name="connsiteX17" fmla="*/ 125920 w 1345719"/>
                  <a:gd name="connsiteY17" fmla="*/ 1446325 h 1446325"/>
                  <a:gd name="connsiteX18" fmla="*/ 108057 w 1345719"/>
                  <a:gd name="connsiteY18" fmla="*/ 1443146 h 1446325"/>
                  <a:gd name="connsiteX19" fmla="*/ 107662 w 1345719"/>
                  <a:gd name="connsiteY19" fmla="*/ 1443182 h 1446325"/>
                  <a:gd name="connsiteX20" fmla="*/ 104321 w 1345719"/>
                  <a:gd name="connsiteY20" fmla="*/ 1442479 h 1446325"/>
                  <a:gd name="connsiteX21" fmla="*/ 80452 w 1345719"/>
                  <a:gd name="connsiteY21" fmla="*/ 1438232 h 1446325"/>
                  <a:gd name="connsiteX22" fmla="*/ 72787 w 1345719"/>
                  <a:gd name="connsiteY22" fmla="*/ 1433421 h 1446325"/>
                  <a:gd name="connsiteX23" fmla="*/ 62044 w 1345719"/>
                  <a:gd name="connsiteY23" fmla="*/ 1428782 h 1446325"/>
                  <a:gd name="connsiteX24" fmla="*/ 52214 w 1345719"/>
                  <a:gd name="connsiteY24" fmla="*/ 1420507 h 1446325"/>
                  <a:gd name="connsiteX25" fmla="*/ 41338 w 1345719"/>
                  <a:gd name="connsiteY25" fmla="*/ 1413679 h 1446325"/>
                  <a:gd name="connsiteX26" fmla="*/ 33645 w 1345719"/>
                  <a:gd name="connsiteY26" fmla="*/ 1404872 h 1446325"/>
                  <a:gd name="connsiteX27" fmla="*/ 26716 w 1345719"/>
                  <a:gd name="connsiteY27" fmla="*/ 1399040 h 1446325"/>
                  <a:gd name="connsiteX28" fmla="*/ 15359 w 1345719"/>
                  <a:gd name="connsiteY28" fmla="*/ 1377578 h 1446325"/>
                  <a:gd name="connsiteX29" fmla="*/ 13689 w 1345719"/>
                  <a:gd name="connsiteY29" fmla="*/ 1374643 h 1446325"/>
                  <a:gd name="connsiteX30" fmla="*/ 13605 w 1345719"/>
                  <a:gd name="connsiteY30" fmla="*/ 1374261 h 1446325"/>
                  <a:gd name="connsiteX31" fmla="*/ 5119 w 1345719"/>
                  <a:gd name="connsiteY31" fmla="*/ 1358219 h 1446325"/>
                  <a:gd name="connsiteX32" fmla="*/ 693 w 1345719"/>
                  <a:gd name="connsiteY32" fmla="*/ 1310588 h 1446325"/>
                  <a:gd name="connsiteX33" fmla="*/ 25982 w 1345719"/>
                  <a:gd name="connsiteY33" fmla="*/ 1074146 h 1446325"/>
                  <a:gd name="connsiteX34" fmla="*/ 332057 w 1345719"/>
                  <a:gd name="connsiteY34" fmla="*/ 938546 h 1446325"/>
                  <a:gd name="connsiteX35" fmla="*/ 389498 w 1345719"/>
                  <a:gd name="connsiteY35" fmla="*/ 848612 h 1446325"/>
                  <a:gd name="connsiteX36" fmla="*/ 385563 w 1345719"/>
                  <a:gd name="connsiteY36" fmla="*/ 830832 h 1446325"/>
                  <a:gd name="connsiteX37" fmla="*/ 385619 w 1345719"/>
                  <a:gd name="connsiteY37" fmla="*/ 829301 h 1446325"/>
                  <a:gd name="connsiteX38" fmla="*/ 384603 w 1345719"/>
                  <a:gd name="connsiteY38" fmla="*/ 826493 h 1446325"/>
                  <a:gd name="connsiteX39" fmla="*/ 381214 w 1345719"/>
                  <a:gd name="connsiteY39" fmla="*/ 811184 h 1446325"/>
                  <a:gd name="connsiteX40" fmla="*/ 375292 w 1345719"/>
                  <a:gd name="connsiteY40" fmla="*/ 800781 h 1446325"/>
                  <a:gd name="connsiteX41" fmla="*/ 373019 w 1345719"/>
                  <a:gd name="connsiteY41" fmla="*/ 794506 h 1446325"/>
                  <a:gd name="connsiteX42" fmla="*/ 347131 w 1345719"/>
                  <a:gd name="connsiteY42" fmla="*/ 766235 h 1446325"/>
                  <a:gd name="connsiteX43" fmla="*/ 79772 w 1345719"/>
                  <a:gd name="connsiteY43" fmla="*/ 571237 h 1446325"/>
                  <a:gd name="connsiteX44" fmla="*/ 128808 w 1345719"/>
                  <a:gd name="connsiteY44" fmla="*/ 112775 h 1446325"/>
                  <a:gd name="connsiteX45" fmla="*/ 130751 w 1345719"/>
                  <a:gd name="connsiteY45" fmla="*/ 106618 h 1446325"/>
                  <a:gd name="connsiteX46" fmla="*/ 131257 w 1345719"/>
                  <a:gd name="connsiteY46" fmla="*/ 92950 h 1446325"/>
                  <a:gd name="connsiteX47" fmla="*/ 151240 w 1345719"/>
                  <a:gd name="connsiteY47" fmla="*/ 49487 h 1446325"/>
                  <a:gd name="connsiteX48" fmla="*/ 229941 w 1345719"/>
                  <a:gd name="connsiteY48" fmla="*/ 1457 h 1446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</a:cxnLst>
                <a:rect l="l" t="t" r="r" b="b"/>
                <a:pathLst>
                  <a:path w="1345719" h="1446325">
                    <a:moveTo>
                      <a:pt x="174959" y="1164949"/>
                    </a:moveTo>
                    <a:cubicBezTo>
                      <a:pt x="121039" y="1164949"/>
                      <a:pt x="77328" y="1208660"/>
                      <a:pt x="77328" y="1262580"/>
                    </a:cubicBezTo>
                    <a:cubicBezTo>
                      <a:pt x="77328" y="1316500"/>
                      <a:pt x="121039" y="1360211"/>
                      <a:pt x="174959" y="1360211"/>
                    </a:cubicBezTo>
                    <a:cubicBezTo>
                      <a:pt x="228879" y="1360211"/>
                      <a:pt x="272590" y="1316500"/>
                      <a:pt x="272590" y="1262580"/>
                    </a:cubicBezTo>
                    <a:cubicBezTo>
                      <a:pt x="272590" y="1208660"/>
                      <a:pt x="228879" y="1164949"/>
                      <a:pt x="174959" y="1164949"/>
                    </a:cubicBezTo>
                    <a:close/>
                    <a:moveTo>
                      <a:pt x="229941" y="1457"/>
                    </a:moveTo>
                    <a:cubicBezTo>
                      <a:pt x="260400" y="-3310"/>
                      <a:pt x="292677" y="3543"/>
                      <a:pt x="319553" y="23145"/>
                    </a:cubicBezTo>
                    <a:lnTo>
                      <a:pt x="1292832" y="733005"/>
                    </a:lnTo>
                    <a:cubicBezTo>
                      <a:pt x="1306271" y="742807"/>
                      <a:pt x="1317086" y="754866"/>
                      <a:pt x="1325137" y="768284"/>
                    </a:cubicBezTo>
                    <a:lnTo>
                      <a:pt x="1327973" y="776116"/>
                    </a:lnTo>
                    <a:lnTo>
                      <a:pt x="1335364" y="789097"/>
                    </a:lnTo>
                    <a:lnTo>
                      <a:pt x="1339593" y="808201"/>
                    </a:lnTo>
                    <a:lnTo>
                      <a:pt x="1340862" y="811706"/>
                    </a:lnTo>
                    <a:lnTo>
                      <a:pt x="1340792" y="813617"/>
                    </a:lnTo>
                    <a:lnTo>
                      <a:pt x="1345702" y="835803"/>
                    </a:lnTo>
                    <a:cubicBezTo>
                      <a:pt x="1346497" y="882742"/>
                      <a:pt x="1319642" y="927821"/>
                      <a:pt x="1274021" y="948033"/>
                    </a:cubicBezTo>
                    <a:lnTo>
                      <a:pt x="172626" y="1435987"/>
                    </a:lnTo>
                    <a:cubicBezTo>
                      <a:pt x="157418" y="1442724"/>
                      <a:pt x="141565" y="1446060"/>
                      <a:pt x="125920" y="1446325"/>
                    </a:cubicBezTo>
                    <a:lnTo>
                      <a:pt x="108057" y="1443146"/>
                    </a:lnTo>
                    <a:lnTo>
                      <a:pt x="107662" y="1443182"/>
                    </a:lnTo>
                    <a:lnTo>
                      <a:pt x="104321" y="1442479"/>
                    </a:lnTo>
                    <a:lnTo>
                      <a:pt x="80452" y="1438232"/>
                    </a:lnTo>
                    <a:lnTo>
                      <a:pt x="72787" y="1433421"/>
                    </a:lnTo>
                    <a:lnTo>
                      <a:pt x="62044" y="1428782"/>
                    </a:lnTo>
                    <a:lnTo>
                      <a:pt x="52214" y="1420507"/>
                    </a:lnTo>
                    <a:lnTo>
                      <a:pt x="41338" y="1413679"/>
                    </a:lnTo>
                    <a:lnTo>
                      <a:pt x="33645" y="1404872"/>
                    </a:lnTo>
                    <a:lnTo>
                      <a:pt x="26716" y="1399040"/>
                    </a:lnTo>
                    <a:lnTo>
                      <a:pt x="15359" y="1377578"/>
                    </a:lnTo>
                    <a:lnTo>
                      <a:pt x="13689" y="1374643"/>
                    </a:lnTo>
                    <a:lnTo>
                      <a:pt x="13605" y="1374261"/>
                    </a:lnTo>
                    <a:lnTo>
                      <a:pt x="5119" y="1358219"/>
                    </a:lnTo>
                    <a:cubicBezTo>
                      <a:pt x="590" y="1343241"/>
                      <a:pt x="-1077" y="1327127"/>
                      <a:pt x="693" y="1310588"/>
                    </a:cubicBezTo>
                    <a:lnTo>
                      <a:pt x="25982" y="1074146"/>
                    </a:lnTo>
                    <a:lnTo>
                      <a:pt x="332057" y="938546"/>
                    </a:lnTo>
                    <a:cubicBezTo>
                      <a:pt x="368615" y="922349"/>
                      <a:pt x="390135" y="886225"/>
                      <a:pt x="389498" y="848612"/>
                    </a:cubicBezTo>
                    <a:lnTo>
                      <a:pt x="385563" y="830832"/>
                    </a:lnTo>
                    <a:lnTo>
                      <a:pt x="385619" y="829301"/>
                    </a:lnTo>
                    <a:lnTo>
                      <a:pt x="384603" y="826493"/>
                    </a:lnTo>
                    <a:lnTo>
                      <a:pt x="381214" y="811184"/>
                    </a:lnTo>
                    <a:lnTo>
                      <a:pt x="375292" y="800781"/>
                    </a:lnTo>
                    <a:lnTo>
                      <a:pt x="373019" y="794506"/>
                    </a:lnTo>
                    <a:cubicBezTo>
                      <a:pt x="366567" y="783753"/>
                      <a:pt x="357900" y="774089"/>
                      <a:pt x="347131" y="766235"/>
                    </a:cubicBezTo>
                    <a:lnTo>
                      <a:pt x="79772" y="571237"/>
                    </a:lnTo>
                    <a:lnTo>
                      <a:pt x="128808" y="112775"/>
                    </a:lnTo>
                    <a:lnTo>
                      <a:pt x="130751" y="106618"/>
                    </a:lnTo>
                    <a:lnTo>
                      <a:pt x="131257" y="92950"/>
                    </a:lnTo>
                    <a:cubicBezTo>
                      <a:pt x="134825" y="77714"/>
                      <a:pt x="141438" y="62926"/>
                      <a:pt x="151240" y="49487"/>
                    </a:cubicBezTo>
                    <a:cubicBezTo>
                      <a:pt x="170842" y="22611"/>
                      <a:pt x="199482" y="6225"/>
                      <a:pt x="229941" y="1457"/>
                    </a:cubicBezTo>
                    <a:close/>
                  </a:path>
                </a:pathLst>
              </a:custGeom>
              <a:ln/>
            </p:spPr>
            <p:style>
              <a:lnRef idx="1">
                <a:schemeClr val="accent3"/>
              </a:lnRef>
              <a:fillRef idx="3">
                <a:schemeClr val="accent3"/>
              </a:fillRef>
              <a:effectRef idx="2">
                <a:schemeClr val="accent3"/>
              </a:effectRef>
              <a:fontRef idx="minor">
                <a:schemeClr val="lt1"/>
              </a:fontRef>
            </p:style>
            <p:txBody>
              <a:bodyPr anchor="ctr">
                <a:scene3d>
                  <a:camera prst="orthographicFront"/>
                  <a:lightRig rig="threePt" dir="t"/>
                </a:scene3d>
                <a:sp3d contourW="12700"/>
              </a:bodyPr>
              <a:lstStyle/>
              <a:p>
                <a:pPr algn="ctr">
                  <a:defRPr/>
                </a:pPr>
                <a:endParaRPr lang="zh-CN" altLang="en-US" sz="1400">
                  <a:latin typeface="Century Gothic" panose="020B0502020202020204" pitchFamily="34" charset="0"/>
                </a:endParaRPr>
              </a:p>
            </p:txBody>
          </p:sp>
          <p:cxnSp>
            <p:nvCxnSpPr>
              <p:cNvPr id="16" name="直接箭头连接符 15"/>
              <p:cNvCxnSpPr/>
              <p:nvPr/>
            </p:nvCxnSpPr>
            <p:spPr>
              <a:xfrm>
                <a:off x="7574943" y="4780321"/>
                <a:ext cx="4762" cy="666750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文本框 8"/>
              <p:cNvSpPr txBox="1">
                <a:spLocks noChangeArrowheads="1"/>
              </p:cNvSpPr>
              <p:nvPr/>
            </p:nvSpPr>
            <p:spPr bwMode="auto">
              <a:xfrm>
                <a:off x="7886093" y="3883385"/>
                <a:ext cx="507030" cy="4316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FontTx/>
                  <a:buNone/>
                </a:pPr>
                <a:r>
                  <a:rPr lang="en-US" altLang="zh-CN" sz="2000" dirty="0">
                    <a:solidFill>
                      <a:schemeClr val="bg1"/>
                    </a:solidFill>
                    <a:latin typeface="Century Gothic" panose="020B0502020202020204" pitchFamily="34" charset="0"/>
                    <a:ea typeface="+mj-ea"/>
                  </a:rPr>
                  <a:t>06</a:t>
                </a:r>
                <a:endParaRPr lang="zh-CN" altLang="en-US" sz="2000" dirty="0">
                  <a:solidFill>
                    <a:schemeClr val="bg1"/>
                  </a:solidFill>
                  <a:latin typeface="Century Gothic" panose="020B0502020202020204" pitchFamily="34" charset="0"/>
                  <a:ea typeface="+mj-ea"/>
                </a:endParaRPr>
              </a:p>
            </p:txBody>
          </p:sp>
        </p:grpSp>
        <p:grpSp>
          <p:nvGrpSpPr>
            <p:cNvPr id="18" name="组合 17"/>
            <p:cNvGrpSpPr/>
            <p:nvPr/>
          </p:nvGrpSpPr>
          <p:grpSpPr>
            <a:xfrm>
              <a:off x="9083975" y="2283864"/>
              <a:ext cx="1763712" cy="2405063"/>
              <a:chOff x="9330718" y="2545121"/>
              <a:chExt cx="1763712" cy="2405063"/>
            </a:xfrm>
          </p:grpSpPr>
          <p:sp>
            <p:nvSpPr>
              <p:cNvPr id="19" name="任意多边形 18"/>
              <p:cNvSpPr/>
              <p:nvPr/>
            </p:nvSpPr>
            <p:spPr>
              <a:xfrm>
                <a:off x="9330718" y="3054709"/>
                <a:ext cx="1763712" cy="1895475"/>
              </a:xfrm>
              <a:custGeom>
                <a:avLst/>
                <a:gdLst>
                  <a:gd name="connsiteX0" fmla="*/ 362129 w 1763666"/>
                  <a:gd name="connsiteY0" fmla="*/ 111774 h 1895518"/>
                  <a:gd name="connsiteX1" fmla="*/ 235922 w 1763666"/>
                  <a:gd name="connsiteY1" fmla="*/ 237981 h 1895518"/>
                  <a:gd name="connsiteX2" fmla="*/ 362129 w 1763666"/>
                  <a:gd name="connsiteY2" fmla="*/ 364188 h 1895518"/>
                  <a:gd name="connsiteX3" fmla="*/ 488336 w 1763666"/>
                  <a:gd name="connsiteY3" fmla="*/ 237981 h 1895518"/>
                  <a:gd name="connsiteX4" fmla="*/ 362129 w 1763666"/>
                  <a:gd name="connsiteY4" fmla="*/ 111774 h 1895518"/>
                  <a:gd name="connsiteX5" fmla="*/ 301354 w 1763666"/>
                  <a:gd name="connsiteY5" fmla="*/ 1909 h 1895518"/>
                  <a:gd name="connsiteX6" fmla="*/ 418797 w 1763666"/>
                  <a:gd name="connsiteY6" fmla="*/ 30333 h 1895518"/>
                  <a:gd name="connsiteX7" fmla="*/ 1694353 w 1763666"/>
                  <a:gd name="connsiteY7" fmla="*/ 960658 h 1895518"/>
                  <a:gd name="connsiteX8" fmla="*/ 1736692 w 1763666"/>
                  <a:gd name="connsiteY8" fmla="*/ 1006894 h 1895518"/>
                  <a:gd name="connsiteX9" fmla="*/ 1740409 w 1763666"/>
                  <a:gd name="connsiteY9" fmla="*/ 1017158 h 1895518"/>
                  <a:gd name="connsiteX10" fmla="*/ 1750096 w 1763666"/>
                  <a:gd name="connsiteY10" fmla="*/ 1034171 h 1895518"/>
                  <a:gd name="connsiteX11" fmla="*/ 1755638 w 1763666"/>
                  <a:gd name="connsiteY11" fmla="*/ 1059208 h 1895518"/>
                  <a:gd name="connsiteX12" fmla="*/ 1757300 w 1763666"/>
                  <a:gd name="connsiteY12" fmla="*/ 1063801 h 1895518"/>
                  <a:gd name="connsiteX13" fmla="*/ 1757209 w 1763666"/>
                  <a:gd name="connsiteY13" fmla="*/ 1066306 h 1895518"/>
                  <a:gd name="connsiteX14" fmla="*/ 1763644 w 1763666"/>
                  <a:gd name="connsiteY14" fmla="*/ 1095383 h 1895518"/>
                  <a:gd name="connsiteX15" fmla="*/ 1669700 w 1763666"/>
                  <a:gd name="connsiteY15" fmla="*/ 1242469 h 1895518"/>
                  <a:gd name="connsiteX16" fmla="*/ 226238 w 1763666"/>
                  <a:gd name="connsiteY16" fmla="*/ 1881969 h 1895518"/>
                  <a:gd name="connsiteX17" fmla="*/ 165028 w 1763666"/>
                  <a:gd name="connsiteY17" fmla="*/ 1895518 h 1895518"/>
                  <a:gd name="connsiteX18" fmla="*/ 141616 w 1763666"/>
                  <a:gd name="connsiteY18" fmla="*/ 1891351 h 1895518"/>
                  <a:gd name="connsiteX19" fmla="*/ 141098 w 1763666"/>
                  <a:gd name="connsiteY19" fmla="*/ 1891399 h 1895518"/>
                  <a:gd name="connsiteX20" fmla="*/ 136720 w 1763666"/>
                  <a:gd name="connsiteY20" fmla="*/ 1890478 h 1895518"/>
                  <a:gd name="connsiteX21" fmla="*/ 105438 w 1763666"/>
                  <a:gd name="connsiteY21" fmla="*/ 1884912 h 1895518"/>
                  <a:gd name="connsiteX22" fmla="*/ 95393 w 1763666"/>
                  <a:gd name="connsiteY22" fmla="*/ 1878606 h 1895518"/>
                  <a:gd name="connsiteX23" fmla="*/ 81312 w 1763666"/>
                  <a:gd name="connsiteY23" fmla="*/ 1872526 h 1895518"/>
                  <a:gd name="connsiteX24" fmla="*/ 68430 w 1763666"/>
                  <a:gd name="connsiteY24" fmla="*/ 1861682 h 1895518"/>
                  <a:gd name="connsiteX25" fmla="*/ 54177 w 1763666"/>
                  <a:gd name="connsiteY25" fmla="*/ 1852733 h 1895518"/>
                  <a:gd name="connsiteX26" fmla="*/ 44094 w 1763666"/>
                  <a:gd name="connsiteY26" fmla="*/ 1841192 h 1895518"/>
                  <a:gd name="connsiteX27" fmla="*/ 35013 w 1763666"/>
                  <a:gd name="connsiteY27" fmla="*/ 1833548 h 1895518"/>
                  <a:gd name="connsiteX28" fmla="*/ 20129 w 1763666"/>
                  <a:gd name="connsiteY28" fmla="*/ 1805420 h 1895518"/>
                  <a:gd name="connsiteX29" fmla="*/ 17940 w 1763666"/>
                  <a:gd name="connsiteY29" fmla="*/ 1801573 h 1895518"/>
                  <a:gd name="connsiteX30" fmla="*/ 17830 w 1763666"/>
                  <a:gd name="connsiteY30" fmla="*/ 1801073 h 1895518"/>
                  <a:gd name="connsiteX31" fmla="*/ 6708 w 1763666"/>
                  <a:gd name="connsiteY31" fmla="*/ 1780049 h 1895518"/>
                  <a:gd name="connsiteX32" fmla="*/ 908 w 1763666"/>
                  <a:gd name="connsiteY32" fmla="*/ 1717625 h 1895518"/>
                  <a:gd name="connsiteX33" fmla="*/ 34050 w 1763666"/>
                  <a:gd name="connsiteY33" fmla="*/ 1407750 h 1895518"/>
                  <a:gd name="connsiteX34" fmla="*/ 435184 w 1763666"/>
                  <a:gd name="connsiteY34" fmla="*/ 1230035 h 1895518"/>
                  <a:gd name="connsiteX35" fmla="*/ 510466 w 1763666"/>
                  <a:gd name="connsiteY35" fmla="*/ 1112170 h 1895518"/>
                  <a:gd name="connsiteX36" fmla="*/ 505309 w 1763666"/>
                  <a:gd name="connsiteY36" fmla="*/ 1088869 h 1895518"/>
                  <a:gd name="connsiteX37" fmla="*/ 505382 w 1763666"/>
                  <a:gd name="connsiteY37" fmla="*/ 1086862 h 1895518"/>
                  <a:gd name="connsiteX38" fmla="*/ 504050 w 1763666"/>
                  <a:gd name="connsiteY38" fmla="*/ 1083181 h 1895518"/>
                  <a:gd name="connsiteX39" fmla="*/ 499609 w 1763666"/>
                  <a:gd name="connsiteY39" fmla="*/ 1063118 h 1895518"/>
                  <a:gd name="connsiteX40" fmla="*/ 491847 w 1763666"/>
                  <a:gd name="connsiteY40" fmla="*/ 1049484 h 1895518"/>
                  <a:gd name="connsiteX41" fmla="*/ 488869 w 1763666"/>
                  <a:gd name="connsiteY41" fmla="*/ 1041260 h 1895518"/>
                  <a:gd name="connsiteX42" fmla="*/ 454940 w 1763666"/>
                  <a:gd name="connsiteY42" fmla="*/ 1004208 h 1895518"/>
                  <a:gd name="connsiteX43" fmla="*/ 104546 w 1763666"/>
                  <a:gd name="connsiteY43" fmla="*/ 748649 h 1895518"/>
                  <a:gd name="connsiteX44" fmla="*/ 168812 w 1763666"/>
                  <a:gd name="connsiteY44" fmla="*/ 147800 h 1895518"/>
                  <a:gd name="connsiteX45" fmla="*/ 171359 w 1763666"/>
                  <a:gd name="connsiteY45" fmla="*/ 139730 h 1895518"/>
                  <a:gd name="connsiteX46" fmla="*/ 172022 w 1763666"/>
                  <a:gd name="connsiteY46" fmla="*/ 121818 h 1895518"/>
                  <a:gd name="connsiteX47" fmla="*/ 198210 w 1763666"/>
                  <a:gd name="connsiteY47" fmla="*/ 64856 h 1895518"/>
                  <a:gd name="connsiteX48" fmla="*/ 301354 w 1763666"/>
                  <a:gd name="connsiteY48" fmla="*/ 1909 h 18955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</a:cxnLst>
                <a:rect l="l" t="t" r="r" b="b"/>
                <a:pathLst>
                  <a:path w="1763666" h="1895518">
                    <a:moveTo>
                      <a:pt x="362129" y="111774"/>
                    </a:moveTo>
                    <a:cubicBezTo>
                      <a:pt x="292427" y="111774"/>
                      <a:pt x="235922" y="168279"/>
                      <a:pt x="235922" y="237981"/>
                    </a:cubicBezTo>
                    <a:cubicBezTo>
                      <a:pt x="235922" y="307683"/>
                      <a:pt x="292427" y="364188"/>
                      <a:pt x="362129" y="364188"/>
                    </a:cubicBezTo>
                    <a:cubicBezTo>
                      <a:pt x="431831" y="364188"/>
                      <a:pt x="488336" y="307683"/>
                      <a:pt x="488336" y="237981"/>
                    </a:cubicBezTo>
                    <a:cubicBezTo>
                      <a:pt x="488336" y="168279"/>
                      <a:pt x="431831" y="111774"/>
                      <a:pt x="362129" y="111774"/>
                    </a:cubicBezTo>
                    <a:close/>
                    <a:moveTo>
                      <a:pt x="301354" y="1909"/>
                    </a:moveTo>
                    <a:cubicBezTo>
                      <a:pt x="341273" y="-4338"/>
                      <a:pt x="383574" y="4643"/>
                      <a:pt x="418797" y="30333"/>
                    </a:cubicBezTo>
                    <a:lnTo>
                      <a:pt x="1694353" y="960658"/>
                    </a:lnTo>
                    <a:cubicBezTo>
                      <a:pt x="1711967" y="973504"/>
                      <a:pt x="1726141" y="989308"/>
                      <a:pt x="1736692" y="1006894"/>
                    </a:cubicBezTo>
                    <a:lnTo>
                      <a:pt x="1740409" y="1017158"/>
                    </a:lnTo>
                    <a:lnTo>
                      <a:pt x="1750096" y="1034171"/>
                    </a:lnTo>
                    <a:lnTo>
                      <a:pt x="1755638" y="1059208"/>
                    </a:lnTo>
                    <a:lnTo>
                      <a:pt x="1757300" y="1063801"/>
                    </a:lnTo>
                    <a:lnTo>
                      <a:pt x="1757209" y="1066306"/>
                    </a:lnTo>
                    <a:lnTo>
                      <a:pt x="1763644" y="1095383"/>
                    </a:lnTo>
                    <a:cubicBezTo>
                      <a:pt x="1764685" y="1156899"/>
                      <a:pt x="1729490" y="1215980"/>
                      <a:pt x="1669700" y="1242469"/>
                    </a:cubicBezTo>
                    <a:lnTo>
                      <a:pt x="226238" y="1881969"/>
                    </a:lnTo>
                    <a:cubicBezTo>
                      <a:pt x="206307" y="1890799"/>
                      <a:pt x="185532" y="1895171"/>
                      <a:pt x="165028" y="1895518"/>
                    </a:cubicBezTo>
                    <a:lnTo>
                      <a:pt x="141616" y="1891351"/>
                    </a:lnTo>
                    <a:lnTo>
                      <a:pt x="141098" y="1891399"/>
                    </a:lnTo>
                    <a:lnTo>
                      <a:pt x="136720" y="1890478"/>
                    </a:lnTo>
                    <a:lnTo>
                      <a:pt x="105438" y="1884912"/>
                    </a:lnTo>
                    <a:lnTo>
                      <a:pt x="95393" y="1878606"/>
                    </a:lnTo>
                    <a:lnTo>
                      <a:pt x="81312" y="1872526"/>
                    </a:lnTo>
                    <a:lnTo>
                      <a:pt x="68430" y="1861682"/>
                    </a:lnTo>
                    <a:lnTo>
                      <a:pt x="54177" y="1852733"/>
                    </a:lnTo>
                    <a:lnTo>
                      <a:pt x="44094" y="1841192"/>
                    </a:lnTo>
                    <a:lnTo>
                      <a:pt x="35013" y="1833548"/>
                    </a:lnTo>
                    <a:lnTo>
                      <a:pt x="20129" y="1805420"/>
                    </a:lnTo>
                    <a:lnTo>
                      <a:pt x="17940" y="1801573"/>
                    </a:lnTo>
                    <a:lnTo>
                      <a:pt x="17830" y="1801073"/>
                    </a:lnTo>
                    <a:lnTo>
                      <a:pt x="6708" y="1780049"/>
                    </a:lnTo>
                    <a:cubicBezTo>
                      <a:pt x="773" y="1760419"/>
                      <a:pt x="-1411" y="1739300"/>
                      <a:pt x="908" y="1717625"/>
                    </a:cubicBezTo>
                    <a:lnTo>
                      <a:pt x="34050" y="1407750"/>
                    </a:lnTo>
                    <a:lnTo>
                      <a:pt x="435184" y="1230035"/>
                    </a:lnTo>
                    <a:cubicBezTo>
                      <a:pt x="483097" y="1208808"/>
                      <a:pt x="511300" y="1161465"/>
                      <a:pt x="510466" y="1112170"/>
                    </a:cubicBezTo>
                    <a:lnTo>
                      <a:pt x="505309" y="1088869"/>
                    </a:lnTo>
                    <a:lnTo>
                      <a:pt x="505382" y="1086862"/>
                    </a:lnTo>
                    <a:lnTo>
                      <a:pt x="504050" y="1083181"/>
                    </a:lnTo>
                    <a:lnTo>
                      <a:pt x="499609" y="1063118"/>
                    </a:lnTo>
                    <a:lnTo>
                      <a:pt x="491847" y="1049484"/>
                    </a:lnTo>
                    <a:lnTo>
                      <a:pt x="488869" y="1041260"/>
                    </a:lnTo>
                    <a:cubicBezTo>
                      <a:pt x="480413" y="1027168"/>
                      <a:pt x="469054" y="1014502"/>
                      <a:pt x="454940" y="1004208"/>
                    </a:cubicBezTo>
                    <a:lnTo>
                      <a:pt x="104546" y="748649"/>
                    </a:lnTo>
                    <a:lnTo>
                      <a:pt x="168812" y="147800"/>
                    </a:lnTo>
                    <a:lnTo>
                      <a:pt x="171359" y="139730"/>
                    </a:lnTo>
                    <a:lnTo>
                      <a:pt x="172022" y="121818"/>
                    </a:lnTo>
                    <a:cubicBezTo>
                      <a:pt x="176697" y="101849"/>
                      <a:pt x="185365" y="82468"/>
                      <a:pt x="198210" y="64856"/>
                    </a:cubicBezTo>
                    <a:cubicBezTo>
                      <a:pt x="223900" y="29633"/>
                      <a:pt x="261436" y="8158"/>
                      <a:pt x="301354" y="1909"/>
                    </a:cubicBezTo>
                    <a:close/>
                  </a:path>
                </a:pathLst>
              </a:custGeom>
              <a:ln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anchor="ctr">
                <a:scene3d>
                  <a:camera prst="orthographicFront"/>
                  <a:lightRig rig="threePt" dir="t"/>
                </a:scene3d>
                <a:sp3d contourW="12700"/>
              </a:bodyPr>
              <a:lstStyle/>
              <a:p>
                <a:pPr algn="ctr">
                  <a:defRPr/>
                </a:pPr>
                <a:endParaRPr lang="zh-CN" altLang="en-US" sz="1400">
                  <a:latin typeface="Century Gothic" panose="020B0502020202020204" pitchFamily="34" charset="0"/>
                </a:endParaRPr>
              </a:p>
            </p:txBody>
          </p:sp>
          <p:cxnSp>
            <p:nvCxnSpPr>
              <p:cNvPr id="20" name="直接箭头连接符 19"/>
              <p:cNvCxnSpPr/>
              <p:nvPr/>
            </p:nvCxnSpPr>
            <p:spPr>
              <a:xfrm flipV="1">
                <a:off x="9657743" y="2545121"/>
                <a:ext cx="0" cy="504825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文本框 9"/>
              <p:cNvSpPr txBox="1">
                <a:spLocks noChangeArrowheads="1"/>
              </p:cNvSpPr>
              <p:nvPr/>
            </p:nvSpPr>
            <p:spPr bwMode="auto">
              <a:xfrm>
                <a:off x="9968893" y="3851634"/>
                <a:ext cx="565827" cy="49803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FontTx/>
                  <a:buNone/>
                </a:pPr>
                <a:r>
                  <a:rPr lang="en-US" altLang="zh-CN" sz="2400" dirty="0">
                    <a:solidFill>
                      <a:schemeClr val="bg1"/>
                    </a:solidFill>
                    <a:latin typeface="Century Gothic" panose="020B0502020202020204" pitchFamily="34" charset="0"/>
                    <a:ea typeface="+mj-ea"/>
                  </a:rPr>
                  <a:t>07</a:t>
                </a:r>
                <a:endParaRPr lang="zh-CN" altLang="en-US" sz="2400" dirty="0">
                  <a:solidFill>
                    <a:schemeClr val="bg1"/>
                  </a:solidFill>
                  <a:latin typeface="Century Gothic" panose="020B0502020202020204" pitchFamily="34" charset="0"/>
                  <a:ea typeface="+mj-ea"/>
                </a:endParaRPr>
              </a:p>
            </p:txBody>
          </p:sp>
        </p:grpSp>
      </p:grpSp>
      <p:grpSp>
        <p:nvGrpSpPr>
          <p:cNvPr id="26" name="组合 25"/>
          <p:cNvGrpSpPr/>
          <p:nvPr/>
        </p:nvGrpSpPr>
        <p:grpSpPr>
          <a:xfrm>
            <a:off x="2987783" y="1676977"/>
            <a:ext cx="3168098" cy="1068606"/>
            <a:chOff x="7483989" y="3375179"/>
            <a:chExt cx="2910662" cy="1068606"/>
          </a:xfrm>
        </p:grpSpPr>
        <p:sp>
          <p:nvSpPr>
            <p:cNvPr id="27" name="矩形 26"/>
            <p:cNvSpPr/>
            <p:nvPr/>
          </p:nvSpPr>
          <p:spPr>
            <a:xfrm>
              <a:off x="7483989" y="3761547"/>
              <a:ext cx="2910662" cy="682238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ES" altLang="zh-CN" sz="1100" dirty="0">
                  <a:latin typeface="Century Gothic" panose="020B0502020202020204" pitchFamily="34" charset="0"/>
                </a:rPr>
                <a:t>Sin plan de capacitación, sin </a:t>
              </a:r>
              <a:r>
                <a:rPr lang="es-ES" altLang="zh-CN" sz="1100" dirty="0" err="1">
                  <a:latin typeface="Century Gothic" panose="020B0502020202020204" pitchFamily="34" charset="0"/>
                </a:rPr>
                <a:t>DRP</a:t>
              </a:r>
              <a:r>
                <a:rPr lang="es-ES" altLang="zh-CN" sz="1100" dirty="0">
                  <a:latin typeface="Century Gothic" panose="020B0502020202020204" pitchFamily="34" charset="0"/>
                </a:rPr>
                <a:t>, sin bitácora. Dependencia total del Jefe de Sistemas.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>
              <a:off x="7483989" y="3375179"/>
              <a:ext cx="2050552" cy="39568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Quinta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29" name="组合 28"/>
          <p:cNvGrpSpPr/>
          <p:nvPr/>
        </p:nvGrpSpPr>
        <p:grpSpPr>
          <a:xfrm>
            <a:off x="6468251" y="1422383"/>
            <a:ext cx="3168098" cy="1068606"/>
            <a:chOff x="7483989" y="3375179"/>
            <a:chExt cx="2910662" cy="1068606"/>
          </a:xfrm>
        </p:grpSpPr>
        <p:sp>
          <p:nvSpPr>
            <p:cNvPr id="30" name="矩形 29"/>
            <p:cNvSpPr/>
            <p:nvPr/>
          </p:nvSpPr>
          <p:spPr>
            <a:xfrm>
              <a:off x="7483989" y="3761547"/>
              <a:ext cx="2910662" cy="682238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ES" altLang="zh-CN" sz="1100" dirty="0">
                  <a:latin typeface="Century Gothic" panose="020B0502020202020204" pitchFamily="34" charset="0"/>
                </a:rPr>
                <a:t>La organización supo hacerlo bien (</a:t>
              </a:r>
              <a:r>
                <a:rPr lang="es-ES" altLang="zh-CN" sz="1100" dirty="0" err="1">
                  <a:latin typeface="Century Gothic" panose="020B0502020202020204" pitchFamily="34" charset="0"/>
                </a:rPr>
                <a:t>BPM</a:t>
              </a:r>
              <a:r>
                <a:rPr lang="es-ES" altLang="zh-CN" sz="1100" dirty="0">
                  <a:latin typeface="Century Gothic" panose="020B0502020202020204" pitchFamily="34" charset="0"/>
                </a:rPr>
                <a:t> 2003), pero no lo mantiene en el sistema actual.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31" name="矩形 30"/>
            <p:cNvSpPr/>
            <p:nvPr/>
          </p:nvSpPr>
          <p:spPr>
            <a:xfrm>
              <a:off x="7483989" y="3375179"/>
              <a:ext cx="2050552" cy="39568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Séptima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4555244" y="4991161"/>
            <a:ext cx="3168098" cy="1068606"/>
            <a:chOff x="7483989" y="3375179"/>
            <a:chExt cx="2910662" cy="1068606"/>
          </a:xfrm>
        </p:grpSpPr>
        <p:sp>
          <p:nvSpPr>
            <p:cNvPr id="36" name="矩形 35"/>
            <p:cNvSpPr/>
            <p:nvPr/>
          </p:nvSpPr>
          <p:spPr>
            <a:xfrm>
              <a:off x="7483989" y="3761547"/>
              <a:ext cx="2910662" cy="682238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ES" altLang="zh-CN" sz="1100" dirty="0">
                  <a:latin typeface="Century Gothic" panose="020B0502020202020204" pitchFamily="34" charset="0"/>
                </a:rPr>
                <a:t>77% comparte contraseñas, 85% sin capacitación en seguridad, 100% quiere mejorar el sistema.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7483989" y="3375179"/>
              <a:ext cx="2050552" cy="39568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Sexta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sp>
        <p:nvSpPr>
          <p:cNvPr id="44" name="矩形 43">
            <a:extLst>
              <a:ext uri="{FF2B5EF4-FFF2-40B4-BE49-F238E27FC236}">
                <a16:creationId xmlns:a16="http://schemas.microsoft.com/office/drawing/2014/main" id="{B4B21C19-99EF-44A1-89B2-0B5B185506CC}"/>
              </a:ext>
            </a:extLst>
          </p:cNvPr>
          <p:cNvSpPr/>
          <p:nvPr/>
        </p:nvSpPr>
        <p:spPr>
          <a:xfrm>
            <a:off x="1377422" y="205759"/>
            <a:ext cx="5190344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Conclusiones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24651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889388E9-B7A8-4124-A1EF-CE98A47F657B}"/>
              </a:ext>
            </a:extLst>
          </p:cNvPr>
          <p:cNvSpPr/>
          <p:nvPr/>
        </p:nvSpPr>
        <p:spPr>
          <a:xfrm>
            <a:off x="1445151" y="187203"/>
            <a:ext cx="5294902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Recomendaciones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52AAC427-6EAF-4174-9554-6A733637B132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358358"/>
          <a:ext cx="10515600" cy="295198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25984">
                  <a:extLst>
                    <a:ext uri="{9D8B030D-6E8A-4147-A177-3AD203B41FA5}">
                      <a16:colId xmlns:a16="http://schemas.microsoft.com/office/drawing/2014/main" val="2953387811"/>
                    </a:ext>
                  </a:extLst>
                </a:gridCol>
                <a:gridCol w="7945587">
                  <a:extLst>
                    <a:ext uri="{9D8B030D-6E8A-4147-A177-3AD203B41FA5}">
                      <a16:colId xmlns:a16="http://schemas.microsoft.com/office/drawing/2014/main" val="3246222534"/>
                    </a:ext>
                  </a:extLst>
                </a:gridCol>
                <a:gridCol w="2244029">
                  <a:extLst>
                    <a:ext uri="{9D8B030D-6E8A-4147-A177-3AD203B41FA5}">
                      <a16:colId xmlns:a16="http://schemas.microsoft.com/office/drawing/2014/main" val="85842558"/>
                    </a:ext>
                  </a:extLst>
                </a:gridCol>
              </a:tblGrid>
              <a:tr h="20193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#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 dirty="0">
                          <a:effectLst/>
                          <a:latin typeface="Century Gothic" panose="020B0502020202020204" pitchFamily="34" charset="0"/>
                        </a:rPr>
                        <a:t>Recomendación</a:t>
                      </a:r>
                      <a:endParaRPr lang="es-ES" sz="16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Responsable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676976509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Implementar usuarios individuales en el sistema (eliminar cuenta compartida)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Jefe de Sistemas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1532213879"/>
                  </a:ext>
                </a:extLst>
              </a:tr>
              <a:tr h="20193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Realizar prueba de restauración de backup y documentar resultados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Jefe de Sistemas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2911703079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Revisar manualmente lotes próximos a vencer (riesgo sanitario)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Director Técnico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3747995184"/>
                  </a:ext>
                </a:extLst>
              </a:tr>
              <a:tr h="20193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Comunicar por escrito prohibición de compartir contraseñas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Gerencia General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92015904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 dirty="0">
                          <a:effectLst/>
                          <a:latin typeface="Century Gothic" panose="020B0502020202020204" pitchFamily="34" charset="0"/>
                        </a:rPr>
                        <a:t>Exigir al Administrador de BD su título y referencias en 7 días; si no, evaluar reemplazo</a:t>
                      </a:r>
                      <a:endParaRPr lang="es-ES" sz="16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 dirty="0" err="1">
                          <a:effectLst/>
                          <a:latin typeface="Century Gothic" panose="020B0502020202020204" pitchFamily="34" charset="0"/>
                        </a:rPr>
                        <a:t>RRHH</a:t>
                      </a:r>
                      <a:r>
                        <a:rPr lang="es-CO" sz="1600" dirty="0">
                          <a:effectLst/>
                          <a:latin typeface="Century Gothic" panose="020B0502020202020204" pitchFamily="34" charset="0"/>
                        </a:rPr>
                        <a:t> / Gerencia TI</a:t>
                      </a:r>
                      <a:endParaRPr lang="es-ES" sz="16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3789781915"/>
                  </a:ext>
                </a:extLst>
              </a:tr>
            </a:tbl>
          </a:graphicData>
        </a:graphic>
      </p:graphicFrame>
      <p:sp>
        <p:nvSpPr>
          <p:cNvPr id="31" name="矩形 103">
            <a:extLst>
              <a:ext uri="{FF2B5EF4-FFF2-40B4-BE49-F238E27FC236}">
                <a16:creationId xmlns:a16="http://schemas.microsoft.com/office/drawing/2014/main" id="{E16D1FDF-71F7-462D-996B-33ED8C1859A4}"/>
              </a:ext>
            </a:extLst>
          </p:cNvPr>
          <p:cNvSpPr/>
          <p:nvPr/>
        </p:nvSpPr>
        <p:spPr>
          <a:xfrm>
            <a:off x="838200" y="1547654"/>
            <a:ext cx="2828544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altLang="zh-CN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Inmediatas</a:t>
            </a:r>
            <a:r>
              <a: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 (0-7 días)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9933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889388E9-B7A8-4124-A1EF-CE98A47F657B}"/>
              </a:ext>
            </a:extLst>
          </p:cNvPr>
          <p:cNvSpPr/>
          <p:nvPr/>
        </p:nvSpPr>
        <p:spPr>
          <a:xfrm>
            <a:off x="1445151" y="187203"/>
            <a:ext cx="5294902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Recomendaciones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1" name="矩形 103">
            <a:extLst>
              <a:ext uri="{FF2B5EF4-FFF2-40B4-BE49-F238E27FC236}">
                <a16:creationId xmlns:a16="http://schemas.microsoft.com/office/drawing/2014/main" id="{E16D1FDF-71F7-462D-996B-33ED8C1859A4}"/>
              </a:ext>
            </a:extLst>
          </p:cNvPr>
          <p:cNvSpPr/>
          <p:nvPr/>
        </p:nvSpPr>
        <p:spPr>
          <a:xfrm>
            <a:off x="838200" y="1547654"/>
            <a:ext cx="2828544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s-E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Corto Plazo (15-30 días)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393CE19-22AA-43D5-B710-D3D13A632E8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057178"/>
          <a:ext cx="10515600" cy="37736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41743">
                  <a:extLst>
                    <a:ext uri="{9D8B030D-6E8A-4147-A177-3AD203B41FA5}">
                      <a16:colId xmlns:a16="http://schemas.microsoft.com/office/drawing/2014/main" val="2218238478"/>
                    </a:ext>
                  </a:extLst>
                </a:gridCol>
                <a:gridCol w="8008180">
                  <a:extLst>
                    <a:ext uri="{9D8B030D-6E8A-4147-A177-3AD203B41FA5}">
                      <a16:colId xmlns:a16="http://schemas.microsoft.com/office/drawing/2014/main" val="2311975840"/>
                    </a:ext>
                  </a:extLst>
                </a:gridCol>
                <a:gridCol w="2065677">
                  <a:extLst>
                    <a:ext uri="{9D8B030D-6E8A-4147-A177-3AD203B41FA5}">
                      <a16:colId xmlns:a16="http://schemas.microsoft.com/office/drawing/2014/main" val="2004255199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#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Recomendación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Responsable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3158897478"/>
                  </a:ext>
                </a:extLst>
              </a:tr>
              <a:tr h="20447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6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Implementar doble factor de autenticación (2FA)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Jefe de Sistemas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3967311181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7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 dirty="0">
                          <a:effectLst/>
                          <a:latin typeface="Century Gothic" panose="020B0502020202020204" pitchFamily="34" charset="0"/>
                        </a:rPr>
                        <a:t>Optimizar alertas de vencimiento (índices SQL, notificaciones por correo)</a:t>
                      </a:r>
                      <a:endParaRPr lang="es-ES" sz="16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Administrador BD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3736036084"/>
                  </a:ext>
                </a:extLst>
              </a:tr>
              <a:tr h="90805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8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Implementar backups automatizados con replicación en servidor secundario y nube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Jefe de Sistemas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1229865265"/>
                  </a:ext>
                </a:extLst>
              </a:tr>
              <a:tr h="90805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9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Capacitación obligatoria de 8 horas en seguridad para todo el personal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RRHH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4232213029"/>
                  </a:ext>
                </a:extLst>
              </a:tr>
              <a:tr h="90805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10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Elaborar Plan de Recuperación ante Desastres (DRP) básico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Jefe de Sistemas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3492865628"/>
                  </a:ext>
                </a:extLst>
              </a:tr>
              <a:tr h="90805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11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Designar respaldo para el Jefe de Sistemas (capacitar al Técnico de Soporte)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Gerencia TI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1780935263"/>
                  </a:ext>
                </a:extLst>
              </a:tr>
              <a:tr h="20447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12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Crear bitácora de cambios obligatoria (fecha, responsable, descripción)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 dirty="0">
                          <a:effectLst/>
                          <a:latin typeface="Century Gothic" panose="020B0502020202020204" pitchFamily="34" charset="0"/>
                        </a:rPr>
                        <a:t>Jefe de Sistemas</a:t>
                      </a:r>
                      <a:endParaRPr lang="es-ES" sz="16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111585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10619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889388E9-B7A8-4124-A1EF-CE98A47F657B}"/>
              </a:ext>
            </a:extLst>
          </p:cNvPr>
          <p:cNvSpPr/>
          <p:nvPr/>
        </p:nvSpPr>
        <p:spPr>
          <a:xfrm>
            <a:off x="1445151" y="187203"/>
            <a:ext cx="5294902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Recomendaciones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1" name="矩形 103">
            <a:extLst>
              <a:ext uri="{FF2B5EF4-FFF2-40B4-BE49-F238E27FC236}">
                <a16:creationId xmlns:a16="http://schemas.microsoft.com/office/drawing/2014/main" id="{E16D1FDF-71F7-462D-996B-33ED8C1859A4}"/>
              </a:ext>
            </a:extLst>
          </p:cNvPr>
          <p:cNvSpPr/>
          <p:nvPr/>
        </p:nvSpPr>
        <p:spPr>
          <a:xfrm>
            <a:off x="838200" y="1401350"/>
            <a:ext cx="3413760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s-E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Mediano Plazo (60-90 días)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F4CF8EF0-8A00-4371-A633-627EE2FB5662}"/>
              </a:ext>
            </a:extLst>
          </p:cNvPr>
          <p:cNvGraphicFramePr>
            <a:graphicFrameLocks noGrp="1"/>
          </p:cNvGraphicFramePr>
          <p:nvPr/>
        </p:nvGraphicFramePr>
        <p:xfrm>
          <a:off x="731520" y="1921334"/>
          <a:ext cx="10728959" cy="387596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93776">
                  <a:extLst>
                    <a:ext uri="{9D8B030D-6E8A-4147-A177-3AD203B41FA5}">
                      <a16:colId xmlns:a16="http://schemas.microsoft.com/office/drawing/2014/main" val="3723665069"/>
                    </a:ext>
                  </a:extLst>
                </a:gridCol>
                <a:gridCol w="8229600">
                  <a:extLst>
                    <a:ext uri="{9D8B030D-6E8A-4147-A177-3AD203B41FA5}">
                      <a16:colId xmlns:a16="http://schemas.microsoft.com/office/drawing/2014/main" val="2892219719"/>
                    </a:ext>
                  </a:extLst>
                </a:gridCol>
                <a:gridCol w="2005583">
                  <a:extLst>
                    <a:ext uri="{9D8B030D-6E8A-4147-A177-3AD203B41FA5}">
                      <a16:colId xmlns:a16="http://schemas.microsoft.com/office/drawing/2014/main" val="1287428486"/>
                    </a:ext>
                  </a:extLst>
                </a:gridCol>
              </a:tblGrid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 dirty="0">
                          <a:effectLst/>
                          <a:latin typeface="Century Gothic" panose="020B0502020202020204" pitchFamily="34" charset="0"/>
                        </a:rPr>
                        <a:t>#</a:t>
                      </a:r>
                      <a:endParaRPr lang="es-ES" sz="14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Recomendación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 dirty="0">
                          <a:effectLst/>
                          <a:latin typeface="Century Gothic" panose="020B0502020202020204" pitchFamily="34" charset="0"/>
                        </a:rPr>
                        <a:t>Responsable</a:t>
                      </a:r>
                      <a:endParaRPr lang="es-ES" sz="14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extLst>
                  <a:ext uri="{0D108BD9-81ED-4DB2-BD59-A6C34878D82A}">
                    <a16:rowId xmlns:a16="http://schemas.microsoft.com/office/drawing/2014/main" val="2049718368"/>
                  </a:ext>
                </a:extLst>
              </a:tr>
              <a:tr h="36312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13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600" dirty="0">
                          <a:effectLst/>
                          <a:latin typeface="Century Gothic" panose="020B0502020202020204" pitchFamily="34" charset="0"/>
                        </a:rPr>
                        <a:t>Reestructurar</a:t>
                      </a:r>
                      <a:r>
                        <a:rPr lang="es-CO" sz="1400" dirty="0">
                          <a:effectLst/>
                          <a:latin typeface="Century Gothic" panose="020B0502020202020204" pitchFamily="34" charset="0"/>
                        </a:rPr>
                        <a:t> organigrama de TI (jefatura independiente, reporte directo a Gerencia)</a:t>
                      </a:r>
                      <a:endParaRPr lang="es-ES" sz="14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Gerencia General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extLst>
                  <a:ext uri="{0D108BD9-81ED-4DB2-BD59-A6C34878D82A}">
                    <a16:rowId xmlns:a16="http://schemas.microsoft.com/office/drawing/2014/main" val="1388409301"/>
                  </a:ext>
                </a:extLst>
              </a:tr>
              <a:tr h="34028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14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Separar funciones (Almacén: físico / Digitador: sistema / Auditor: independiente)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Gerencia TI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extLst>
                  <a:ext uri="{0D108BD9-81ED-4DB2-BD59-A6C34878D82A}">
                    <a16:rowId xmlns:a16="http://schemas.microsoft.com/office/drawing/2014/main" val="2100328590"/>
                  </a:ext>
                </a:extLst>
              </a:tr>
              <a:tr h="45843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15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Implementar Plan de Capacitación Anual (seguridad 8h + inventarios 12h + DRP 4h)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RRHH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extLst>
                  <a:ext uri="{0D108BD9-81ED-4DB2-BD59-A6C34878D82A}">
                    <a16:rowId xmlns:a16="http://schemas.microsoft.com/office/drawing/2014/main" val="1669549705"/>
                  </a:ext>
                </a:extLst>
              </a:tr>
              <a:tr h="45843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16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Actualizar manual de funciones de TI (desactualizado desde 2020)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RRHH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extLst>
                  <a:ext uri="{0D108BD9-81ED-4DB2-BD59-A6C34878D82A}">
                    <a16:rowId xmlns:a16="http://schemas.microsoft.com/office/drawing/2014/main" val="128042906"/>
                  </a:ext>
                </a:extLst>
              </a:tr>
              <a:tr h="681557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17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Completar documentación técnica: manual de usuario, diagrama de red, procedimiento de backup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Jefe de Sistemas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extLst>
                  <a:ext uri="{0D108BD9-81ED-4DB2-BD59-A6C34878D82A}">
                    <a16:rowId xmlns:a16="http://schemas.microsoft.com/office/drawing/2014/main" val="4117823151"/>
                  </a:ext>
                </a:extLst>
              </a:tr>
              <a:tr h="45843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18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Implementar módulo de trazabilidad de medicamentos controlados (exigido por AGEMED)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Proveedor ERP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extLst>
                  <a:ext uri="{0D108BD9-81ED-4DB2-BD59-A6C34878D82A}">
                    <a16:rowId xmlns:a16="http://schemas.microsoft.com/office/drawing/2014/main" val="613048087"/>
                  </a:ext>
                </a:extLst>
              </a:tr>
              <a:tr h="34028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19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Establecer evaluaciones de desempeño semestrales para TI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RRHH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extLst>
                  <a:ext uri="{0D108BD9-81ED-4DB2-BD59-A6C34878D82A}">
                    <a16:rowId xmlns:a16="http://schemas.microsoft.com/office/drawing/2014/main" val="1653723575"/>
                  </a:ext>
                </a:extLst>
              </a:tr>
              <a:tr h="45843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20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Crear tablero de KPI de TI (downtime, backups exitosos, satisfacción de usuario)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 dirty="0">
                          <a:effectLst/>
                          <a:latin typeface="Century Gothic" panose="020B0502020202020204" pitchFamily="34" charset="0"/>
                        </a:rPr>
                        <a:t>Jefe de Sistemas</a:t>
                      </a:r>
                      <a:endParaRPr lang="es-ES" sz="14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extLst>
                  <a:ext uri="{0D108BD9-81ED-4DB2-BD59-A6C34878D82A}">
                    <a16:rowId xmlns:a16="http://schemas.microsoft.com/office/drawing/2014/main" val="9373407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52110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889388E9-B7A8-4124-A1EF-CE98A47F657B}"/>
              </a:ext>
            </a:extLst>
          </p:cNvPr>
          <p:cNvSpPr/>
          <p:nvPr/>
        </p:nvSpPr>
        <p:spPr>
          <a:xfrm>
            <a:off x="1445151" y="187203"/>
            <a:ext cx="5294902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Recomendaciones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1" name="矩形 103">
            <a:extLst>
              <a:ext uri="{FF2B5EF4-FFF2-40B4-BE49-F238E27FC236}">
                <a16:creationId xmlns:a16="http://schemas.microsoft.com/office/drawing/2014/main" id="{E16D1FDF-71F7-462D-996B-33ED8C1859A4}"/>
              </a:ext>
            </a:extLst>
          </p:cNvPr>
          <p:cNvSpPr/>
          <p:nvPr/>
        </p:nvSpPr>
        <p:spPr>
          <a:xfrm>
            <a:off x="838200" y="1401350"/>
            <a:ext cx="3413760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s-E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Largo Plazo (120 días - 1 año)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C5434945-525D-422F-A319-9BBE1FC1385B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189531"/>
          <a:ext cx="10515600" cy="287515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06953">
                  <a:extLst>
                    <a:ext uri="{9D8B030D-6E8A-4147-A177-3AD203B41FA5}">
                      <a16:colId xmlns:a16="http://schemas.microsoft.com/office/drawing/2014/main" val="4276784032"/>
                    </a:ext>
                  </a:extLst>
                </a:gridCol>
                <a:gridCol w="7919831">
                  <a:extLst>
                    <a:ext uri="{9D8B030D-6E8A-4147-A177-3AD203B41FA5}">
                      <a16:colId xmlns:a16="http://schemas.microsoft.com/office/drawing/2014/main" val="4054788916"/>
                    </a:ext>
                  </a:extLst>
                </a:gridCol>
                <a:gridCol w="2088816">
                  <a:extLst>
                    <a:ext uri="{9D8B030D-6E8A-4147-A177-3AD203B41FA5}">
                      <a16:colId xmlns:a16="http://schemas.microsoft.com/office/drawing/2014/main" val="1439093600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#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Recomendación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Responsable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extLst>
                  <a:ext uri="{0D108BD9-81ED-4DB2-BD59-A6C34878D82A}">
                    <a16:rowId xmlns:a16="http://schemas.microsoft.com/office/drawing/2014/main" val="2202948585"/>
                  </a:ext>
                </a:extLst>
              </a:tr>
              <a:tr h="21082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21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Evaluar migración a ERP más robusto (Odoo) con módulos farmacéuticos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Gerencia General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extLst>
                  <a:ext uri="{0D108BD9-81ED-4DB2-BD59-A6C34878D82A}">
                    <a16:rowId xmlns:a16="http://schemas.microsoft.com/office/drawing/2014/main" val="1993337345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22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Establecer programa de certificaciones profesionales para el equipo TI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RRHH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extLst>
                  <a:ext uri="{0D108BD9-81ED-4DB2-BD59-A6C34878D82A}">
                    <a16:rowId xmlns:a16="http://schemas.microsoft.com/office/drawing/2014/main" val="3298305360"/>
                  </a:ext>
                </a:extLst>
              </a:tr>
              <a:tr h="21082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23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Implementar gestor de contraseñas corporativo (Bitwarden, LastPass, etc.)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Jefe de Sistemas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extLst>
                  <a:ext uri="{0D108BD9-81ED-4DB2-BD59-A6C34878D82A}">
                    <a16:rowId xmlns:a16="http://schemas.microsoft.com/office/drawing/2014/main" val="516376370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24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Crear wiki o repositorio digital para centralizar documentación técnica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Jefe de Sistemas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extLst>
                  <a:ext uri="{0D108BD9-81ED-4DB2-BD59-A6C34878D82A}">
                    <a16:rowId xmlns:a16="http://schemas.microsoft.com/office/drawing/2014/main" val="19775226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25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Medir Radar de Capital Humano cada 6 meses para monitorear mejora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Gerencia TI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extLst>
                  <a:ext uri="{0D108BD9-81ED-4DB2-BD59-A6C34878D82A}">
                    <a16:rowId xmlns:a16="http://schemas.microsoft.com/office/drawing/2014/main" val="4281317933"/>
                  </a:ext>
                </a:extLst>
              </a:tr>
              <a:tr h="21082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26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Realizar auditoría interna anual al sistema de inventarios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 dirty="0">
                          <a:effectLst/>
                          <a:latin typeface="Century Gothic" panose="020B0502020202020204" pitchFamily="34" charset="0"/>
                        </a:rPr>
                        <a:t>Auditoría interna</a:t>
                      </a:r>
                      <a:endParaRPr lang="es-ES" sz="16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extLst>
                  <a:ext uri="{0D108BD9-81ED-4DB2-BD59-A6C34878D82A}">
                    <a16:rowId xmlns:a16="http://schemas.microsoft.com/office/drawing/2014/main" val="31990228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082925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PRESENTATION_TITLE" val="PowerPoint 演示文稿"/>
</p:tagLst>
</file>

<file path=ppt/theme/theme1.xml><?xml version="1.0" encoding="utf-8"?>
<a:theme xmlns:a="http://schemas.openxmlformats.org/drawingml/2006/main" name="包图主题2">
  <a:themeElements>
    <a:clrScheme name="Verde azulado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包图主题2" id="{50CFA792-C506-47E4-B272-6A6183483AB3}" vid="{CC1AE437-2F7F-4319-9F22-408F5F8C346F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包图主题2</Template>
  <TotalTime>1499</TotalTime>
  <Words>1765</Words>
  <Application>Microsoft Office PowerPoint</Application>
  <PresentationFormat>Panorámica</PresentationFormat>
  <Paragraphs>440</Paragraphs>
  <Slides>25</Slides>
  <Notes>25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25</vt:i4>
      </vt:variant>
    </vt:vector>
  </HeadingPairs>
  <TitlesOfParts>
    <vt:vector size="36" baseType="lpstr">
      <vt:lpstr>DengXian</vt:lpstr>
      <vt:lpstr>Microsoft YaHei</vt:lpstr>
      <vt:lpstr>印品黑体</vt:lpstr>
      <vt:lpstr>Arial</vt:lpstr>
      <vt:lpstr>Calibri</vt:lpstr>
      <vt:lpstr>Century Gothic</vt:lpstr>
      <vt:lpstr>Courier New</vt:lpstr>
      <vt:lpstr>Symbol</vt:lpstr>
      <vt:lpstr>Times New Roman</vt:lpstr>
      <vt:lpstr>Wingdings</vt:lpstr>
      <vt:lpstr>包图主题2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WIN7</dc:creator>
  <cp:lastModifiedBy>Fabio Camacho Encinas</cp:lastModifiedBy>
  <cp:revision>92</cp:revision>
  <dcterms:created xsi:type="dcterms:W3CDTF">2017-08-18T03:02:00Z</dcterms:created>
  <dcterms:modified xsi:type="dcterms:W3CDTF">2026-05-07T04:37:53Z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2052-10.1.0.6748</vt:lpwstr>
  </property>
</Properties>
</file>