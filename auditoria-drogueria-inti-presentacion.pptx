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21"/>
  </p:notesMasterIdLst>
  <p:handoutMasterIdLst>
    <p:handoutMasterId r:id="rId22"/>
  </p:handoutMasterIdLst>
  <p:sldIdLst>
    <p:sldId id="298" r:id="rId2"/>
    <p:sldId id="299" r:id="rId3"/>
    <p:sldId id="307" r:id="rId4"/>
    <p:sldId id="352" r:id="rId5"/>
    <p:sldId id="309" r:id="rId6"/>
    <p:sldId id="310" r:id="rId7"/>
    <p:sldId id="311" r:id="rId8"/>
    <p:sldId id="312" r:id="rId9"/>
    <p:sldId id="353" r:id="rId10"/>
    <p:sldId id="314" r:id="rId11"/>
    <p:sldId id="317" r:id="rId12"/>
    <p:sldId id="308" r:id="rId13"/>
    <p:sldId id="282" r:id="rId14"/>
    <p:sldId id="347" r:id="rId15"/>
    <p:sldId id="348" r:id="rId16"/>
    <p:sldId id="349" r:id="rId17"/>
    <p:sldId id="313" r:id="rId18"/>
    <p:sldId id="350" r:id="rId19"/>
    <p:sldId id="351" r:id="rId20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BDA7"/>
    <a:srgbClr val="3494BA"/>
    <a:srgbClr val="8CC066"/>
    <a:srgbClr val="58B6C0"/>
    <a:srgbClr val="FF94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37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8E373BA-85BC-4523-9443-C0B6070F6F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5011DCB-FDF0-4AE6-8EDF-98D55BB3BD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F9BAD-4A98-4ABD-98D9-29F3CB1CFFC5}" type="datetimeFigureOut">
              <a:rPr lang="es-PE" smtClean="0"/>
              <a:t>6/05/2026</a:t>
            </a:fld>
            <a:endParaRPr lang="es-PE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0D9A2B3-BC7D-4179-B139-7C1D386E28F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A75F451-8FDC-4921-910D-6331E857B2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57CA06-7EC5-4CE8-80DC-44637603D6B6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2307666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3BBE5-0BEA-4494-9BEF-C8C2F48C9E2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B8912-F0BA-4AD8-8415-DA1F26BCB09F}" type="slidenum">
              <a:rPr lang="zh-CN" altLang="en-US" smtClean="0"/>
              <a:t>‹Nº›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3252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110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5086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5236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59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4078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3015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10255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1133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7256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8940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40067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5925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270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D9472-A447-0FFD-07F0-DCE1F7613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580908-8C01-9894-35CC-6C42BBB04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BA3FBE-BC67-2616-9EFB-593B21121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16FEFF-B320-4ED2-51FF-428DFB8EA0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47967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6C482-610D-7696-93CF-351F35CC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87E925-B12A-ACD4-C6FD-FE0EB45A2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D28E3DA-EA62-5D50-29DD-F257E0E0A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4A2364-34D2-21A8-A63F-925F4453A2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3106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AB55F-82E0-3F4E-91F3-5A3757545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11EB325-9BA2-503E-56D4-4D8120DC6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5E3326A-C6AE-A46C-E179-04F76B7A6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709BE4-8DF4-060B-38FC-A13BD04AE0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2294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725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B8A4A-A1E3-EB43-1D28-A5E35FBB8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671E45-749E-64A5-3559-8C636CD8F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6C1308-0AD3-C99A-51BD-820958D0A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E4E43B9-BCCB-B15B-CAD1-9A73F33B50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1836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5E3C5-B14C-C3E1-672F-1923879A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09931D-F883-E9D2-2F0E-4D3AC3FD7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5B9EE88-E29C-F841-96CC-7579D4BD9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3EC8CD-408D-5E32-1CF7-22537ED6E3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6351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559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">
            <a:extLst>
              <a:ext uri="{FF2B5EF4-FFF2-40B4-BE49-F238E27FC236}">
                <a16:creationId xmlns:a16="http://schemas.microsoft.com/office/drawing/2014/main" id="{6FBC8789-68AE-4915-A113-3B4F4DB93A19}"/>
              </a:ext>
            </a:extLst>
          </p:cNvPr>
          <p:cNvSpPr/>
          <p:nvPr userDrawn="1"/>
        </p:nvSpPr>
        <p:spPr>
          <a:xfrm flipV="1">
            <a:off x="-19048" y="931248"/>
            <a:ext cx="12209461" cy="7875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等腰三角形 2">
            <a:extLst>
              <a:ext uri="{FF2B5EF4-FFF2-40B4-BE49-F238E27FC236}">
                <a16:creationId xmlns:a16="http://schemas.microsoft.com/office/drawing/2014/main" id="{1B1957EB-E895-45FE-9BDC-F9A1E08A2131}"/>
              </a:ext>
            </a:extLst>
          </p:cNvPr>
          <p:cNvSpPr/>
          <p:nvPr userDrawn="1"/>
        </p:nvSpPr>
        <p:spPr>
          <a:xfrm rot="5400000">
            <a:off x="994227" y="381908"/>
            <a:ext cx="381645" cy="32900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8">
            <a:extLst>
              <a:ext uri="{FF2B5EF4-FFF2-40B4-BE49-F238E27FC236}">
                <a16:creationId xmlns:a16="http://schemas.microsoft.com/office/drawing/2014/main" id="{C2EE5C8E-7D56-4092-94AC-8BB2C97EAFA0}"/>
              </a:ext>
            </a:extLst>
          </p:cNvPr>
          <p:cNvGrpSpPr/>
          <p:nvPr userDrawn="1"/>
        </p:nvGrpSpPr>
        <p:grpSpPr>
          <a:xfrm>
            <a:off x="4536" y="0"/>
            <a:ext cx="721182" cy="931248"/>
            <a:chOff x="0" y="532828"/>
            <a:chExt cx="498355" cy="568897"/>
          </a:xfrm>
        </p:grpSpPr>
        <p:sp>
          <p:nvSpPr>
            <p:cNvPr id="5" name="矩形 9">
              <a:extLst>
                <a:ext uri="{FF2B5EF4-FFF2-40B4-BE49-F238E27FC236}">
                  <a16:creationId xmlns:a16="http://schemas.microsoft.com/office/drawing/2014/main" id="{F64A5F79-9727-425F-8E67-274E617427C5}"/>
                </a:ext>
              </a:extLst>
            </p:cNvPr>
            <p:cNvSpPr/>
            <p:nvPr/>
          </p:nvSpPr>
          <p:spPr>
            <a:xfrm>
              <a:off x="0" y="532828"/>
              <a:ext cx="128433" cy="56889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BE989FAD-1A28-4CF7-9D6B-50FE116E749E}"/>
                </a:ext>
              </a:extLst>
            </p:cNvPr>
            <p:cNvSpPr/>
            <p:nvPr/>
          </p:nvSpPr>
          <p:spPr>
            <a:xfrm>
              <a:off x="130533" y="532828"/>
              <a:ext cx="130259" cy="568897"/>
            </a:xfrm>
            <a:prstGeom prst="rect">
              <a:avLst/>
            </a:prstGeom>
            <a:solidFill>
              <a:srgbClr val="8CC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11">
              <a:extLst>
                <a:ext uri="{FF2B5EF4-FFF2-40B4-BE49-F238E27FC236}">
                  <a16:creationId xmlns:a16="http://schemas.microsoft.com/office/drawing/2014/main" id="{2E573C0A-7E9A-4B79-A2E7-7E23A7B2CBC1}"/>
                </a:ext>
              </a:extLst>
            </p:cNvPr>
            <p:cNvSpPr/>
            <p:nvPr/>
          </p:nvSpPr>
          <p:spPr>
            <a:xfrm>
              <a:off x="374250" y="532828"/>
              <a:ext cx="124105" cy="56889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12">
              <a:extLst>
                <a:ext uri="{FF2B5EF4-FFF2-40B4-BE49-F238E27FC236}">
                  <a16:creationId xmlns:a16="http://schemas.microsoft.com/office/drawing/2014/main" id="{62E42EC7-5CC3-45D0-882D-008E29EBAFC4}"/>
                </a:ext>
              </a:extLst>
            </p:cNvPr>
            <p:cNvSpPr/>
            <p:nvPr/>
          </p:nvSpPr>
          <p:spPr>
            <a:xfrm>
              <a:off x="253744" y="532828"/>
              <a:ext cx="128433" cy="5688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8" name="椭圆 3">
            <a:extLst>
              <a:ext uri="{FF2B5EF4-FFF2-40B4-BE49-F238E27FC236}">
                <a16:creationId xmlns:a16="http://schemas.microsoft.com/office/drawing/2014/main" id="{65F83126-86E2-4795-BA92-2D5F35FD981F}"/>
              </a:ext>
            </a:extLst>
          </p:cNvPr>
          <p:cNvSpPr/>
          <p:nvPr userDrawn="1"/>
        </p:nvSpPr>
        <p:spPr>
          <a:xfrm>
            <a:off x="11563042" y="6283199"/>
            <a:ext cx="283369" cy="282906"/>
          </a:xfrm>
          <a:custGeom>
            <a:avLst/>
            <a:gdLst>
              <a:gd name="connsiteX0" fmla="*/ 140017 w 606581"/>
              <a:gd name="connsiteY0" fmla="*/ 411043 h 605592"/>
              <a:gd name="connsiteX1" fmla="*/ 178821 w 606581"/>
              <a:gd name="connsiteY1" fmla="*/ 427078 h 605592"/>
              <a:gd name="connsiteX2" fmla="*/ 178821 w 606581"/>
              <a:gd name="connsiteY2" fmla="*/ 504564 h 605592"/>
              <a:gd name="connsiteX3" fmla="*/ 93692 w 606581"/>
              <a:gd name="connsiteY3" fmla="*/ 589557 h 605592"/>
              <a:gd name="connsiteX4" fmla="*/ 54887 w 606581"/>
              <a:gd name="connsiteY4" fmla="*/ 605592 h 605592"/>
              <a:gd name="connsiteX5" fmla="*/ 16083 w 606581"/>
              <a:gd name="connsiteY5" fmla="*/ 589557 h 605592"/>
              <a:gd name="connsiteX6" fmla="*/ 16083 w 606581"/>
              <a:gd name="connsiteY6" fmla="*/ 511979 h 605592"/>
              <a:gd name="connsiteX7" fmla="*/ 101212 w 606581"/>
              <a:gd name="connsiteY7" fmla="*/ 427078 h 605592"/>
              <a:gd name="connsiteX8" fmla="*/ 140017 w 606581"/>
              <a:gd name="connsiteY8" fmla="*/ 411043 h 605592"/>
              <a:gd name="connsiteX9" fmla="*/ 382501 w 606581"/>
              <a:gd name="connsiteY9" fmla="*/ 49537 h 605592"/>
              <a:gd name="connsiteX10" fmla="*/ 557044 w 606581"/>
              <a:gd name="connsiteY10" fmla="*/ 223798 h 605592"/>
              <a:gd name="connsiteX11" fmla="*/ 382501 w 606581"/>
              <a:gd name="connsiteY11" fmla="*/ 398059 h 605592"/>
              <a:gd name="connsiteX12" fmla="*/ 207957 w 606581"/>
              <a:gd name="connsiteY12" fmla="*/ 223798 h 605592"/>
              <a:gd name="connsiteX13" fmla="*/ 382501 w 606581"/>
              <a:gd name="connsiteY13" fmla="*/ 49537 h 605592"/>
              <a:gd name="connsiteX14" fmla="*/ 382536 w 606581"/>
              <a:gd name="connsiteY14" fmla="*/ 24750 h 605592"/>
              <a:gd name="connsiteX15" fmla="*/ 304914 w 606581"/>
              <a:gd name="connsiteY15" fmla="*/ 40417 h 605592"/>
              <a:gd name="connsiteX16" fmla="*/ 241591 w 606581"/>
              <a:gd name="connsiteY16" fmla="*/ 83058 h 605592"/>
              <a:gd name="connsiteX17" fmla="*/ 198880 w 606581"/>
              <a:gd name="connsiteY17" fmla="*/ 146278 h 605592"/>
              <a:gd name="connsiteX18" fmla="*/ 183189 w 606581"/>
              <a:gd name="connsiteY18" fmla="*/ 223774 h 605592"/>
              <a:gd name="connsiteX19" fmla="*/ 198880 w 606581"/>
              <a:gd name="connsiteY19" fmla="*/ 301177 h 605592"/>
              <a:gd name="connsiteX20" fmla="*/ 241591 w 606581"/>
              <a:gd name="connsiteY20" fmla="*/ 364490 h 605592"/>
              <a:gd name="connsiteX21" fmla="*/ 304914 w 606581"/>
              <a:gd name="connsiteY21" fmla="*/ 407131 h 605592"/>
              <a:gd name="connsiteX22" fmla="*/ 382536 w 606581"/>
              <a:gd name="connsiteY22" fmla="*/ 422705 h 605592"/>
              <a:gd name="connsiteX23" fmla="*/ 460158 w 606581"/>
              <a:gd name="connsiteY23" fmla="*/ 407131 h 605592"/>
              <a:gd name="connsiteX24" fmla="*/ 523481 w 606581"/>
              <a:gd name="connsiteY24" fmla="*/ 364490 h 605592"/>
              <a:gd name="connsiteX25" fmla="*/ 566192 w 606581"/>
              <a:gd name="connsiteY25" fmla="*/ 301177 h 605592"/>
              <a:gd name="connsiteX26" fmla="*/ 581883 w 606581"/>
              <a:gd name="connsiteY26" fmla="*/ 223774 h 605592"/>
              <a:gd name="connsiteX27" fmla="*/ 566192 w 606581"/>
              <a:gd name="connsiteY27" fmla="*/ 146278 h 605592"/>
              <a:gd name="connsiteX28" fmla="*/ 523481 w 606581"/>
              <a:gd name="connsiteY28" fmla="*/ 83058 h 605592"/>
              <a:gd name="connsiteX29" fmla="*/ 460158 w 606581"/>
              <a:gd name="connsiteY29" fmla="*/ 40417 h 605592"/>
              <a:gd name="connsiteX30" fmla="*/ 382536 w 606581"/>
              <a:gd name="connsiteY30" fmla="*/ 24750 h 605592"/>
              <a:gd name="connsiteX31" fmla="*/ 382536 w 606581"/>
              <a:gd name="connsiteY31" fmla="*/ 0 h 605592"/>
              <a:gd name="connsiteX32" fmla="*/ 469721 w 606581"/>
              <a:gd name="connsiteY32" fmla="*/ 17613 h 605592"/>
              <a:gd name="connsiteX33" fmla="*/ 540937 w 606581"/>
              <a:gd name="connsiteY33" fmla="*/ 65538 h 605592"/>
              <a:gd name="connsiteX34" fmla="*/ 588940 w 606581"/>
              <a:gd name="connsiteY34" fmla="*/ 136637 h 605592"/>
              <a:gd name="connsiteX35" fmla="*/ 606581 w 606581"/>
              <a:gd name="connsiteY35" fmla="*/ 223774 h 605592"/>
              <a:gd name="connsiteX36" fmla="*/ 588940 w 606581"/>
              <a:gd name="connsiteY36" fmla="*/ 310818 h 605592"/>
              <a:gd name="connsiteX37" fmla="*/ 540937 w 606581"/>
              <a:gd name="connsiteY37" fmla="*/ 381917 h 605592"/>
              <a:gd name="connsiteX38" fmla="*/ 469721 w 606581"/>
              <a:gd name="connsiteY38" fmla="*/ 429842 h 605592"/>
              <a:gd name="connsiteX39" fmla="*/ 382536 w 606581"/>
              <a:gd name="connsiteY39" fmla="*/ 447455 h 605592"/>
              <a:gd name="connsiteX40" fmla="*/ 295258 w 606581"/>
              <a:gd name="connsiteY40" fmla="*/ 429842 h 605592"/>
              <a:gd name="connsiteX41" fmla="*/ 240105 w 606581"/>
              <a:gd name="connsiteY41" fmla="*/ 396471 h 605592"/>
              <a:gd name="connsiteX42" fmla="*/ 209558 w 606581"/>
              <a:gd name="connsiteY42" fmla="*/ 427061 h 605592"/>
              <a:gd name="connsiteX43" fmla="*/ 196373 w 606581"/>
              <a:gd name="connsiteY43" fmla="*/ 409541 h 605592"/>
              <a:gd name="connsiteX44" fmla="*/ 178918 w 606581"/>
              <a:gd name="connsiteY44" fmla="*/ 396378 h 605592"/>
              <a:gd name="connsiteX45" fmla="*/ 209465 w 606581"/>
              <a:gd name="connsiteY45" fmla="*/ 365880 h 605592"/>
              <a:gd name="connsiteX46" fmla="*/ 176040 w 606581"/>
              <a:gd name="connsiteY46" fmla="*/ 310818 h 605592"/>
              <a:gd name="connsiteX47" fmla="*/ 158491 w 606581"/>
              <a:gd name="connsiteY47" fmla="*/ 223774 h 605592"/>
              <a:gd name="connsiteX48" fmla="*/ 176040 w 606581"/>
              <a:gd name="connsiteY48" fmla="*/ 136637 h 605592"/>
              <a:gd name="connsiteX49" fmla="*/ 224043 w 606581"/>
              <a:gd name="connsiteY49" fmla="*/ 65538 h 605592"/>
              <a:gd name="connsiteX50" fmla="*/ 295258 w 606581"/>
              <a:gd name="connsiteY50" fmla="*/ 17613 h 605592"/>
              <a:gd name="connsiteX51" fmla="*/ 382536 w 606581"/>
              <a:gd name="connsiteY51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6581" h="605592">
                <a:moveTo>
                  <a:pt x="140017" y="411043"/>
                </a:moveTo>
                <a:cubicBezTo>
                  <a:pt x="154035" y="411043"/>
                  <a:pt x="168053" y="416326"/>
                  <a:pt x="178821" y="427078"/>
                </a:cubicBezTo>
                <a:cubicBezTo>
                  <a:pt x="200266" y="448488"/>
                  <a:pt x="200266" y="483153"/>
                  <a:pt x="178821" y="504564"/>
                </a:cubicBezTo>
                <a:lnTo>
                  <a:pt x="93692" y="589557"/>
                </a:lnTo>
                <a:cubicBezTo>
                  <a:pt x="83016" y="600216"/>
                  <a:pt x="68905" y="605592"/>
                  <a:pt x="54887" y="605592"/>
                </a:cubicBezTo>
                <a:cubicBezTo>
                  <a:pt x="40870" y="605592"/>
                  <a:pt x="26759" y="600216"/>
                  <a:pt x="16083" y="589557"/>
                </a:cubicBezTo>
                <a:cubicBezTo>
                  <a:pt x="-5362" y="568147"/>
                  <a:pt x="-5362" y="533389"/>
                  <a:pt x="16083" y="511979"/>
                </a:cubicBezTo>
                <a:lnTo>
                  <a:pt x="101212" y="427078"/>
                </a:lnTo>
                <a:cubicBezTo>
                  <a:pt x="111888" y="416326"/>
                  <a:pt x="125999" y="411043"/>
                  <a:pt x="140017" y="411043"/>
                </a:cubicBezTo>
                <a:close/>
                <a:moveTo>
                  <a:pt x="382501" y="49537"/>
                </a:moveTo>
                <a:cubicBezTo>
                  <a:pt x="478871" y="49537"/>
                  <a:pt x="557044" y="127491"/>
                  <a:pt x="557044" y="223798"/>
                </a:cubicBezTo>
                <a:cubicBezTo>
                  <a:pt x="557044" y="320012"/>
                  <a:pt x="478871" y="398059"/>
                  <a:pt x="382501" y="398059"/>
                </a:cubicBezTo>
                <a:cubicBezTo>
                  <a:pt x="286130" y="398059"/>
                  <a:pt x="207957" y="320012"/>
                  <a:pt x="207957" y="223798"/>
                </a:cubicBezTo>
                <a:cubicBezTo>
                  <a:pt x="207957" y="127491"/>
                  <a:pt x="286130" y="49537"/>
                  <a:pt x="382501" y="49537"/>
                </a:cubicBezTo>
                <a:close/>
                <a:moveTo>
                  <a:pt x="382536" y="24750"/>
                </a:moveTo>
                <a:cubicBezTo>
                  <a:pt x="355610" y="24750"/>
                  <a:pt x="329519" y="30034"/>
                  <a:pt x="304914" y="40417"/>
                </a:cubicBezTo>
                <a:cubicBezTo>
                  <a:pt x="281238" y="50428"/>
                  <a:pt x="259882" y="64796"/>
                  <a:pt x="241591" y="83058"/>
                </a:cubicBezTo>
                <a:cubicBezTo>
                  <a:pt x="223300" y="101319"/>
                  <a:pt x="208908" y="122547"/>
                  <a:pt x="198880" y="146278"/>
                </a:cubicBezTo>
                <a:cubicBezTo>
                  <a:pt x="188481" y="170843"/>
                  <a:pt x="183189" y="196891"/>
                  <a:pt x="183189" y="223774"/>
                </a:cubicBezTo>
                <a:cubicBezTo>
                  <a:pt x="183189" y="250564"/>
                  <a:pt x="188481" y="276705"/>
                  <a:pt x="198880" y="301177"/>
                </a:cubicBezTo>
                <a:cubicBezTo>
                  <a:pt x="208908" y="324908"/>
                  <a:pt x="223300" y="346228"/>
                  <a:pt x="241591" y="364490"/>
                </a:cubicBezTo>
                <a:cubicBezTo>
                  <a:pt x="259882" y="382752"/>
                  <a:pt x="281238" y="397027"/>
                  <a:pt x="304914" y="407131"/>
                </a:cubicBezTo>
                <a:cubicBezTo>
                  <a:pt x="329519" y="417513"/>
                  <a:pt x="355610" y="422705"/>
                  <a:pt x="382536" y="422705"/>
                </a:cubicBezTo>
                <a:cubicBezTo>
                  <a:pt x="409462" y="422705"/>
                  <a:pt x="435553" y="417513"/>
                  <a:pt x="460158" y="407131"/>
                </a:cubicBezTo>
                <a:cubicBezTo>
                  <a:pt x="483834" y="397027"/>
                  <a:pt x="505190" y="382752"/>
                  <a:pt x="523481" y="364490"/>
                </a:cubicBezTo>
                <a:cubicBezTo>
                  <a:pt x="541772" y="346228"/>
                  <a:pt x="556164" y="324908"/>
                  <a:pt x="566192" y="301177"/>
                </a:cubicBezTo>
                <a:cubicBezTo>
                  <a:pt x="576591" y="276705"/>
                  <a:pt x="581883" y="250564"/>
                  <a:pt x="581883" y="223774"/>
                </a:cubicBezTo>
                <a:cubicBezTo>
                  <a:pt x="581883" y="196891"/>
                  <a:pt x="576591" y="170843"/>
                  <a:pt x="566192" y="146278"/>
                </a:cubicBezTo>
                <a:cubicBezTo>
                  <a:pt x="556164" y="122547"/>
                  <a:pt x="541772" y="101319"/>
                  <a:pt x="523481" y="83058"/>
                </a:cubicBezTo>
                <a:cubicBezTo>
                  <a:pt x="505190" y="64796"/>
                  <a:pt x="483834" y="50428"/>
                  <a:pt x="460158" y="40417"/>
                </a:cubicBezTo>
                <a:cubicBezTo>
                  <a:pt x="435553" y="30034"/>
                  <a:pt x="409462" y="24750"/>
                  <a:pt x="382536" y="24750"/>
                </a:cubicBezTo>
                <a:close/>
                <a:moveTo>
                  <a:pt x="382536" y="0"/>
                </a:moveTo>
                <a:cubicBezTo>
                  <a:pt x="412712" y="0"/>
                  <a:pt x="442145" y="5933"/>
                  <a:pt x="469721" y="17613"/>
                </a:cubicBezTo>
                <a:cubicBezTo>
                  <a:pt x="496462" y="28922"/>
                  <a:pt x="520417" y="45051"/>
                  <a:pt x="540937" y="65538"/>
                </a:cubicBezTo>
                <a:cubicBezTo>
                  <a:pt x="561549" y="86117"/>
                  <a:pt x="577705" y="110033"/>
                  <a:pt x="588940" y="136637"/>
                </a:cubicBezTo>
                <a:cubicBezTo>
                  <a:pt x="600639" y="164262"/>
                  <a:pt x="606581" y="193554"/>
                  <a:pt x="606581" y="223774"/>
                </a:cubicBezTo>
                <a:cubicBezTo>
                  <a:pt x="606581" y="253901"/>
                  <a:pt x="600639" y="283194"/>
                  <a:pt x="588940" y="310818"/>
                </a:cubicBezTo>
                <a:cubicBezTo>
                  <a:pt x="577705" y="337515"/>
                  <a:pt x="561549" y="361431"/>
                  <a:pt x="540937" y="381917"/>
                </a:cubicBezTo>
                <a:cubicBezTo>
                  <a:pt x="520417" y="402496"/>
                  <a:pt x="496462" y="418626"/>
                  <a:pt x="469721" y="429842"/>
                </a:cubicBezTo>
                <a:cubicBezTo>
                  <a:pt x="442145" y="441522"/>
                  <a:pt x="412805" y="447455"/>
                  <a:pt x="382536" y="447455"/>
                </a:cubicBezTo>
                <a:cubicBezTo>
                  <a:pt x="352267" y="447455"/>
                  <a:pt x="322927" y="441522"/>
                  <a:pt x="295258" y="429842"/>
                </a:cubicBezTo>
                <a:cubicBezTo>
                  <a:pt x="275295" y="421407"/>
                  <a:pt x="256818" y="410190"/>
                  <a:pt x="240105" y="396471"/>
                </a:cubicBezTo>
                <a:lnTo>
                  <a:pt x="209558" y="427061"/>
                </a:lnTo>
                <a:cubicBezTo>
                  <a:pt x="206030" y="420758"/>
                  <a:pt x="201666" y="414918"/>
                  <a:pt x="196373" y="409541"/>
                </a:cubicBezTo>
                <a:cubicBezTo>
                  <a:pt x="191081" y="404350"/>
                  <a:pt x="185232" y="399901"/>
                  <a:pt x="178918" y="396378"/>
                </a:cubicBezTo>
                <a:lnTo>
                  <a:pt x="209465" y="365880"/>
                </a:lnTo>
                <a:cubicBezTo>
                  <a:pt x="195724" y="349287"/>
                  <a:pt x="184582" y="330840"/>
                  <a:pt x="176040" y="310818"/>
                </a:cubicBezTo>
                <a:cubicBezTo>
                  <a:pt x="164341" y="283194"/>
                  <a:pt x="158491" y="253901"/>
                  <a:pt x="158491" y="223774"/>
                </a:cubicBezTo>
                <a:cubicBezTo>
                  <a:pt x="158491" y="193554"/>
                  <a:pt x="164341" y="164262"/>
                  <a:pt x="176040" y="136637"/>
                </a:cubicBezTo>
                <a:cubicBezTo>
                  <a:pt x="187367" y="110033"/>
                  <a:pt x="203523" y="86117"/>
                  <a:pt x="224043" y="65538"/>
                </a:cubicBezTo>
                <a:cubicBezTo>
                  <a:pt x="244655" y="45051"/>
                  <a:pt x="268610" y="28922"/>
                  <a:pt x="295258" y="17613"/>
                </a:cubicBezTo>
                <a:cubicBezTo>
                  <a:pt x="322927" y="5933"/>
                  <a:pt x="352267" y="0"/>
                  <a:pt x="38253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1" name="Título 20">
            <a:extLst>
              <a:ext uri="{FF2B5EF4-FFF2-40B4-BE49-F238E27FC236}">
                <a16:creationId xmlns:a16="http://schemas.microsoft.com/office/drawing/2014/main" id="{8E685A7B-284B-49F0-B076-31AB5FBB72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9552" y="271009"/>
            <a:ext cx="6460966" cy="544979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enter the relevant text title</a:t>
            </a:r>
            <a:br>
              <a:rPr lang="en-US" dirty="0"/>
            </a:br>
            <a:endParaRPr lang="es-PE" dirty="0"/>
          </a:p>
        </p:txBody>
      </p:sp>
      <p:sp>
        <p:nvSpPr>
          <p:cNvPr id="26" name="Rectangle 578">
            <a:extLst>
              <a:ext uri="{FF2B5EF4-FFF2-40B4-BE49-F238E27FC236}">
                <a16:creationId xmlns:a16="http://schemas.microsoft.com/office/drawing/2014/main" id="{E7649288-EBF5-4D14-8F7A-1533F8F004B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09196" y="6280820"/>
            <a:ext cx="173697" cy="468362"/>
          </a:xfrm>
          <a:prstGeom prst="rect">
            <a:avLst/>
          </a:prstGeom>
          <a:solidFill>
            <a:srgbClr val="75BDA7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7" name="Freeform 579">
            <a:extLst>
              <a:ext uri="{FF2B5EF4-FFF2-40B4-BE49-F238E27FC236}">
                <a16:creationId xmlns:a16="http://schemas.microsoft.com/office/drawing/2014/main" id="{45494489-E69F-4E02-BF13-11E110E69FCC}"/>
              </a:ext>
            </a:extLst>
          </p:cNvPr>
          <p:cNvSpPr>
            <a:spLocks/>
          </p:cNvSpPr>
          <p:nvPr userDrawn="1"/>
        </p:nvSpPr>
        <p:spPr bwMode="auto">
          <a:xfrm>
            <a:off x="11309196" y="5997012"/>
            <a:ext cx="792493" cy="752171"/>
          </a:xfrm>
          <a:custGeom>
            <a:avLst/>
            <a:gdLst>
              <a:gd name="T0" fmla="*/ 0 w 676"/>
              <a:gd name="T1" fmla="*/ 241 h 641"/>
              <a:gd name="T2" fmla="*/ 152 w 676"/>
              <a:gd name="T3" fmla="*/ 241 h 641"/>
              <a:gd name="T4" fmla="*/ 281 w 676"/>
              <a:gd name="T5" fmla="*/ 404 h 641"/>
              <a:gd name="T6" fmla="*/ 492 w 676"/>
              <a:gd name="T7" fmla="*/ 128 h 641"/>
              <a:gd name="T8" fmla="*/ 423 w 676"/>
              <a:gd name="T9" fmla="*/ 69 h 641"/>
              <a:gd name="T10" fmla="*/ 676 w 676"/>
              <a:gd name="T11" fmla="*/ 0 h 641"/>
              <a:gd name="T12" fmla="*/ 656 w 676"/>
              <a:gd name="T13" fmla="*/ 263 h 641"/>
              <a:gd name="T14" fmla="*/ 588 w 676"/>
              <a:gd name="T15" fmla="*/ 207 h 641"/>
              <a:gd name="T16" fmla="*/ 281 w 676"/>
              <a:gd name="T17" fmla="*/ 641 h 641"/>
              <a:gd name="T18" fmla="*/ 0 w 676"/>
              <a:gd name="T19" fmla="*/ 241 h 6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76" h="641">
                <a:moveTo>
                  <a:pt x="0" y="241"/>
                </a:moveTo>
                <a:cubicBezTo>
                  <a:pt x="51" y="241"/>
                  <a:pt x="101" y="241"/>
                  <a:pt x="152" y="241"/>
                </a:cubicBezTo>
                <a:cubicBezTo>
                  <a:pt x="195" y="295"/>
                  <a:pt x="238" y="350"/>
                  <a:pt x="281" y="404"/>
                </a:cubicBezTo>
                <a:cubicBezTo>
                  <a:pt x="351" y="312"/>
                  <a:pt x="422" y="220"/>
                  <a:pt x="492" y="128"/>
                </a:cubicBezTo>
                <a:cubicBezTo>
                  <a:pt x="469" y="108"/>
                  <a:pt x="446" y="89"/>
                  <a:pt x="423" y="69"/>
                </a:cubicBezTo>
                <a:cubicBezTo>
                  <a:pt x="507" y="46"/>
                  <a:pt x="592" y="23"/>
                  <a:pt x="676" y="0"/>
                </a:cubicBezTo>
                <a:cubicBezTo>
                  <a:pt x="669" y="87"/>
                  <a:pt x="663" y="175"/>
                  <a:pt x="656" y="263"/>
                </a:cubicBezTo>
                <a:cubicBezTo>
                  <a:pt x="633" y="244"/>
                  <a:pt x="611" y="225"/>
                  <a:pt x="588" y="207"/>
                </a:cubicBezTo>
                <a:cubicBezTo>
                  <a:pt x="486" y="351"/>
                  <a:pt x="383" y="496"/>
                  <a:pt x="281" y="641"/>
                </a:cubicBezTo>
                <a:cubicBezTo>
                  <a:pt x="187" y="508"/>
                  <a:pt x="94" y="374"/>
                  <a:pt x="0" y="241"/>
                </a:cubicBezTo>
                <a:close/>
              </a:path>
            </a:pathLst>
          </a:custGeom>
          <a:solidFill>
            <a:srgbClr val="58B6C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8" name="Freeform 580">
            <a:extLst>
              <a:ext uri="{FF2B5EF4-FFF2-40B4-BE49-F238E27FC236}">
                <a16:creationId xmlns:a16="http://schemas.microsoft.com/office/drawing/2014/main" id="{D9C41E3C-239A-461E-B13B-241E2D427202}"/>
              </a:ext>
            </a:extLst>
          </p:cNvPr>
          <p:cNvSpPr>
            <a:spLocks/>
          </p:cNvSpPr>
          <p:nvPr userDrawn="1"/>
        </p:nvSpPr>
        <p:spPr bwMode="auto">
          <a:xfrm>
            <a:off x="11822532" y="6280820"/>
            <a:ext cx="175248" cy="468362"/>
          </a:xfrm>
          <a:custGeom>
            <a:avLst/>
            <a:gdLst>
              <a:gd name="T0" fmla="*/ 0 w 150"/>
              <a:gd name="T1" fmla="*/ 209 h 399"/>
              <a:gd name="T2" fmla="*/ 150 w 150"/>
              <a:gd name="T3" fmla="*/ 0 h 399"/>
              <a:gd name="T4" fmla="*/ 150 w 150"/>
              <a:gd name="T5" fmla="*/ 399 h 399"/>
              <a:gd name="T6" fmla="*/ 0 w 150"/>
              <a:gd name="T7" fmla="*/ 399 h 399"/>
              <a:gd name="T8" fmla="*/ 0 w 150"/>
              <a:gd name="T9" fmla="*/ 209 h 3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50" h="399">
                <a:moveTo>
                  <a:pt x="0" y="209"/>
                </a:moveTo>
                <a:cubicBezTo>
                  <a:pt x="50" y="140"/>
                  <a:pt x="100" y="70"/>
                  <a:pt x="150" y="0"/>
                </a:cubicBezTo>
                <a:cubicBezTo>
                  <a:pt x="150" y="133"/>
                  <a:pt x="150" y="266"/>
                  <a:pt x="150" y="399"/>
                </a:cubicBezTo>
                <a:cubicBezTo>
                  <a:pt x="100" y="399"/>
                  <a:pt x="50" y="399"/>
                  <a:pt x="0" y="399"/>
                </a:cubicBezTo>
                <a:cubicBezTo>
                  <a:pt x="0" y="336"/>
                  <a:pt x="0" y="273"/>
                  <a:pt x="0" y="209"/>
                </a:cubicBezTo>
                <a:close/>
              </a:path>
            </a:pathLst>
          </a:custGeom>
          <a:solidFill>
            <a:srgbClr val="75BDA7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9" name="Freeform 581">
            <a:extLst>
              <a:ext uri="{FF2B5EF4-FFF2-40B4-BE49-F238E27FC236}">
                <a16:creationId xmlns:a16="http://schemas.microsoft.com/office/drawing/2014/main" id="{25E4434D-0B0E-4A66-BCF4-C91C4EEC5AA9}"/>
              </a:ext>
            </a:extLst>
          </p:cNvPr>
          <p:cNvSpPr>
            <a:spLocks/>
          </p:cNvSpPr>
          <p:nvPr userDrawn="1"/>
        </p:nvSpPr>
        <p:spPr bwMode="auto">
          <a:xfrm>
            <a:off x="11309196" y="6280820"/>
            <a:ext cx="173697" cy="356699"/>
          </a:xfrm>
          <a:custGeom>
            <a:avLst/>
            <a:gdLst>
              <a:gd name="T0" fmla="*/ 0 w 149"/>
              <a:gd name="T1" fmla="*/ 0 h 305"/>
              <a:gd name="T2" fmla="*/ 149 w 149"/>
              <a:gd name="T3" fmla="*/ 305 h 305"/>
              <a:gd name="T4" fmla="*/ 149 w 149"/>
              <a:gd name="T5" fmla="*/ 212 h 305"/>
              <a:gd name="T6" fmla="*/ 0 w 149"/>
              <a:gd name="T7" fmla="*/ 0 h 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49" h="305">
                <a:moveTo>
                  <a:pt x="0" y="0"/>
                </a:moveTo>
                <a:cubicBezTo>
                  <a:pt x="50" y="102"/>
                  <a:pt x="100" y="204"/>
                  <a:pt x="149" y="305"/>
                </a:cubicBezTo>
                <a:cubicBezTo>
                  <a:pt x="149" y="274"/>
                  <a:pt x="149" y="243"/>
                  <a:pt x="149" y="212"/>
                </a:cubicBezTo>
                <a:cubicBezTo>
                  <a:pt x="99" y="142"/>
                  <a:pt x="50" y="71"/>
                  <a:pt x="0" y="0"/>
                </a:cubicBezTo>
                <a:close/>
              </a:path>
            </a:pathLst>
          </a:custGeom>
          <a:solidFill>
            <a:srgbClr val="3494B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2B0F827-A81B-4060-A691-4C1BB2E1601F}"/>
              </a:ext>
            </a:extLst>
          </p:cNvPr>
          <p:cNvSpPr/>
          <p:nvPr userDrawn="1"/>
        </p:nvSpPr>
        <p:spPr>
          <a:xfrm>
            <a:off x="1" y="6571641"/>
            <a:ext cx="11309196" cy="177540"/>
          </a:xfrm>
          <a:prstGeom prst="rect">
            <a:avLst/>
          </a:prstGeom>
          <a:solidFill>
            <a:srgbClr val="75BDA7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692960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B22F1847-CFC5-45DB-997A-5EFDECA57DB9}"/>
              </a:ext>
            </a:extLst>
          </p:cNvPr>
          <p:cNvGrpSpPr/>
          <p:nvPr userDrawn="1"/>
        </p:nvGrpSpPr>
        <p:grpSpPr>
          <a:xfrm>
            <a:off x="0" y="6572402"/>
            <a:ext cx="12154152" cy="176780"/>
            <a:chOff x="0" y="6640497"/>
            <a:chExt cx="12154152" cy="226331"/>
          </a:xfrm>
        </p:grpSpPr>
        <p:sp>
          <p:nvSpPr>
            <p:cNvPr id="26" name="Rectangle 36">
              <a:extLst>
                <a:ext uri="{FF2B5EF4-FFF2-40B4-BE49-F238E27FC236}">
                  <a16:creationId xmlns:a16="http://schemas.microsoft.com/office/drawing/2014/main" id="{DB929CA7-53E6-43F0-8FF8-CDF3DF758CD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6640497"/>
              <a:ext cx="5104067" cy="226331"/>
            </a:xfrm>
            <a:prstGeom prst="rect">
              <a:avLst/>
            </a:prstGeom>
            <a:solidFill>
              <a:srgbClr val="58B6C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7" name="Rectangle 37">
              <a:extLst>
                <a:ext uri="{FF2B5EF4-FFF2-40B4-BE49-F238E27FC236}">
                  <a16:creationId xmlns:a16="http://schemas.microsoft.com/office/drawing/2014/main" id="{BD0A70F8-B4B1-408C-9791-B9B2284FFE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082915" y="6640497"/>
              <a:ext cx="3633977" cy="226331"/>
            </a:xfrm>
            <a:prstGeom prst="rect">
              <a:avLst/>
            </a:prstGeom>
            <a:solidFill>
              <a:srgbClr val="8CC06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8" name="Rectangle 38">
              <a:extLst>
                <a:ext uri="{FF2B5EF4-FFF2-40B4-BE49-F238E27FC236}">
                  <a16:creationId xmlns:a16="http://schemas.microsoft.com/office/drawing/2014/main" id="{5A9B10AD-0719-40EA-9819-397122A3701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8716892" y="6640497"/>
              <a:ext cx="2149081" cy="226331"/>
            </a:xfrm>
            <a:prstGeom prst="rect">
              <a:avLst/>
            </a:prstGeom>
            <a:solidFill>
              <a:srgbClr val="3494BA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9" name="Rectangle 39">
              <a:extLst>
                <a:ext uri="{FF2B5EF4-FFF2-40B4-BE49-F238E27FC236}">
                  <a16:creationId xmlns:a16="http://schemas.microsoft.com/office/drawing/2014/main" id="{27D11D7E-5B0A-439D-9D57-0546D771CF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0865972" y="6640497"/>
              <a:ext cx="1288180" cy="226331"/>
            </a:xfrm>
            <a:prstGeom prst="rect">
              <a:avLst/>
            </a:prstGeom>
            <a:solidFill>
              <a:srgbClr val="75BDA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</p:grpSp>
    </p:spTree>
    <p:extLst>
      <p:ext uri="{BB962C8B-B14F-4D97-AF65-F5344CB8AC3E}">
        <p14:creationId xmlns:p14="http://schemas.microsoft.com/office/powerpoint/2010/main" val="3900478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77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D2DBC6C-DD6D-48BF-98C2-B6D09B71BC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8E335B3-E6C8-4C68-B320-5A11CD77B769}"/>
              </a:ext>
            </a:extLst>
          </p:cNvPr>
          <p:cNvSpPr/>
          <p:nvPr userDrawn="1"/>
        </p:nvSpPr>
        <p:spPr>
          <a:xfrm>
            <a:off x="354010" y="1131591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0D8302F-3B95-4D6C-8612-300A5D3E29C1}"/>
              </a:ext>
            </a:extLst>
          </p:cNvPr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>
            <a:extLst>
              <a:ext uri="{FF2B5EF4-FFF2-40B4-BE49-F238E27FC236}">
                <a16:creationId xmlns:a16="http://schemas.microsoft.com/office/drawing/2014/main" id="{1FC8F613-E070-4AE7-9313-0DDC9F553451}"/>
              </a:ext>
            </a:extLst>
          </p:cNvPr>
          <p:cNvSpPr/>
          <p:nvPr userDrawn="1"/>
        </p:nvSpPr>
        <p:spPr>
          <a:xfrm rot="5400000">
            <a:off x="3057177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TextBox 57">
            <a:extLst>
              <a:ext uri="{FF2B5EF4-FFF2-40B4-BE49-F238E27FC236}">
                <a16:creationId xmlns:a16="http://schemas.microsoft.com/office/drawing/2014/main" id="{B82A7FE8-1FB6-45BD-BF01-27DCAE0D0FAD}"/>
              </a:ext>
            </a:extLst>
          </p:cNvPr>
          <p:cNvSpPr txBox="1"/>
          <p:nvPr userDrawn="1"/>
        </p:nvSpPr>
        <p:spPr>
          <a:xfrm>
            <a:off x="711704" y="1637214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extBox 58">
            <a:extLst>
              <a:ext uri="{FF2B5EF4-FFF2-40B4-BE49-F238E27FC236}">
                <a16:creationId xmlns:a16="http://schemas.microsoft.com/office/drawing/2014/main" id="{7840F394-0820-4BF8-A5C8-E994209710B0}"/>
              </a:ext>
            </a:extLst>
          </p:cNvPr>
          <p:cNvSpPr txBox="1"/>
          <p:nvPr userDrawn="1"/>
        </p:nvSpPr>
        <p:spPr>
          <a:xfrm>
            <a:off x="711704" y="2127463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TextBox 60">
            <a:extLst>
              <a:ext uri="{FF2B5EF4-FFF2-40B4-BE49-F238E27FC236}">
                <a16:creationId xmlns:a16="http://schemas.microsoft.com/office/drawing/2014/main" id="{539B8B64-1121-4AE7-A6EF-FD1E7CAF1200}"/>
              </a:ext>
            </a:extLst>
          </p:cNvPr>
          <p:cNvSpPr txBox="1"/>
          <p:nvPr userDrawn="1"/>
        </p:nvSpPr>
        <p:spPr>
          <a:xfrm>
            <a:off x="721229" y="4450324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901180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4318000" y="2971800"/>
            <a:ext cx="35560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感谢您下载包图网平台上提供的</a:t>
            </a:r>
            <a:r>
              <a:rPr lang="en-US" altLang="zh-CN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PPT</a:t>
            </a:r>
            <a:r>
              <a:rPr lang="zh-CN" altLang="en-US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r>
              <a:rPr lang="en-US" altLang="zh-CN" sz="6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ibaotu.com</a:t>
            </a:r>
          </a:p>
        </p:txBody>
      </p:sp>
    </p:spTree>
    <p:extLst>
      <p:ext uri="{BB962C8B-B14F-4D97-AF65-F5344CB8AC3E}">
        <p14:creationId xmlns:p14="http://schemas.microsoft.com/office/powerpoint/2010/main" val="333706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6" r:id="rId3"/>
    <p:sldLayoutId id="2147483654" r:id="rId4"/>
    <p:sldLayoutId id="214748365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55ACAA29-E31C-47AD-8D1B-75487448FCC1}"/>
              </a:ext>
            </a:extLst>
          </p:cNvPr>
          <p:cNvSpPr/>
          <p:nvPr/>
        </p:nvSpPr>
        <p:spPr>
          <a:xfrm>
            <a:off x="0" y="0"/>
            <a:ext cx="6227217" cy="6858000"/>
          </a:xfrm>
          <a:custGeom>
            <a:avLst/>
            <a:gdLst>
              <a:gd name="connsiteX0" fmla="*/ 0 w 6227217"/>
              <a:gd name="connsiteY0" fmla="*/ 0 h 6858000"/>
              <a:gd name="connsiteX1" fmla="*/ 265474 w 6227217"/>
              <a:gd name="connsiteY1" fmla="*/ 0 h 6858000"/>
              <a:gd name="connsiteX2" fmla="*/ 381000 w 6227217"/>
              <a:gd name="connsiteY2" fmla="*/ 0 h 6858000"/>
              <a:gd name="connsiteX3" fmla="*/ 646474 w 6227217"/>
              <a:gd name="connsiteY3" fmla="*/ 0 h 6858000"/>
              <a:gd name="connsiteX4" fmla="*/ 3471545 w 6227217"/>
              <a:gd name="connsiteY4" fmla="*/ 0 h 6858000"/>
              <a:gd name="connsiteX5" fmla="*/ 3737019 w 6227217"/>
              <a:gd name="connsiteY5" fmla="*/ 0 h 6858000"/>
              <a:gd name="connsiteX6" fmla="*/ 3852545 w 6227217"/>
              <a:gd name="connsiteY6" fmla="*/ 0 h 6858000"/>
              <a:gd name="connsiteX7" fmla="*/ 4118019 w 6227217"/>
              <a:gd name="connsiteY7" fmla="*/ 0 h 6858000"/>
              <a:gd name="connsiteX8" fmla="*/ 3961174 w 6227217"/>
              <a:gd name="connsiteY8" fmla="*/ 723900 h 6858000"/>
              <a:gd name="connsiteX9" fmla="*/ 4304074 w 6227217"/>
              <a:gd name="connsiteY9" fmla="*/ 1905000 h 6858000"/>
              <a:gd name="connsiteX10" fmla="*/ 6227217 w 6227217"/>
              <a:gd name="connsiteY10" fmla="*/ 6858000 h 6858000"/>
              <a:gd name="connsiteX11" fmla="*/ 5961743 w 6227217"/>
              <a:gd name="connsiteY11" fmla="*/ 6858000 h 6858000"/>
              <a:gd name="connsiteX12" fmla="*/ 5846217 w 6227217"/>
              <a:gd name="connsiteY12" fmla="*/ 6858000 h 6858000"/>
              <a:gd name="connsiteX13" fmla="*/ 5580743 w 6227217"/>
              <a:gd name="connsiteY13" fmla="*/ 6858000 h 6858000"/>
              <a:gd name="connsiteX14" fmla="*/ 646474 w 6227217"/>
              <a:gd name="connsiteY14" fmla="*/ 6858000 h 6858000"/>
              <a:gd name="connsiteX15" fmla="*/ 381000 w 6227217"/>
              <a:gd name="connsiteY15" fmla="*/ 6858000 h 6858000"/>
              <a:gd name="connsiteX16" fmla="*/ 265474 w 6227217"/>
              <a:gd name="connsiteY16" fmla="*/ 6858000 h 6858000"/>
              <a:gd name="connsiteX17" fmla="*/ 0 w 6227217"/>
              <a:gd name="connsiteY1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6227217" h="6858000">
                <a:moveTo>
                  <a:pt x="0" y="0"/>
                </a:moveTo>
                <a:lnTo>
                  <a:pt x="265474" y="0"/>
                </a:lnTo>
                <a:lnTo>
                  <a:pt x="381000" y="0"/>
                </a:lnTo>
                <a:lnTo>
                  <a:pt x="646474" y="0"/>
                </a:lnTo>
                <a:lnTo>
                  <a:pt x="3471545" y="0"/>
                </a:lnTo>
                <a:lnTo>
                  <a:pt x="3737019" y="0"/>
                </a:lnTo>
                <a:lnTo>
                  <a:pt x="3852545" y="0"/>
                </a:lnTo>
                <a:lnTo>
                  <a:pt x="4118019" y="0"/>
                </a:lnTo>
                <a:lnTo>
                  <a:pt x="3961174" y="723900"/>
                </a:lnTo>
                <a:lnTo>
                  <a:pt x="4304074" y="1905000"/>
                </a:lnTo>
                <a:lnTo>
                  <a:pt x="6227217" y="6858000"/>
                </a:lnTo>
                <a:lnTo>
                  <a:pt x="5961743" y="6858000"/>
                </a:lnTo>
                <a:lnTo>
                  <a:pt x="5846217" y="6858000"/>
                </a:lnTo>
                <a:lnTo>
                  <a:pt x="5580743" y="6858000"/>
                </a:lnTo>
                <a:lnTo>
                  <a:pt x="646474" y="6858000"/>
                </a:lnTo>
                <a:lnTo>
                  <a:pt x="381000" y="6858000"/>
                </a:lnTo>
                <a:lnTo>
                  <a:pt x="26547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/>
            <a:srcRect/>
            <a:tile tx="-8636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1B4D21F5-DD21-4926-9418-6702EA44468B}"/>
              </a:ext>
            </a:extLst>
          </p:cNvPr>
          <p:cNvSpPr/>
          <p:nvPr/>
        </p:nvSpPr>
        <p:spPr>
          <a:xfrm flipH="1">
            <a:off x="6518294" y="5372743"/>
            <a:ext cx="1302443" cy="1491343"/>
          </a:xfrm>
          <a:custGeom>
            <a:avLst/>
            <a:gdLst>
              <a:gd name="connsiteX0" fmla="*/ 1302443 w 1302443"/>
              <a:gd name="connsiteY0" fmla="*/ 0 h 1491343"/>
              <a:gd name="connsiteX1" fmla="*/ 591643 w 1302443"/>
              <a:gd name="connsiteY1" fmla="*/ 0 h 1491343"/>
              <a:gd name="connsiteX2" fmla="*/ 0 w 1302443"/>
              <a:gd name="connsiteY2" fmla="*/ 1491343 h 1491343"/>
              <a:gd name="connsiteX3" fmla="*/ 710800 w 1302443"/>
              <a:gd name="connsiteY3" fmla="*/ 1491343 h 1491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2443" h="1491343">
                <a:moveTo>
                  <a:pt x="1302443" y="0"/>
                </a:moveTo>
                <a:lnTo>
                  <a:pt x="591643" y="0"/>
                </a:lnTo>
                <a:lnTo>
                  <a:pt x="0" y="1491343"/>
                </a:lnTo>
                <a:lnTo>
                  <a:pt x="710800" y="1491343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3D979C5D-6245-4597-AF73-005B56B26466}"/>
              </a:ext>
            </a:extLst>
          </p:cNvPr>
          <p:cNvSpPr/>
          <p:nvPr/>
        </p:nvSpPr>
        <p:spPr>
          <a:xfrm flipH="1">
            <a:off x="3837349" y="724542"/>
            <a:ext cx="2775903" cy="6129830"/>
          </a:xfrm>
          <a:custGeom>
            <a:avLst/>
            <a:gdLst>
              <a:gd name="connsiteX0" fmla="*/ 2775903 w 2775903"/>
              <a:gd name="connsiteY0" fmla="*/ 0 h 6129830"/>
              <a:gd name="connsiteX1" fmla="*/ 2431816 w 2775903"/>
              <a:gd name="connsiteY1" fmla="*/ 0 h 6129830"/>
              <a:gd name="connsiteX2" fmla="*/ 0 w 2775903"/>
              <a:gd name="connsiteY2" fmla="*/ 6129830 h 6129830"/>
              <a:gd name="connsiteX3" fmla="*/ 710800 w 2775903"/>
              <a:gd name="connsiteY3" fmla="*/ 6129830 h 6129830"/>
              <a:gd name="connsiteX4" fmla="*/ 2775903 w 2775903"/>
              <a:gd name="connsiteY4" fmla="*/ 924366 h 612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5903" h="6129830">
                <a:moveTo>
                  <a:pt x="2775903" y="0"/>
                </a:moveTo>
                <a:lnTo>
                  <a:pt x="2431816" y="0"/>
                </a:lnTo>
                <a:lnTo>
                  <a:pt x="0" y="6129830"/>
                </a:lnTo>
                <a:lnTo>
                  <a:pt x="710800" y="6129830"/>
                </a:lnTo>
                <a:lnTo>
                  <a:pt x="2775903" y="92436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等腰三角形 2">
            <a:extLst>
              <a:ext uri="{FF2B5EF4-FFF2-40B4-BE49-F238E27FC236}">
                <a16:creationId xmlns:a16="http://schemas.microsoft.com/office/drawing/2014/main" id="{470E4646-0874-4CDC-8638-A78E1FD639D4}"/>
              </a:ext>
            </a:extLst>
          </p:cNvPr>
          <p:cNvSpPr/>
          <p:nvPr/>
        </p:nvSpPr>
        <p:spPr>
          <a:xfrm flipV="1">
            <a:off x="3837348" y="3629"/>
            <a:ext cx="1105354" cy="1659537"/>
          </a:xfrm>
          <a:prstGeom prst="triangle">
            <a:avLst>
              <a:gd name="adj" fmla="val 0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23D40C57-23D3-4E1D-8F40-949CDDB159F6}"/>
              </a:ext>
            </a:extLst>
          </p:cNvPr>
          <p:cNvSpPr/>
          <p:nvPr/>
        </p:nvSpPr>
        <p:spPr>
          <a:xfrm>
            <a:off x="5916861" y="5372743"/>
            <a:ext cx="1302443" cy="1491343"/>
          </a:xfrm>
          <a:custGeom>
            <a:avLst/>
            <a:gdLst>
              <a:gd name="connsiteX0" fmla="*/ 591643 w 1302443"/>
              <a:gd name="connsiteY0" fmla="*/ 0 h 1491343"/>
              <a:gd name="connsiteX1" fmla="*/ 1302443 w 1302443"/>
              <a:gd name="connsiteY1" fmla="*/ 0 h 1491343"/>
              <a:gd name="connsiteX2" fmla="*/ 710800 w 1302443"/>
              <a:gd name="connsiteY2" fmla="*/ 1491343 h 1491343"/>
              <a:gd name="connsiteX3" fmla="*/ 0 w 1302443"/>
              <a:gd name="connsiteY3" fmla="*/ 1491343 h 1491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2443" h="1491343">
                <a:moveTo>
                  <a:pt x="591643" y="0"/>
                </a:moveTo>
                <a:lnTo>
                  <a:pt x="1302443" y="0"/>
                </a:lnTo>
                <a:lnTo>
                  <a:pt x="710800" y="1491343"/>
                </a:lnTo>
                <a:lnTo>
                  <a:pt x="0" y="149134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0A5630F-E651-40A9-8C97-7B9BDB2CE2C0}"/>
              </a:ext>
            </a:extLst>
          </p:cNvPr>
          <p:cNvSpPr/>
          <p:nvPr/>
        </p:nvSpPr>
        <p:spPr>
          <a:xfrm>
            <a:off x="3432313" y="1271091"/>
            <a:ext cx="8004105" cy="83099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r"/>
            <a:r>
              <a:rPr lang="es-ES" sz="4800" b="1" noProof="0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</a:rPr>
              <a:t>Auditoria de sistemas</a:t>
            </a:r>
          </a:p>
        </p:txBody>
      </p:sp>
      <p:sp>
        <p:nvSpPr>
          <p:cNvPr id="2" name="矩形 25">
            <a:extLst>
              <a:ext uri="{FF2B5EF4-FFF2-40B4-BE49-F238E27FC236}">
                <a16:creationId xmlns:a16="http://schemas.microsoft.com/office/drawing/2014/main" id="{BE64753B-C92D-095D-DECB-CD29450C8706}"/>
              </a:ext>
            </a:extLst>
          </p:cNvPr>
          <p:cNvSpPr/>
          <p:nvPr/>
        </p:nvSpPr>
        <p:spPr>
          <a:xfrm>
            <a:off x="3327520" y="2285755"/>
            <a:ext cx="8004105" cy="83099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r"/>
            <a:r>
              <a:rPr lang="es-ES" sz="4800" b="1" noProof="0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</a:rPr>
              <a:t>Droguería INTI S.A.</a:t>
            </a:r>
          </a:p>
        </p:txBody>
      </p:sp>
      <p:sp>
        <p:nvSpPr>
          <p:cNvPr id="6" name="矩形 39">
            <a:extLst>
              <a:ext uri="{FF2B5EF4-FFF2-40B4-BE49-F238E27FC236}">
                <a16:creationId xmlns:a16="http://schemas.microsoft.com/office/drawing/2014/main" id="{8ABA2CB3-EB3B-22A9-C126-654BFA851E62}"/>
              </a:ext>
            </a:extLst>
          </p:cNvPr>
          <p:cNvSpPr/>
          <p:nvPr/>
        </p:nvSpPr>
        <p:spPr>
          <a:xfrm>
            <a:off x="5916861" y="3427274"/>
            <a:ext cx="5228217" cy="1389163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CN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Estudiantes</a:t>
            </a: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: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Fabio Camacho Encinas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Cristian Gabriel Saravia Roman</a:t>
            </a:r>
          </a:p>
          <a:p>
            <a:pPr>
              <a:lnSpc>
                <a:spcPct val="120000"/>
              </a:lnSpc>
            </a:pP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Carrera: 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Ingenieria de Sistemas</a:t>
            </a:r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34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7C5D94C-B388-4E74-9C5E-FD10C1EB90BF}"/>
              </a:ext>
            </a:extLst>
          </p:cNvPr>
          <p:cNvSpPr/>
          <p:nvPr/>
        </p:nvSpPr>
        <p:spPr>
          <a:xfrm>
            <a:off x="1423359" y="181895"/>
            <a:ext cx="10610490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Análisis del organigrama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AD7A078-5471-9D47-9243-E1F8A3FA1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837" y="1500996"/>
            <a:ext cx="8696325" cy="4520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769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8">
            <a:extLst>
              <a:ext uri="{FF2B5EF4-FFF2-40B4-BE49-F238E27FC236}">
                <a16:creationId xmlns:a16="http://schemas.microsoft.com/office/drawing/2014/main" id="{F3038C5F-E599-4826-B54E-142274E8BE04}"/>
              </a:ext>
            </a:extLst>
          </p:cNvPr>
          <p:cNvSpPr/>
          <p:nvPr/>
        </p:nvSpPr>
        <p:spPr>
          <a:xfrm>
            <a:off x="1453371" y="181895"/>
            <a:ext cx="10407949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El organigrama que muestras es altamente vertical 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6278D58-F4B3-52A0-E153-70FF5DE593A7}"/>
              </a:ext>
            </a:extLst>
          </p:cNvPr>
          <p:cNvSpPr txBox="1"/>
          <p:nvPr/>
        </p:nvSpPr>
        <p:spPr>
          <a:xfrm>
            <a:off x="3221786" y="1194991"/>
            <a:ext cx="6914252" cy="5197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Problemas detectados</a:t>
            </a:r>
            <a:endParaRPr lang="en-US" sz="1400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Cuellos</a:t>
            </a:r>
            <a:r>
              <a:rPr lang="en-US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4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botella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Muchas decisiones deben subir hasta </a:t>
            </a:r>
            <a:r>
              <a:rPr lang="es-ES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Gerencia General</a:t>
            </a:r>
            <a:r>
              <a:rPr lang="es-E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TI (Sistemas) depende indirectamente → lento para responder incidencias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TI no </a:t>
            </a:r>
            <a:r>
              <a:rPr lang="en-US" sz="14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tiene</a:t>
            </a:r>
            <a:r>
              <a:rPr lang="en-US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independencia</a:t>
            </a:r>
            <a:r>
              <a:rPr lang="en-US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clara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“Dirección de Sistemas” está enterrada bajo estructura administrativa/comercial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No hay un </a:t>
            </a:r>
            <a:r>
              <a:rPr lang="es-ES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CIO / Gerente de TI</a:t>
            </a:r>
            <a:r>
              <a:rPr lang="es-E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visible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Comunicación</a:t>
            </a:r>
            <a:r>
              <a:rPr lang="en-US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fragmentada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 (Logística) y Sistemas no están integrados directamente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Esto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genera: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Retrasos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actualización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de stock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Errores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registros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151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8">
            <a:extLst>
              <a:ext uri="{FF2B5EF4-FFF2-40B4-BE49-F238E27FC236}">
                <a16:creationId xmlns:a16="http://schemas.microsoft.com/office/drawing/2014/main" id="{5A073539-402B-4F42-B997-2A8099A7F9A1}"/>
              </a:ext>
            </a:extLst>
          </p:cNvPr>
          <p:cNvSpPr/>
          <p:nvPr/>
        </p:nvSpPr>
        <p:spPr>
          <a:xfrm>
            <a:off x="1453372" y="181895"/>
            <a:ext cx="10738628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 y nuevo organigrama optimizado 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6C7646F0-BDEA-2B96-3CD0-F4D307830E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3306" y="1095555"/>
            <a:ext cx="8893834" cy="502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1463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8">
            <a:extLst>
              <a:ext uri="{FF2B5EF4-FFF2-40B4-BE49-F238E27FC236}">
                <a16:creationId xmlns:a16="http://schemas.microsoft.com/office/drawing/2014/main" id="{91A2DE73-4AD0-4317-A3A7-1B039EF239AF}"/>
              </a:ext>
            </a:extLst>
          </p:cNvPr>
          <p:cNvSpPr/>
          <p:nvPr/>
        </p:nvSpPr>
        <p:spPr>
          <a:xfrm>
            <a:off x="1453372" y="181895"/>
            <a:ext cx="541325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19A029B2-EFB9-A980-0030-E85A436D02A6}"/>
              </a:ext>
            </a:extLst>
          </p:cNvPr>
          <p:cNvSpPr txBox="1"/>
          <p:nvPr/>
        </p:nvSpPr>
        <p:spPr>
          <a:xfrm>
            <a:off x="2113472" y="2302987"/>
            <a:ext cx="7815532" cy="3331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Crear una </a:t>
            </a:r>
            <a:r>
              <a:rPr lang="es-ES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Gerencia o Jefatura de TI independiente</a:t>
            </a:r>
            <a:r>
              <a:rPr lang="es-E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Reducir niveles jerárquicos (estructura </a:t>
            </a:r>
            <a:r>
              <a:rPr lang="es-E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semi-plana</a:t>
            </a:r>
            <a:r>
              <a:rPr lang="es-E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)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Integrar</a:t>
            </a:r>
            <a:r>
              <a:rPr lang="en-U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TI con: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Finanzas</a:t>
            </a:r>
            <a:r>
              <a:rPr lang="en-U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Producción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021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1407A5C2-4FBC-4E72-BAA0-E399E0D5B45C}"/>
              </a:ext>
            </a:extLst>
          </p:cNvPr>
          <p:cNvSpPr/>
          <p:nvPr/>
        </p:nvSpPr>
        <p:spPr>
          <a:xfrm>
            <a:off x="1453372" y="181895"/>
            <a:ext cx="1001113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Roles y Segregación de Funciones (Inventarios)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34" name="Tabla 33">
            <a:extLst>
              <a:ext uri="{FF2B5EF4-FFF2-40B4-BE49-F238E27FC236}">
                <a16:creationId xmlns:a16="http://schemas.microsoft.com/office/drawing/2014/main" id="{919BB342-4146-8D3D-B66B-C1CBB70567C8}"/>
              </a:ext>
            </a:extLst>
          </p:cNvPr>
          <p:cNvGraphicFramePr>
            <a:graphicFrameLocks noGrp="1"/>
          </p:cNvGraphicFramePr>
          <p:nvPr/>
        </p:nvGraphicFramePr>
        <p:xfrm>
          <a:off x="1017918" y="1785667"/>
          <a:ext cx="3899139" cy="343331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4860">
                  <a:extLst>
                    <a:ext uri="{9D8B030D-6E8A-4147-A177-3AD203B41FA5}">
                      <a16:colId xmlns:a16="http://schemas.microsoft.com/office/drawing/2014/main" val="759061535"/>
                    </a:ext>
                  </a:extLst>
                </a:gridCol>
                <a:gridCol w="2514279">
                  <a:extLst>
                    <a:ext uri="{9D8B030D-6E8A-4147-A177-3AD203B41FA5}">
                      <a16:colId xmlns:a16="http://schemas.microsoft.com/office/drawing/2014/main" val="4059301952"/>
                    </a:ext>
                  </a:extLst>
                </a:gridCol>
              </a:tblGrid>
              <a:tr h="572219">
                <a:tc gridSpan="2"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MAPEO IDEAL DE ROLES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3070066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Rol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Función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803720923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Almacenero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Manejo físico del inventario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032500549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 err="1">
                          <a:effectLst/>
                        </a:rPr>
                        <a:t>Digitador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Registro en sistema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084989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Supervisor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Validación de movimientos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948324724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Auditor interno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Control </a:t>
                      </a:r>
                      <a:r>
                        <a:rPr lang="en-US" sz="1100" dirty="0" err="1">
                          <a:effectLst/>
                        </a:rPr>
                        <a:t>independiente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537268642"/>
                  </a:ext>
                </a:extLst>
              </a:tr>
            </a:tbl>
          </a:graphicData>
        </a:graphic>
      </p:graphicFrame>
      <p:sp>
        <p:nvSpPr>
          <p:cNvPr id="36" name="CuadroTexto 35">
            <a:extLst>
              <a:ext uri="{FF2B5EF4-FFF2-40B4-BE49-F238E27FC236}">
                <a16:creationId xmlns:a16="http://schemas.microsoft.com/office/drawing/2014/main" id="{0E7FD73A-1622-F8AF-9272-6DE999FB6D67}"/>
              </a:ext>
            </a:extLst>
          </p:cNvPr>
          <p:cNvSpPr txBox="1"/>
          <p:nvPr/>
        </p:nvSpPr>
        <p:spPr>
          <a:xfrm>
            <a:off x="5529532" y="923027"/>
            <a:ext cx="6090249" cy="5653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2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Problemas comunes detectados </a:t>
            </a:r>
            <a:endParaRPr lang="en-US" sz="1200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Falta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segregación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clara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Puede ocurrir que una misma persona: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Registre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Controle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Apruebe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Riesgo: fraude o manipulación de inventarios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n-US" sz="12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Dependencia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excesiva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depende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solo de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TI no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valida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datos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automáticamente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n-US" sz="12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Duplicidad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funciones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Direcciones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y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gerencias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similares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Posible doble registro (manual + sistema)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75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8">
            <a:extLst>
              <a:ext uri="{FF2B5EF4-FFF2-40B4-BE49-F238E27FC236}">
                <a16:creationId xmlns:a16="http://schemas.microsoft.com/office/drawing/2014/main" id="{BF11FCB6-CA8B-4C35-ABE4-71F2A67E3C66}"/>
              </a:ext>
            </a:extLst>
          </p:cNvPr>
          <p:cNvSpPr/>
          <p:nvPr/>
        </p:nvSpPr>
        <p:spPr>
          <a:xfrm>
            <a:off x="1453371" y="181895"/>
            <a:ext cx="9188705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Riesgos identificados y matriz de riesgos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99D8A54D-EF90-EE8C-7FBD-1A07179E5207}"/>
              </a:ext>
            </a:extLst>
          </p:cNvPr>
          <p:cNvGraphicFramePr>
            <a:graphicFrameLocks noGrp="1"/>
          </p:cNvGraphicFramePr>
          <p:nvPr/>
        </p:nvGraphicFramePr>
        <p:xfrm>
          <a:off x="1682152" y="1345722"/>
          <a:ext cx="8315864" cy="516963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0717">
                  <a:extLst>
                    <a:ext uri="{9D8B030D-6E8A-4147-A177-3AD203B41FA5}">
                      <a16:colId xmlns:a16="http://schemas.microsoft.com/office/drawing/2014/main" val="2961961260"/>
                    </a:ext>
                  </a:extLst>
                </a:gridCol>
                <a:gridCol w="1187851">
                  <a:extLst>
                    <a:ext uri="{9D8B030D-6E8A-4147-A177-3AD203B41FA5}">
                      <a16:colId xmlns:a16="http://schemas.microsoft.com/office/drawing/2014/main" val="3688156410"/>
                    </a:ext>
                  </a:extLst>
                </a:gridCol>
                <a:gridCol w="1265301">
                  <a:extLst>
                    <a:ext uri="{9D8B030D-6E8A-4147-A177-3AD203B41FA5}">
                      <a16:colId xmlns:a16="http://schemas.microsoft.com/office/drawing/2014/main" val="3162244105"/>
                    </a:ext>
                  </a:extLst>
                </a:gridCol>
                <a:gridCol w="1581401">
                  <a:extLst>
                    <a:ext uri="{9D8B030D-6E8A-4147-A177-3AD203B41FA5}">
                      <a16:colId xmlns:a16="http://schemas.microsoft.com/office/drawing/2014/main" val="3973333961"/>
                    </a:ext>
                  </a:extLst>
                </a:gridCol>
                <a:gridCol w="1366165">
                  <a:extLst>
                    <a:ext uri="{9D8B030D-6E8A-4147-A177-3AD203B41FA5}">
                      <a16:colId xmlns:a16="http://schemas.microsoft.com/office/drawing/2014/main" val="1013469829"/>
                    </a:ext>
                  </a:extLst>
                </a:gridCol>
                <a:gridCol w="841132">
                  <a:extLst>
                    <a:ext uri="{9D8B030D-6E8A-4147-A177-3AD203B41FA5}">
                      <a16:colId xmlns:a16="http://schemas.microsoft.com/office/drawing/2014/main" val="2193540329"/>
                    </a:ext>
                  </a:extLst>
                </a:gridCol>
                <a:gridCol w="1573297">
                  <a:extLst>
                    <a:ext uri="{9D8B030D-6E8A-4147-A177-3AD203B41FA5}">
                      <a16:colId xmlns:a16="http://schemas.microsoft.com/office/drawing/2014/main" val="1266944130"/>
                    </a:ext>
                  </a:extLst>
                </a:gridCol>
              </a:tblGrid>
              <a:tr h="310688"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s-ES" sz="1100" dirty="0">
                          <a:effectLst/>
                        </a:rPr>
                        <a:t>MATRIZ DE RIESGOS INTI S.A.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01103"/>
                  </a:ext>
                </a:extLst>
              </a:tr>
              <a:tr h="427635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Nº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Riesgo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Causa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Impacto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Probabilidad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Nivel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Solución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526171410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Cuello de botella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Estructura vertical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Retrasos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Reducir niveles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500830106"/>
                  </a:ext>
                </a:extLst>
              </a:tr>
              <a:tr h="104416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Fraude inventarios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Falta segregación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Pérdidas económicas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Crítico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Separar funciones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355215250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Error en stock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Registro manual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Datos incorrectos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ERP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2008480421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Acceso indebido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Sin control TI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Fuga de info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Media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Roles y permisos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337699894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Caída del sistema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Falta de soporte TI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Paralización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Media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Área TI independiente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645238668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Duplicidad de datos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Procesos manuales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Inconsistencias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 err="1">
                          <a:effectLst/>
                        </a:rPr>
                        <a:t>Automatización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2588784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8146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 8">
            <a:extLst>
              <a:ext uri="{FF2B5EF4-FFF2-40B4-BE49-F238E27FC236}">
                <a16:creationId xmlns:a16="http://schemas.microsoft.com/office/drawing/2014/main" id="{1CA40807-048B-41F0-9A96-32F50EE9F6FE}"/>
              </a:ext>
            </a:extLst>
          </p:cNvPr>
          <p:cNvSpPr/>
          <p:nvPr/>
        </p:nvSpPr>
        <p:spPr>
          <a:xfrm>
            <a:off x="1453371" y="181895"/>
            <a:ext cx="717304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Soluciones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recomendadas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21BA6DB3-9F4E-9414-70FB-C618FCF5B61C}"/>
              </a:ext>
            </a:extLst>
          </p:cNvPr>
          <p:cNvSpPr txBox="1"/>
          <p:nvPr/>
        </p:nvSpPr>
        <p:spPr>
          <a:xfrm>
            <a:off x="759126" y="1052424"/>
            <a:ext cx="4494362" cy="5547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Separar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funciones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obligatoriamente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Almacén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→ solo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físico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Digitador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→ solo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sistema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Auditor →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independiente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Implementar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sistema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Control de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(roles) 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Bitácora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cambios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(logs) 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Validaciones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automáticas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Integrar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TI + </a:t>
            </a:r>
            <a:r>
              <a:rPr lang="en-US" sz="18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Inventarios</a:t>
            </a: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8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Odoo ERP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EA17F074-47F9-60ED-6EC8-F156D206C2DA}"/>
              </a:ext>
            </a:extLst>
          </p:cNvPr>
          <p:cNvSpPr txBox="1"/>
          <p:nvPr/>
        </p:nvSpPr>
        <p:spPr>
          <a:xfrm>
            <a:off x="5667554" y="1190446"/>
            <a:ext cx="4891178" cy="2990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marR="0" indent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s-ES" sz="12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¿Por qué es el más adecuado?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Es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modular</a:t>
            </a:r>
            <a:r>
              <a:rPr lang="es-E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(solo instalas inventarios, ventas, contabilidad, etc.)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Muy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fuerte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Producción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Mucho más barato que SAP o Dynamics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Implementación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rápida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003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8">
            <a:extLst>
              <a:ext uri="{FF2B5EF4-FFF2-40B4-BE49-F238E27FC236}">
                <a16:creationId xmlns:a16="http://schemas.microsoft.com/office/drawing/2014/main" id="{BA8DADFA-F346-4263-BBE3-82C6223C2F6E}"/>
              </a:ext>
            </a:extLst>
          </p:cNvPr>
          <p:cNvSpPr/>
          <p:nvPr/>
        </p:nvSpPr>
        <p:spPr>
          <a:xfrm>
            <a:off x="1453371" y="181895"/>
            <a:ext cx="924338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Documentos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Organizacionales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Revisados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B1EAE69-2B90-F9B8-72EE-7E0CB3717C98}"/>
              </a:ext>
            </a:extLst>
          </p:cNvPr>
          <p:cNvSpPr txBox="1"/>
          <p:nvPr/>
        </p:nvSpPr>
        <p:spPr>
          <a:xfrm>
            <a:off x="1319842" y="1748989"/>
            <a:ext cx="4865298" cy="3904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Manual de funciones del área de sistemas.</a:t>
            </a:r>
            <a:endParaRPr lang="en-US" sz="1400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Problemas detectados</a:t>
            </a:r>
            <a:endParaRPr lang="en-US" sz="1400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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No se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especifica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Responsabilidades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claras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Límites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acceso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Responsables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seguridad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Solución</a:t>
            </a:r>
            <a:endParaRPr lang="en-US" sz="1400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Debe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incluir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Administrador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sistemas</a:t>
            </a:r>
            <a:r>
              <a:rPr lang="en-US" sz="14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AF58CAE-371F-6405-FA22-D0E458DDFFC8}"/>
              </a:ext>
            </a:extLst>
          </p:cNvPr>
          <p:cNvSpPr txBox="1"/>
          <p:nvPr/>
        </p:nvSpPr>
        <p:spPr>
          <a:xfrm>
            <a:off x="7599871" y="2063354"/>
            <a:ext cx="2141507" cy="114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Soporte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técnico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Seguridad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informática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Base de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datos</a:t>
            </a:r>
            <a:r>
              <a:rPr lang="en-US" sz="12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885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8">
            <a:extLst>
              <a:ext uri="{FF2B5EF4-FFF2-40B4-BE49-F238E27FC236}">
                <a16:creationId xmlns:a16="http://schemas.microsoft.com/office/drawing/2014/main" id="{E7C50EEF-4EF9-4DD4-B596-5F1833872120}"/>
              </a:ext>
            </a:extLst>
          </p:cNvPr>
          <p:cNvSpPr/>
          <p:nvPr/>
        </p:nvSpPr>
        <p:spPr>
          <a:xfrm>
            <a:off x="1453371" y="181895"/>
            <a:ext cx="830310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Políticas de seguridad de la información.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D1F8371-94C2-69DC-A100-DF0E15AB7D92}"/>
              </a:ext>
            </a:extLst>
          </p:cNvPr>
          <p:cNvSpPr txBox="1"/>
          <p:nvPr/>
        </p:nvSpPr>
        <p:spPr>
          <a:xfrm>
            <a:off x="3653286" y="1614477"/>
            <a:ext cx="6103188" cy="3956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6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Problemas comunes</a:t>
            </a:r>
            <a:endParaRPr lang="en-US" sz="1600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Falta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políticas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formales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Usuarios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con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excesivos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6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 Recomendaciones</a:t>
            </a:r>
            <a:endParaRPr lang="en-US" sz="1600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Control de acceso por roles (RBAC) 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Políticas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contraseñas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Backup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periódico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Auditoría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6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510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文本框 379">
            <a:extLst>
              <a:ext uri="{FF2B5EF4-FFF2-40B4-BE49-F238E27FC236}">
                <a16:creationId xmlns:a16="http://schemas.microsoft.com/office/drawing/2014/main" id="{9E3231A2-377F-46B2-88A0-FCD6A9F6F2AB}"/>
              </a:ext>
            </a:extLst>
          </p:cNvPr>
          <p:cNvSpPr txBox="1"/>
          <p:nvPr/>
        </p:nvSpPr>
        <p:spPr>
          <a:xfrm>
            <a:off x="1268083" y="198396"/>
            <a:ext cx="11136701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>
              <a:lnSpc>
                <a:spcPct val="120000"/>
              </a:lnSpc>
              <a:defRPr sz="3200" b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es-ES" altLang="zh-CN" dirty="0"/>
              <a:t>Procedimientos operativos para gestión de inventarios.</a:t>
            </a:r>
            <a:endParaRPr lang="zh-CN" alt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DDFD2A8-787A-0F4A-400B-29F82484E722}"/>
              </a:ext>
            </a:extLst>
          </p:cNvPr>
          <p:cNvSpPr txBox="1"/>
          <p:nvPr/>
        </p:nvSpPr>
        <p:spPr>
          <a:xfrm>
            <a:off x="3804249" y="2118321"/>
            <a:ext cx="5495026" cy="388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Problemas detectados</a:t>
            </a:r>
            <a:endParaRPr lang="en-US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Procesos</a:t>
            </a:r>
            <a:r>
              <a:rPr lang="en-U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manuales</a:t>
            </a:r>
            <a:r>
              <a:rPr lang="en-U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No hay </a:t>
            </a: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integración</a:t>
            </a:r>
            <a:r>
              <a:rPr lang="en-U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con TI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Falta de controles en tiempo real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Calibri" panose="020F0502020204030204" pitchFamily="34" charset="0"/>
              </a:rPr>
              <a:t>Soluciones</a:t>
            </a:r>
            <a:endParaRPr lang="en-US" b="1" i="1" dirty="0">
              <a:effectLst/>
              <a:latin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Mejorar Automatización con sistema ERP 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Auditorías</a:t>
            </a:r>
            <a:r>
              <a:rPr lang="en-US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periódicas</a:t>
            </a: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659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o 26">
            <a:extLst>
              <a:ext uri="{FF2B5EF4-FFF2-40B4-BE49-F238E27FC236}">
                <a16:creationId xmlns:a16="http://schemas.microsoft.com/office/drawing/2014/main" id="{E33215E0-FB9D-485C-8E3B-F80363B0F775}"/>
              </a:ext>
            </a:extLst>
          </p:cNvPr>
          <p:cNvGrpSpPr/>
          <p:nvPr/>
        </p:nvGrpSpPr>
        <p:grpSpPr>
          <a:xfrm>
            <a:off x="299001" y="2219416"/>
            <a:ext cx="9588865" cy="3222212"/>
            <a:chOff x="933613" y="2011006"/>
            <a:chExt cx="6105792" cy="2051771"/>
          </a:xfrm>
        </p:grpSpPr>
        <p:sp>
          <p:nvSpPr>
            <p:cNvPr id="2" name="Oval 2">
              <a:extLst>
                <a:ext uri="{FF2B5EF4-FFF2-40B4-BE49-F238E27FC236}">
                  <a16:creationId xmlns:a16="http://schemas.microsoft.com/office/drawing/2014/main" id="{0C3329C5-88B9-4B2C-A7DA-4C543F83AB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992" y="2374779"/>
              <a:ext cx="974894" cy="9769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65F1475-3377-4479-ABE1-8D2822A7F35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7790" y="2168277"/>
              <a:ext cx="689095" cy="694166"/>
            </a:xfrm>
            <a:custGeom>
              <a:avLst/>
              <a:gdLst>
                <a:gd name="T0" fmla="*/ 184 w 184"/>
                <a:gd name="T1" fmla="*/ 185 h 185"/>
                <a:gd name="T2" fmla="*/ 0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184" y="185"/>
                  </a:moveTo>
                  <a:cubicBezTo>
                    <a:pt x="184" y="83"/>
                    <a:pt x="102" y="0"/>
                    <a:pt x="0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815A063D-35C8-441B-B19F-2A2DA6BE7C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1773" y="2217508"/>
              <a:ext cx="971719" cy="97691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48874E0-E961-42F6-AD62-EC187988561A}"/>
                </a:ext>
              </a:extLst>
            </p:cNvPr>
            <p:cNvSpPr>
              <a:spLocks/>
            </p:cNvSpPr>
            <p:nvPr/>
          </p:nvSpPr>
          <p:spPr bwMode="auto">
            <a:xfrm>
              <a:off x="4837160" y="2011006"/>
              <a:ext cx="689095" cy="694166"/>
            </a:xfrm>
            <a:custGeom>
              <a:avLst/>
              <a:gdLst>
                <a:gd name="T0" fmla="*/ 184 w 184"/>
                <a:gd name="T1" fmla="*/ 185 h 185"/>
                <a:gd name="T2" fmla="*/ 0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184" y="185"/>
                  </a:moveTo>
                  <a:cubicBezTo>
                    <a:pt x="184" y="83"/>
                    <a:pt x="101" y="0"/>
                    <a:pt x="0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7DCD4D74-AF89-4299-B35A-35ADFA2E0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5753" y="2880948"/>
              <a:ext cx="974894" cy="9753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DD41FB-4E42-4A6C-BEE3-AF47F35FF415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9552" y="3368612"/>
              <a:ext cx="693857" cy="694165"/>
            </a:xfrm>
            <a:custGeom>
              <a:avLst/>
              <a:gdLst>
                <a:gd name="T0" fmla="*/ 0 w 185"/>
                <a:gd name="T1" fmla="*/ 185 h 185"/>
                <a:gd name="T2" fmla="*/ 185 w 185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85">
                  <a:moveTo>
                    <a:pt x="0" y="185"/>
                  </a:moveTo>
                  <a:cubicBezTo>
                    <a:pt x="102" y="185"/>
                    <a:pt x="185" y="102"/>
                    <a:pt x="185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8" name="Oval 8">
              <a:extLst>
                <a:ext uri="{FF2B5EF4-FFF2-40B4-BE49-F238E27FC236}">
                  <a16:creationId xmlns:a16="http://schemas.microsoft.com/office/drawing/2014/main" id="{4D88BDFD-7D88-45B7-8C41-2DB8852244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2343" y="2852242"/>
              <a:ext cx="976483" cy="97532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C4C4F59-22A0-4415-9242-CFBCCE0F50E8}"/>
                </a:ext>
              </a:extLst>
            </p:cNvPr>
            <p:cNvSpPr>
              <a:spLocks/>
            </p:cNvSpPr>
            <p:nvPr/>
          </p:nvSpPr>
          <p:spPr bwMode="auto">
            <a:xfrm>
              <a:off x="6209791" y="3339906"/>
              <a:ext cx="690682" cy="694165"/>
            </a:xfrm>
            <a:custGeom>
              <a:avLst/>
              <a:gdLst>
                <a:gd name="T0" fmla="*/ 0 w 184"/>
                <a:gd name="T1" fmla="*/ 185 h 185"/>
                <a:gd name="T2" fmla="*/ 184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0" y="185"/>
                  </a:moveTo>
                  <a:cubicBezTo>
                    <a:pt x="102" y="185"/>
                    <a:pt x="184" y="102"/>
                    <a:pt x="184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6F3C010-C67B-4F6F-B28B-8010F5CA866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22434" y="3152464"/>
              <a:ext cx="376302" cy="374881"/>
            </a:xfrm>
            <a:custGeom>
              <a:avLst/>
              <a:gdLst>
                <a:gd name="T0" fmla="*/ 100 w 100"/>
                <a:gd name="T1" fmla="*/ 56 h 100"/>
                <a:gd name="T2" fmla="*/ 44 w 100"/>
                <a:gd name="T3" fmla="*/ 0 h 100"/>
                <a:gd name="T4" fmla="*/ 40 w 100"/>
                <a:gd name="T5" fmla="*/ 0 h 100"/>
                <a:gd name="T6" fmla="*/ 40 w 100"/>
                <a:gd name="T7" fmla="*/ 11 h 100"/>
                <a:gd name="T8" fmla="*/ 0 w 100"/>
                <a:gd name="T9" fmla="*/ 56 h 100"/>
                <a:gd name="T10" fmla="*/ 44 w 100"/>
                <a:gd name="T11" fmla="*/ 100 h 100"/>
                <a:gd name="T12" fmla="*/ 69 w 100"/>
                <a:gd name="T13" fmla="*/ 93 h 100"/>
                <a:gd name="T14" fmla="*/ 89 w 100"/>
                <a:gd name="T15" fmla="*/ 60 h 100"/>
                <a:gd name="T16" fmla="*/ 100 w 100"/>
                <a:gd name="T17" fmla="*/ 60 h 100"/>
                <a:gd name="T18" fmla="*/ 100 w 100"/>
                <a:gd name="T19" fmla="*/ 56 h 100"/>
                <a:gd name="T20" fmla="*/ 64 w 100"/>
                <a:gd name="T21" fmla="*/ 86 h 100"/>
                <a:gd name="T22" fmla="*/ 44 w 100"/>
                <a:gd name="T23" fmla="*/ 92 h 100"/>
                <a:gd name="T24" fmla="*/ 8 w 100"/>
                <a:gd name="T25" fmla="*/ 56 h 100"/>
                <a:gd name="T26" fmla="*/ 40 w 100"/>
                <a:gd name="T27" fmla="*/ 20 h 100"/>
                <a:gd name="T28" fmla="*/ 40 w 100"/>
                <a:gd name="T29" fmla="*/ 60 h 100"/>
                <a:gd name="T30" fmla="*/ 80 w 100"/>
                <a:gd name="T31" fmla="*/ 60 h 100"/>
                <a:gd name="T32" fmla="*/ 64 w 100"/>
                <a:gd name="T33" fmla="*/ 86 h 100"/>
                <a:gd name="T34" fmla="*/ 49 w 100"/>
                <a:gd name="T35" fmla="*/ 52 h 100"/>
                <a:gd name="T36" fmla="*/ 49 w 100"/>
                <a:gd name="T37" fmla="*/ 9 h 100"/>
                <a:gd name="T38" fmla="*/ 91 w 100"/>
                <a:gd name="T39" fmla="*/ 52 h 100"/>
                <a:gd name="T40" fmla="*/ 49 w 100"/>
                <a:gd name="T41" fmla="*/ 52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0" h="100">
                  <a:moveTo>
                    <a:pt x="100" y="56"/>
                  </a:moveTo>
                  <a:cubicBezTo>
                    <a:pt x="100" y="25"/>
                    <a:pt x="75" y="0"/>
                    <a:pt x="44" y="0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40" y="11"/>
                    <a:pt x="40" y="11"/>
                    <a:pt x="40" y="11"/>
                  </a:cubicBezTo>
                  <a:cubicBezTo>
                    <a:pt x="17" y="14"/>
                    <a:pt x="0" y="33"/>
                    <a:pt x="0" y="56"/>
                  </a:cubicBezTo>
                  <a:cubicBezTo>
                    <a:pt x="0" y="80"/>
                    <a:pt x="20" y="100"/>
                    <a:pt x="44" y="100"/>
                  </a:cubicBezTo>
                  <a:cubicBezTo>
                    <a:pt x="53" y="100"/>
                    <a:pt x="62" y="98"/>
                    <a:pt x="69" y="93"/>
                  </a:cubicBezTo>
                  <a:cubicBezTo>
                    <a:pt x="80" y="85"/>
                    <a:pt x="87" y="73"/>
                    <a:pt x="89" y="60"/>
                  </a:cubicBezTo>
                  <a:cubicBezTo>
                    <a:pt x="100" y="60"/>
                    <a:pt x="100" y="60"/>
                    <a:pt x="100" y="60"/>
                  </a:cubicBezTo>
                  <a:lnTo>
                    <a:pt x="100" y="56"/>
                  </a:lnTo>
                  <a:close/>
                  <a:moveTo>
                    <a:pt x="64" y="86"/>
                  </a:moveTo>
                  <a:cubicBezTo>
                    <a:pt x="59" y="90"/>
                    <a:pt x="52" y="92"/>
                    <a:pt x="44" y="92"/>
                  </a:cubicBezTo>
                  <a:cubicBezTo>
                    <a:pt x="25" y="92"/>
                    <a:pt x="8" y="76"/>
                    <a:pt x="8" y="56"/>
                  </a:cubicBezTo>
                  <a:cubicBezTo>
                    <a:pt x="8" y="37"/>
                    <a:pt x="22" y="22"/>
                    <a:pt x="40" y="20"/>
                  </a:cubicBezTo>
                  <a:cubicBezTo>
                    <a:pt x="40" y="60"/>
                    <a:pt x="40" y="60"/>
                    <a:pt x="40" y="60"/>
                  </a:cubicBezTo>
                  <a:cubicBezTo>
                    <a:pt x="80" y="60"/>
                    <a:pt x="80" y="60"/>
                    <a:pt x="80" y="60"/>
                  </a:cubicBezTo>
                  <a:cubicBezTo>
                    <a:pt x="79" y="70"/>
                    <a:pt x="73" y="80"/>
                    <a:pt x="64" y="86"/>
                  </a:cubicBezTo>
                  <a:moveTo>
                    <a:pt x="49" y="52"/>
                  </a:moveTo>
                  <a:cubicBezTo>
                    <a:pt x="49" y="9"/>
                    <a:pt x="49" y="9"/>
                    <a:pt x="49" y="9"/>
                  </a:cubicBezTo>
                  <a:cubicBezTo>
                    <a:pt x="71" y="11"/>
                    <a:pt x="89" y="29"/>
                    <a:pt x="91" y="52"/>
                  </a:cubicBezTo>
                  <a:lnTo>
                    <a:pt x="49" y="5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grpSp>
          <p:nvGrpSpPr>
            <p:cNvPr id="19" name="Group 19">
              <a:extLst>
                <a:ext uri="{FF2B5EF4-FFF2-40B4-BE49-F238E27FC236}">
                  <a16:creationId xmlns:a16="http://schemas.microsoft.com/office/drawing/2014/main" id="{14478F76-92EE-43EC-8F41-F68B77EFDB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9639" y="2686120"/>
              <a:ext cx="374715" cy="376470"/>
              <a:chOff x="-194" y="329"/>
              <a:chExt cx="236" cy="237"/>
            </a:xfrm>
          </p:grpSpPr>
          <p:sp>
            <p:nvSpPr>
              <p:cNvPr id="20" name="Freeform 20">
                <a:extLst>
                  <a:ext uri="{FF2B5EF4-FFF2-40B4-BE49-F238E27FC236}">
                    <a16:creationId xmlns:a16="http://schemas.microsoft.com/office/drawing/2014/main" id="{0CD851AD-6FBB-41E5-B7DF-7837995909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131" y="393"/>
                <a:ext cx="109" cy="109"/>
              </a:xfrm>
              <a:custGeom>
                <a:avLst/>
                <a:gdLst>
                  <a:gd name="T0" fmla="*/ 40 w 46"/>
                  <a:gd name="T1" fmla="*/ 1 h 46"/>
                  <a:gd name="T2" fmla="*/ 13 w 46"/>
                  <a:gd name="T3" fmla="*/ 10 h 46"/>
                  <a:gd name="T4" fmla="*/ 13 w 46"/>
                  <a:gd name="T5" fmla="*/ 10 h 46"/>
                  <a:gd name="T6" fmla="*/ 12 w 46"/>
                  <a:gd name="T7" fmla="*/ 11 h 46"/>
                  <a:gd name="T8" fmla="*/ 12 w 46"/>
                  <a:gd name="T9" fmla="*/ 11 h 46"/>
                  <a:gd name="T10" fmla="*/ 11 w 46"/>
                  <a:gd name="T11" fmla="*/ 11 h 46"/>
                  <a:gd name="T12" fmla="*/ 11 w 46"/>
                  <a:gd name="T13" fmla="*/ 12 h 46"/>
                  <a:gd name="T14" fmla="*/ 11 w 46"/>
                  <a:gd name="T15" fmla="*/ 12 h 46"/>
                  <a:gd name="T16" fmla="*/ 10 w 46"/>
                  <a:gd name="T17" fmla="*/ 13 h 46"/>
                  <a:gd name="T18" fmla="*/ 10 w 46"/>
                  <a:gd name="T19" fmla="*/ 13 h 46"/>
                  <a:gd name="T20" fmla="*/ 0 w 46"/>
                  <a:gd name="T21" fmla="*/ 40 h 46"/>
                  <a:gd name="T22" fmla="*/ 1 w 46"/>
                  <a:gd name="T23" fmla="*/ 45 h 46"/>
                  <a:gd name="T24" fmla="*/ 4 w 46"/>
                  <a:gd name="T25" fmla="*/ 46 h 46"/>
                  <a:gd name="T26" fmla="*/ 6 w 46"/>
                  <a:gd name="T27" fmla="*/ 46 h 46"/>
                  <a:gd name="T28" fmla="*/ 33 w 46"/>
                  <a:gd name="T29" fmla="*/ 36 h 46"/>
                  <a:gd name="T30" fmla="*/ 33 w 46"/>
                  <a:gd name="T31" fmla="*/ 36 h 46"/>
                  <a:gd name="T32" fmla="*/ 34 w 46"/>
                  <a:gd name="T33" fmla="*/ 35 h 46"/>
                  <a:gd name="T34" fmla="*/ 34 w 46"/>
                  <a:gd name="T35" fmla="*/ 35 h 46"/>
                  <a:gd name="T36" fmla="*/ 35 w 46"/>
                  <a:gd name="T37" fmla="*/ 35 h 46"/>
                  <a:gd name="T38" fmla="*/ 35 w 46"/>
                  <a:gd name="T39" fmla="*/ 34 h 46"/>
                  <a:gd name="T40" fmla="*/ 35 w 46"/>
                  <a:gd name="T41" fmla="*/ 34 h 46"/>
                  <a:gd name="T42" fmla="*/ 36 w 46"/>
                  <a:gd name="T43" fmla="*/ 33 h 46"/>
                  <a:gd name="T44" fmla="*/ 36 w 46"/>
                  <a:gd name="T45" fmla="*/ 33 h 46"/>
                  <a:gd name="T46" fmla="*/ 45 w 46"/>
                  <a:gd name="T47" fmla="*/ 6 h 46"/>
                  <a:gd name="T48" fmla="*/ 44 w 46"/>
                  <a:gd name="T49" fmla="*/ 2 h 46"/>
                  <a:gd name="T50" fmla="*/ 40 w 46"/>
                  <a:gd name="T51" fmla="*/ 1 h 46"/>
                  <a:gd name="T52" fmla="*/ 12 w 46"/>
                  <a:gd name="T53" fmla="*/ 34 h 46"/>
                  <a:gd name="T54" fmla="*/ 16 w 46"/>
                  <a:gd name="T55" fmla="*/ 22 h 46"/>
                  <a:gd name="T56" fmla="*/ 24 w 46"/>
                  <a:gd name="T57" fmla="*/ 30 h 46"/>
                  <a:gd name="T58" fmla="*/ 12 w 46"/>
                  <a:gd name="T59" fmla="*/ 34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46" h="46">
                    <a:moveTo>
                      <a:pt x="40" y="1"/>
                    </a:moveTo>
                    <a:cubicBezTo>
                      <a:pt x="13" y="10"/>
                      <a:pt x="13" y="10"/>
                      <a:pt x="13" y="10"/>
                    </a:cubicBezTo>
                    <a:cubicBezTo>
                      <a:pt x="13" y="10"/>
                      <a:pt x="13" y="10"/>
                      <a:pt x="13" y="10"/>
                    </a:cubicBezTo>
                    <a:cubicBezTo>
                      <a:pt x="12" y="10"/>
                      <a:pt x="12" y="11"/>
                      <a:pt x="12" y="11"/>
                    </a:cubicBezTo>
                    <a:cubicBezTo>
                      <a:pt x="12" y="11"/>
                      <a:pt x="12" y="11"/>
                      <a:pt x="12" y="11"/>
                    </a:cubicBezTo>
                    <a:cubicBezTo>
                      <a:pt x="12" y="11"/>
                      <a:pt x="11" y="11"/>
                      <a:pt x="11" y="11"/>
                    </a:cubicBezTo>
                    <a:cubicBezTo>
                      <a:pt x="11" y="11"/>
                      <a:pt x="11" y="12"/>
                      <a:pt x="11" y="12"/>
                    </a:cubicBezTo>
                    <a:cubicBezTo>
                      <a:pt x="11" y="12"/>
                      <a:pt x="11" y="12"/>
                      <a:pt x="11" y="12"/>
                    </a:cubicBezTo>
                    <a:cubicBezTo>
                      <a:pt x="11" y="12"/>
                      <a:pt x="10" y="12"/>
                      <a:pt x="10" y="13"/>
                    </a:cubicBezTo>
                    <a:cubicBezTo>
                      <a:pt x="10" y="13"/>
                      <a:pt x="10" y="13"/>
                      <a:pt x="10" y="13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0" y="42"/>
                      <a:pt x="0" y="43"/>
                      <a:pt x="1" y="45"/>
                    </a:cubicBezTo>
                    <a:cubicBezTo>
                      <a:pt x="2" y="45"/>
                      <a:pt x="3" y="46"/>
                      <a:pt x="4" y="46"/>
                    </a:cubicBezTo>
                    <a:cubicBezTo>
                      <a:pt x="5" y="46"/>
                      <a:pt x="5" y="46"/>
                      <a:pt x="6" y="4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4" y="36"/>
                      <a:pt x="34" y="35"/>
                      <a:pt x="34" y="35"/>
                    </a:cubicBezTo>
                    <a:cubicBezTo>
                      <a:pt x="34" y="35"/>
                      <a:pt x="34" y="35"/>
                      <a:pt x="34" y="35"/>
                    </a:cubicBezTo>
                    <a:cubicBezTo>
                      <a:pt x="34" y="35"/>
                      <a:pt x="35" y="35"/>
                      <a:pt x="35" y="35"/>
                    </a:cubicBezTo>
                    <a:cubicBezTo>
                      <a:pt x="35" y="35"/>
                      <a:pt x="35" y="34"/>
                      <a:pt x="35" y="34"/>
                    </a:cubicBezTo>
                    <a:cubicBezTo>
                      <a:pt x="35" y="34"/>
                      <a:pt x="35" y="34"/>
                      <a:pt x="35" y="34"/>
                    </a:cubicBezTo>
                    <a:cubicBezTo>
                      <a:pt x="35" y="34"/>
                      <a:pt x="35" y="34"/>
                      <a:pt x="36" y="33"/>
                    </a:cubicBezTo>
                    <a:cubicBezTo>
                      <a:pt x="36" y="33"/>
                      <a:pt x="36" y="33"/>
                      <a:pt x="36" y="33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6" y="4"/>
                      <a:pt x="46" y="3"/>
                      <a:pt x="44" y="2"/>
                    </a:cubicBezTo>
                    <a:cubicBezTo>
                      <a:pt x="43" y="0"/>
                      <a:pt x="42" y="0"/>
                      <a:pt x="40" y="1"/>
                    </a:cubicBezTo>
                    <a:moveTo>
                      <a:pt x="12" y="34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24" y="30"/>
                      <a:pt x="24" y="30"/>
                      <a:pt x="24" y="30"/>
                    </a:cubicBezTo>
                    <a:lnTo>
                      <a:pt x="12" y="3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dirty="0">
                  <a:latin typeface="印品黑体" panose="00000500000000000000" pitchFamily="2" charset="-122"/>
                  <a:ea typeface="印品黑体" panose="00000500000000000000" pitchFamily="2" charset="-122"/>
                </a:endParaRPr>
              </a:p>
            </p:txBody>
          </p:sp>
          <p:sp>
            <p:nvSpPr>
              <p:cNvPr id="21" name="Freeform 21">
                <a:extLst>
                  <a:ext uri="{FF2B5EF4-FFF2-40B4-BE49-F238E27FC236}">
                    <a16:creationId xmlns:a16="http://schemas.microsoft.com/office/drawing/2014/main" id="{E5386E19-34B5-48F7-99F2-2DBB51E7AED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194" y="329"/>
                <a:ext cx="236" cy="237"/>
              </a:xfrm>
              <a:custGeom>
                <a:avLst/>
                <a:gdLst>
                  <a:gd name="T0" fmla="*/ 81 w 100"/>
                  <a:gd name="T1" fmla="*/ 0 h 100"/>
                  <a:gd name="T2" fmla="*/ 18 w 100"/>
                  <a:gd name="T3" fmla="*/ 0 h 100"/>
                  <a:gd name="T4" fmla="*/ 0 w 100"/>
                  <a:gd name="T5" fmla="*/ 18 h 100"/>
                  <a:gd name="T6" fmla="*/ 0 w 100"/>
                  <a:gd name="T7" fmla="*/ 82 h 100"/>
                  <a:gd name="T8" fmla="*/ 18 w 100"/>
                  <a:gd name="T9" fmla="*/ 100 h 100"/>
                  <a:gd name="T10" fmla="*/ 81 w 100"/>
                  <a:gd name="T11" fmla="*/ 100 h 100"/>
                  <a:gd name="T12" fmla="*/ 85 w 100"/>
                  <a:gd name="T13" fmla="*/ 100 h 100"/>
                  <a:gd name="T14" fmla="*/ 100 w 100"/>
                  <a:gd name="T15" fmla="*/ 82 h 100"/>
                  <a:gd name="T16" fmla="*/ 100 w 100"/>
                  <a:gd name="T17" fmla="*/ 18 h 100"/>
                  <a:gd name="T18" fmla="*/ 81 w 100"/>
                  <a:gd name="T19" fmla="*/ 0 h 100"/>
                  <a:gd name="T20" fmla="*/ 92 w 100"/>
                  <a:gd name="T21" fmla="*/ 82 h 100"/>
                  <a:gd name="T22" fmla="*/ 84 w 100"/>
                  <a:gd name="T23" fmla="*/ 91 h 100"/>
                  <a:gd name="T24" fmla="*/ 81 w 100"/>
                  <a:gd name="T25" fmla="*/ 92 h 100"/>
                  <a:gd name="T26" fmla="*/ 18 w 100"/>
                  <a:gd name="T27" fmla="*/ 92 h 100"/>
                  <a:gd name="T28" fmla="*/ 8 w 100"/>
                  <a:gd name="T29" fmla="*/ 82 h 100"/>
                  <a:gd name="T30" fmla="*/ 8 w 100"/>
                  <a:gd name="T31" fmla="*/ 18 h 100"/>
                  <a:gd name="T32" fmla="*/ 18 w 100"/>
                  <a:gd name="T33" fmla="*/ 8 h 100"/>
                  <a:gd name="T34" fmla="*/ 81 w 100"/>
                  <a:gd name="T35" fmla="*/ 8 h 100"/>
                  <a:gd name="T36" fmla="*/ 92 w 100"/>
                  <a:gd name="T37" fmla="*/ 18 h 100"/>
                  <a:gd name="T38" fmla="*/ 92 w 100"/>
                  <a:gd name="T39" fmla="*/ 82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00" h="100">
                    <a:moveTo>
                      <a:pt x="81" y="0"/>
                    </a:moveTo>
                    <a:cubicBezTo>
                      <a:pt x="18" y="0"/>
                      <a:pt x="18" y="0"/>
                      <a:pt x="18" y="0"/>
                    </a:cubicBezTo>
                    <a:cubicBezTo>
                      <a:pt x="8" y="0"/>
                      <a:pt x="0" y="8"/>
                      <a:pt x="0" y="18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0" y="92"/>
                      <a:pt x="8" y="100"/>
                      <a:pt x="18" y="100"/>
                    </a:cubicBezTo>
                    <a:cubicBezTo>
                      <a:pt x="81" y="100"/>
                      <a:pt x="81" y="100"/>
                      <a:pt x="81" y="100"/>
                    </a:cubicBezTo>
                    <a:cubicBezTo>
                      <a:pt x="83" y="100"/>
                      <a:pt x="84" y="100"/>
                      <a:pt x="85" y="100"/>
                    </a:cubicBezTo>
                    <a:cubicBezTo>
                      <a:pt x="94" y="98"/>
                      <a:pt x="100" y="90"/>
                      <a:pt x="100" y="82"/>
                    </a:cubicBezTo>
                    <a:cubicBezTo>
                      <a:pt x="100" y="18"/>
                      <a:pt x="100" y="18"/>
                      <a:pt x="100" y="18"/>
                    </a:cubicBezTo>
                    <a:cubicBezTo>
                      <a:pt x="100" y="8"/>
                      <a:pt x="92" y="0"/>
                      <a:pt x="81" y="0"/>
                    </a:cubicBezTo>
                    <a:moveTo>
                      <a:pt x="92" y="82"/>
                    </a:moveTo>
                    <a:cubicBezTo>
                      <a:pt x="92" y="86"/>
                      <a:pt x="88" y="90"/>
                      <a:pt x="84" y="91"/>
                    </a:cubicBezTo>
                    <a:cubicBezTo>
                      <a:pt x="83" y="92"/>
                      <a:pt x="82" y="92"/>
                      <a:pt x="81" y="92"/>
                    </a:cubicBezTo>
                    <a:cubicBezTo>
                      <a:pt x="18" y="92"/>
                      <a:pt x="18" y="92"/>
                      <a:pt x="18" y="92"/>
                    </a:cubicBezTo>
                    <a:cubicBezTo>
                      <a:pt x="13" y="92"/>
                      <a:pt x="8" y="87"/>
                      <a:pt x="8" y="82"/>
                    </a:cubicBezTo>
                    <a:cubicBezTo>
                      <a:pt x="8" y="18"/>
                      <a:pt x="8" y="18"/>
                      <a:pt x="8" y="18"/>
                    </a:cubicBezTo>
                    <a:cubicBezTo>
                      <a:pt x="8" y="13"/>
                      <a:pt x="13" y="8"/>
                      <a:pt x="18" y="8"/>
                    </a:cubicBezTo>
                    <a:cubicBezTo>
                      <a:pt x="81" y="8"/>
                      <a:pt x="81" y="8"/>
                      <a:pt x="81" y="8"/>
                    </a:cubicBezTo>
                    <a:cubicBezTo>
                      <a:pt x="87" y="8"/>
                      <a:pt x="92" y="13"/>
                      <a:pt x="92" y="18"/>
                    </a:cubicBezTo>
                    <a:lnTo>
                      <a:pt x="92" y="8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dirty="0">
                  <a:latin typeface="印品黑体" panose="00000500000000000000" pitchFamily="2" charset="-122"/>
                  <a:ea typeface="印品黑体" panose="00000500000000000000" pitchFamily="2" charset="-122"/>
                </a:endParaRPr>
              </a:p>
            </p:txBody>
          </p:sp>
        </p:grpSp>
        <p:sp>
          <p:nvSpPr>
            <p:cNvPr id="22" name="Rectangle 22">
              <a:extLst>
                <a:ext uri="{FF2B5EF4-FFF2-40B4-BE49-F238E27FC236}">
                  <a16:creationId xmlns:a16="http://schemas.microsoft.com/office/drawing/2014/main" id="{224C9AFF-B893-4FA8-8B09-17E9054DA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89633" y="2544116"/>
              <a:ext cx="1513151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Entrevistas al personal TI y RRHH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3" name="Rectangle 23">
              <a:extLst>
                <a:ext uri="{FF2B5EF4-FFF2-40B4-BE49-F238E27FC236}">
                  <a16:creationId xmlns:a16="http://schemas.microsoft.com/office/drawing/2014/main" id="{D8EABC59-FB3A-4A54-8891-DCB1B715A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3613" y="3496955"/>
              <a:ext cx="1513151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Revisión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documental (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títulos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, CVs,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certificados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)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4" name="Rectangle 24">
              <a:extLst>
                <a:ext uri="{FF2B5EF4-FFF2-40B4-BE49-F238E27FC236}">
                  <a16:creationId xmlns:a16="http://schemas.microsoft.com/office/drawing/2014/main" id="{1F74840D-2719-4B32-923F-B5CA57AD44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6255" y="2509907"/>
              <a:ext cx="1513150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Cuestionario anónimo a 13 usuarios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F55CC86B-17F2-4117-9B78-EDFB396D8D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6308" y="3287712"/>
              <a:ext cx="1513150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Observación directa en jornada laboral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</p:grpSp>
      <p:sp>
        <p:nvSpPr>
          <p:cNvPr id="26" name="矩形 8">
            <a:extLst>
              <a:ext uri="{FF2B5EF4-FFF2-40B4-BE49-F238E27FC236}">
                <a16:creationId xmlns:a16="http://schemas.microsoft.com/office/drawing/2014/main" id="{5A073539-402B-4F42-B997-2A8099A7F9A1}"/>
              </a:ext>
            </a:extLst>
          </p:cNvPr>
          <p:cNvSpPr/>
          <p:nvPr/>
        </p:nvSpPr>
        <p:spPr>
          <a:xfrm>
            <a:off x="1453372" y="181895"/>
            <a:ext cx="10447080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Evaluación del Capital Humano TI – Metodología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8" name="Rectangle 22">
            <a:extLst>
              <a:ext uri="{FF2B5EF4-FFF2-40B4-BE49-F238E27FC236}">
                <a16:creationId xmlns:a16="http://schemas.microsoft.com/office/drawing/2014/main" id="{92C13724-34EF-4787-715A-89753DB1E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5372" y="1115461"/>
            <a:ext cx="436125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¿Cómo evaluamos al equipo de TI?</a:t>
            </a:r>
            <a:endParaRPr lang="en-US" altLang="zh-CN" sz="16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9" name="Oval 2">
            <a:extLst>
              <a:ext uri="{FF2B5EF4-FFF2-40B4-BE49-F238E27FC236}">
                <a16:creationId xmlns:a16="http://schemas.microsoft.com/office/drawing/2014/main" id="{4399A57A-34E6-4576-66F9-3F9C28690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2564" y="2729414"/>
            <a:ext cx="1531026" cy="15342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91467" tIns="45734" rIns="91467" bIns="45734"/>
          <a:lstStyle/>
          <a:p>
            <a:endParaRPr lang="zh-CN" altLang="en-US" dirty="0"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1" name="Rectangle 24">
            <a:extLst>
              <a:ext uri="{FF2B5EF4-FFF2-40B4-BE49-F238E27FC236}">
                <a16:creationId xmlns:a16="http://schemas.microsoft.com/office/drawing/2014/main" id="{7E67F0DF-4B44-C58E-804D-D45C9DCF4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0225" y="4439867"/>
            <a:ext cx="2135704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Verificación de referencias laborales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pic>
        <p:nvPicPr>
          <p:cNvPr id="32" name="图片 18">
            <a:extLst>
              <a:ext uri="{FF2B5EF4-FFF2-40B4-BE49-F238E27FC236}">
                <a16:creationId xmlns:a16="http://schemas.microsoft.com/office/drawing/2014/main" id="{642E789E-7B6A-9F5B-DBBF-498DBE10C4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6839" y="3091282"/>
            <a:ext cx="772831" cy="772831"/>
          </a:xfrm>
          <a:prstGeom prst="rect">
            <a:avLst/>
          </a:prstGeom>
        </p:spPr>
      </p:pic>
      <p:sp>
        <p:nvSpPr>
          <p:cNvPr id="33" name="Rectangle 22">
            <a:extLst>
              <a:ext uri="{FF2B5EF4-FFF2-40B4-BE49-F238E27FC236}">
                <a16:creationId xmlns:a16="http://schemas.microsoft.com/office/drawing/2014/main" id="{AA169302-D953-C799-72CE-6C06508A5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2460" y="1765389"/>
            <a:ext cx="1044707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Objetivo: </a:t>
            </a:r>
            <a:r>
              <a:rPr lang="es-MX" altLang="zh-CN" sz="16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Analizar formación, experiencia, capacitación, perfil, conocimiento y percepción del usuario.</a:t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4" name="Rectangle 22">
            <a:extLst>
              <a:ext uri="{FF2B5EF4-FFF2-40B4-BE49-F238E27FC236}">
                <a16:creationId xmlns:a16="http://schemas.microsoft.com/office/drawing/2014/main" id="{20B0D28C-4302-AA8E-1AB9-ECA7A236E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071" y="5736868"/>
            <a:ext cx="745549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Principio clave: </a:t>
            </a:r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“Lo que no está documentado, no puede ser auditado”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pic>
        <p:nvPicPr>
          <p:cNvPr id="35" name="图片 12">
            <a:extLst>
              <a:ext uri="{FF2B5EF4-FFF2-40B4-BE49-F238E27FC236}">
                <a16:creationId xmlns:a16="http://schemas.microsoft.com/office/drawing/2014/main" id="{B9652B5A-3174-23E7-00E1-6C2C550A25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760" y="3036466"/>
            <a:ext cx="608822" cy="608822"/>
          </a:xfrm>
          <a:prstGeom prst="rect">
            <a:avLst/>
          </a:prstGeom>
        </p:spPr>
      </p:pic>
      <p:sp>
        <p:nvSpPr>
          <p:cNvPr id="36" name="任意多边形 29">
            <a:extLst>
              <a:ext uri="{FF2B5EF4-FFF2-40B4-BE49-F238E27FC236}">
                <a16:creationId xmlns:a16="http://schemas.microsoft.com/office/drawing/2014/main" id="{DE40BB99-CBB2-CD85-C39F-503585D1EEF9}"/>
              </a:ext>
            </a:extLst>
          </p:cNvPr>
          <p:cNvSpPr>
            <a:spLocks noChangeAspect="1"/>
          </p:cNvSpPr>
          <p:nvPr/>
        </p:nvSpPr>
        <p:spPr>
          <a:xfrm>
            <a:off x="3751639" y="4031981"/>
            <a:ext cx="408405" cy="669231"/>
          </a:xfrm>
          <a:custGeom>
            <a:avLst/>
            <a:gdLst>
              <a:gd name="connsiteX0" fmla="*/ 3411 w 2415654"/>
              <a:gd name="connsiteY0" fmla="*/ 1160060 h 3957849"/>
              <a:gd name="connsiteX1" fmla="*/ 392373 w 2415654"/>
              <a:gd name="connsiteY1" fmla="*/ 1160060 h 3957849"/>
              <a:gd name="connsiteX2" fmla="*/ 392373 w 2415654"/>
              <a:gd name="connsiteY2" fmla="*/ 2123285 h 3957849"/>
              <a:gd name="connsiteX3" fmla="*/ 396449 w 2415654"/>
              <a:gd name="connsiteY3" fmla="*/ 2204161 h 3957849"/>
              <a:gd name="connsiteX4" fmla="*/ 791679 w 2415654"/>
              <a:gd name="connsiteY4" fmla="*/ 2811618 h 3957849"/>
              <a:gd name="connsiteX5" fmla="*/ 1612465 w 2415654"/>
              <a:gd name="connsiteY5" fmla="*/ 2818304 h 3957849"/>
              <a:gd name="connsiteX6" fmla="*/ 2024800 w 2415654"/>
              <a:gd name="connsiteY6" fmla="*/ 2108576 h 3957849"/>
              <a:gd name="connsiteX7" fmla="*/ 2026692 w 2415654"/>
              <a:gd name="connsiteY7" fmla="*/ 2108576 h 3957849"/>
              <a:gd name="connsiteX8" fmla="*/ 2026692 w 2415654"/>
              <a:gd name="connsiteY8" fmla="*/ 1160060 h 3957849"/>
              <a:gd name="connsiteX9" fmla="*/ 2415654 w 2415654"/>
              <a:gd name="connsiteY9" fmla="*/ 1160060 h 3957849"/>
              <a:gd name="connsiteX10" fmla="*/ 2415654 w 2415654"/>
              <a:gd name="connsiteY10" fmla="*/ 2108577 h 3957849"/>
              <a:gd name="connsiteX11" fmla="*/ 2415654 w 2415654"/>
              <a:gd name="connsiteY11" fmla="*/ 2135873 h 3957849"/>
              <a:gd name="connsiteX12" fmla="*/ 2413832 w 2415654"/>
              <a:gd name="connsiteY12" fmla="*/ 2135873 h 3957849"/>
              <a:gd name="connsiteX13" fmla="*/ 2404919 w 2415654"/>
              <a:gd name="connsiteY13" fmla="*/ 2269414 h 3957849"/>
              <a:gd name="connsiteX14" fmla="*/ 1806051 w 2415654"/>
              <a:gd name="connsiteY14" fmla="*/ 3157850 h 3957849"/>
              <a:gd name="connsiteX15" fmla="*/ 1509944 w 2415654"/>
              <a:gd name="connsiteY15" fmla="*/ 3278039 h 3957849"/>
              <a:gd name="connsiteX16" fmla="*/ 1433014 w 2415654"/>
              <a:gd name="connsiteY16" fmla="*/ 3292621 h 3957849"/>
              <a:gd name="connsiteX17" fmla="*/ 1433014 w 2415654"/>
              <a:gd name="connsiteY17" fmla="*/ 3718944 h 3957849"/>
              <a:gd name="connsiteX18" fmla="*/ 1194109 w 2415654"/>
              <a:gd name="connsiteY18" fmla="*/ 3957849 h 3957849"/>
              <a:gd name="connsiteX19" fmla="*/ 955204 w 2415654"/>
              <a:gd name="connsiteY19" fmla="*/ 3718944 h 3957849"/>
              <a:gd name="connsiteX20" fmla="*/ 955204 w 2415654"/>
              <a:gd name="connsiteY20" fmla="*/ 3287107 h 3957849"/>
              <a:gd name="connsiteX21" fmla="*/ 886698 w 2415654"/>
              <a:gd name="connsiteY21" fmla="*/ 3272962 h 3957849"/>
              <a:gd name="connsiteX22" fmla="*/ 592588 w 2415654"/>
              <a:gd name="connsiteY22" fmla="*/ 3147965 h 3957849"/>
              <a:gd name="connsiteX23" fmla="*/ 160 w 2415654"/>
              <a:gd name="connsiteY23" fmla="*/ 2088900 h 3957849"/>
              <a:gd name="connsiteX24" fmla="*/ 3411 w 2415654"/>
              <a:gd name="connsiteY24" fmla="*/ 2088953 h 3957849"/>
              <a:gd name="connsiteX25" fmla="*/ 1207827 w 2415654"/>
              <a:gd name="connsiteY25" fmla="*/ 0 h 3957849"/>
              <a:gd name="connsiteX26" fmla="*/ 1849272 w 2415654"/>
              <a:gd name="connsiteY26" fmla="*/ 641445 h 3957849"/>
              <a:gd name="connsiteX27" fmla="*/ 1849272 w 2415654"/>
              <a:gd name="connsiteY27" fmla="*/ 2033516 h 3957849"/>
              <a:gd name="connsiteX28" fmla="*/ 1207827 w 2415654"/>
              <a:gd name="connsiteY28" fmla="*/ 2674961 h 3957849"/>
              <a:gd name="connsiteX29" fmla="*/ 566382 w 2415654"/>
              <a:gd name="connsiteY29" fmla="*/ 2033516 h 3957849"/>
              <a:gd name="connsiteX30" fmla="*/ 566382 w 2415654"/>
              <a:gd name="connsiteY30" fmla="*/ 641445 h 3957849"/>
              <a:gd name="connsiteX31" fmla="*/ 1207827 w 2415654"/>
              <a:gd name="connsiteY31" fmla="*/ 0 h 3957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415654" h="3957849">
                <a:moveTo>
                  <a:pt x="3411" y="1160060"/>
                </a:moveTo>
                <a:lnTo>
                  <a:pt x="392373" y="1160060"/>
                </a:lnTo>
                <a:lnTo>
                  <a:pt x="392373" y="2123285"/>
                </a:lnTo>
                <a:lnTo>
                  <a:pt x="396449" y="2204161"/>
                </a:lnTo>
                <a:cubicBezTo>
                  <a:pt x="425976" y="2455114"/>
                  <a:pt x="570709" y="2680821"/>
                  <a:pt x="791679" y="2811618"/>
                </a:cubicBezTo>
                <a:cubicBezTo>
                  <a:pt x="1044216" y="2961101"/>
                  <a:pt x="1357526" y="2963653"/>
                  <a:pt x="1612465" y="2818304"/>
                </a:cubicBezTo>
                <a:cubicBezTo>
                  <a:pt x="1867404" y="2672955"/>
                  <a:pt x="2024800" y="2402038"/>
                  <a:pt x="2024800" y="2108576"/>
                </a:cubicBezTo>
                <a:lnTo>
                  <a:pt x="2026692" y="2108576"/>
                </a:lnTo>
                <a:lnTo>
                  <a:pt x="2026692" y="1160060"/>
                </a:lnTo>
                <a:lnTo>
                  <a:pt x="2415654" y="1160060"/>
                </a:lnTo>
                <a:lnTo>
                  <a:pt x="2415654" y="2108577"/>
                </a:lnTo>
                <a:lnTo>
                  <a:pt x="2415654" y="2135873"/>
                </a:lnTo>
                <a:lnTo>
                  <a:pt x="2413832" y="2135873"/>
                </a:lnTo>
                <a:lnTo>
                  <a:pt x="2404919" y="2269414"/>
                </a:lnTo>
                <a:cubicBezTo>
                  <a:pt x="2355227" y="2639667"/>
                  <a:pt x="2135844" y="2969825"/>
                  <a:pt x="1806051" y="3157850"/>
                </a:cubicBezTo>
                <a:cubicBezTo>
                  <a:pt x="1711825" y="3211572"/>
                  <a:pt x="1612205" y="3251627"/>
                  <a:pt x="1509944" y="3278039"/>
                </a:cubicBezTo>
                <a:lnTo>
                  <a:pt x="1433014" y="3292621"/>
                </a:lnTo>
                <a:lnTo>
                  <a:pt x="1433014" y="3718944"/>
                </a:lnTo>
                <a:cubicBezTo>
                  <a:pt x="1433014" y="3850888"/>
                  <a:pt x="1326053" y="3957849"/>
                  <a:pt x="1194109" y="3957849"/>
                </a:cubicBezTo>
                <a:cubicBezTo>
                  <a:pt x="1062165" y="3957849"/>
                  <a:pt x="955204" y="3850888"/>
                  <a:pt x="955204" y="3718944"/>
                </a:cubicBezTo>
                <a:lnTo>
                  <a:pt x="955204" y="3287107"/>
                </a:lnTo>
                <a:lnTo>
                  <a:pt x="886698" y="3272962"/>
                </a:lnTo>
                <a:cubicBezTo>
                  <a:pt x="784881" y="3244888"/>
                  <a:pt x="685927" y="3203215"/>
                  <a:pt x="592588" y="3147965"/>
                </a:cubicBezTo>
                <a:cubicBezTo>
                  <a:pt x="219233" y="2926967"/>
                  <a:pt x="-6908" y="2522702"/>
                  <a:pt x="160" y="2088900"/>
                </a:cubicBezTo>
                <a:lnTo>
                  <a:pt x="3411" y="2088953"/>
                </a:lnTo>
                <a:close/>
                <a:moveTo>
                  <a:pt x="1207827" y="0"/>
                </a:moveTo>
                <a:cubicBezTo>
                  <a:pt x="1562087" y="0"/>
                  <a:pt x="1849272" y="287185"/>
                  <a:pt x="1849272" y="641445"/>
                </a:cubicBezTo>
                <a:lnTo>
                  <a:pt x="1849272" y="2033516"/>
                </a:lnTo>
                <a:cubicBezTo>
                  <a:pt x="1849272" y="2387776"/>
                  <a:pt x="1562087" y="2674961"/>
                  <a:pt x="1207827" y="2674961"/>
                </a:cubicBezTo>
                <a:cubicBezTo>
                  <a:pt x="853567" y="2674961"/>
                  <a:pt x="566382" y="2387776"/>
                  <a:pt x="566382" y="2033516"/>
                </a:cubicBezTo>
                <a:lnTo>
                  <a:pt x="566382" y="641445"/>
                </a:lnTo>
                <a:cubicBezTo>
                  <a:pt x="566382" y="287185"/>
                  <a:pt x="853567" y="0"/>
                  <a:pt x="120782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9" tIns="34295" rIns="68589" bIns="34295" rtlCol="0" anchor="ctr"/>
          <a:lstStyle/>
          <a:p>
            <a:pPr algn="ctr"/>
            <a:endParaRPr lang="zh-CN" altLang="en-US" dirty="0"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536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2932091" y="2266403"/>
            <a:ext cx="4502377" cy="2325193"/>
            <a:chOff x="4406515" y="2122684"/>
            <a:chExt cx="5007593" cy="2586106"/>
          </a:xfrm>
        </p:grpSpPr>
        <p:sp>
          <p:nvSpPr>
            <p:cNvPr id="2" name="Hexagon 7"/>
            <p:cNvSpPr/>
            <p:nvPr/>
          </p:nvSpPr>
          <p:spPr>
            <a:xfrm rot="16200000">
              <a:off x="4308742" y="33888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Hexagon 7"/>
            <p:cNvSpPr/>
            <p:nvPr/>
          </p:nvSpPr>
          <p:spPr>
            <a:xfrm rot="16200000">
              <a:off x="5578743" y="33888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Hexagon 7"/>
            <p:cNvSpPr/>
            <p:nvPr/>
          </p:nvSpPr>
          <p:spPr>
            <a:xfrm rot="16200000">
              <a:off x="6202524" y="22204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Hexagon 7"/>
            <p:cNvSpPr/>
            <p:nvPr/>
          </p:nvSpPr>
          <p:spPr>
            <a:xfrm rot="16200000">
              <a:off x="7475101" y="22204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Hexagon 7"/>
            <p:cNvSpPr/>
            <p:nvPr/>
          </p:nvSpPr>
          <p:spPr>
            <a:xfrm rot="16200000">
              <a:off x="8094175" y="3388858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" name="Group 9"/>
          <p:cNvGrpSpPr/>
          <p:nvPr/>
        </p:nvGrpSpPr>
        <p:grpSpPr>
          <a:xfrm flipV="1">
            <a:off x="5774763" y="4298544"/>
            <a:ext cx="409102" cy="941305"/>
            <a:chOff x="7258929" y="1631852"/>
            <a:chExt cx="1674056" cy="464234"/>
          </a:xfrm>
        </p:grpSpPr>
        <p:cxnSp>
          <p:nvCxnSpPr>
            <p:cNvPr id="15" name="Straight Connector 10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1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26"/>
          <p:cNvGrpSpPr/>
          <p:nvPr/>
        </p:nvGrpSpPr>
        <p:grpSpPr>
          <a:xfrm flipH="1" flipV="1">
            <a:off x="3661492" y="1817362"/>
            <a:ext cx="1511325" cy="366993"/>
            <a:chOff x="7258929" y="1631852"/>
            <a:chExt cx="1674056" cy="464234"/>
          </a:xfrm>
        </p:grpSpPr>
        <p:cxnSp>
          <p:nvCxnSpPr>
            <p:cNvPr id="21" name="Straight Connector 27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8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32"/>
          <p:cNvGrpSpPr/>
          <p:nvPr/>
        </p:nvGrpSpPr>
        <p:grpSpPr>
          <a:xfrm rot="5400000" flipH="1" flipV="1">
            <a:off x="3934747" y="4539788"/>
            <a:ext cx="513295" cy="886828"/>
            <a:chOff x="7258929" y="1631852"/>
            <a:chExt cx="1674056" cy="464234"/>
          </a:xfrm>
        </p:grpSpPr>
        <p:cxnSp>
          <p:nvCxnSpPr>
            <p:cNvPr id="24" name="Straight Connector 33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34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38"/>
          <p:cNvGrpSpPr/>
          <p:nvPr/>
        </p:nvGrpSpPr>
        <p:grpSpPr>
          <a:xfrm>
            <a:off x="1871176" y="4255510"/>
            <a:ext cx="942648" cy="163866"/>
            <a:chOff x="7258929" y="1631852"/>
            <a:chExt cx="1674056" cy="464234"/>
          </a:xfrm>
        </p:grpSpPr>
        <p:cxnSp>
          <p:nvCxnSpPr>
            <p:cNvPr id="27" name="Straight Connector 39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40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6"/>
          <p:cNvGrpSpPr/>
          <p:nvPr/>
        </p:nvGrpSpPr>
        <p:grpSpPr>
          <a:xfrm flipV="1">
            <a:off x="6335612" y="1897391"/>
            <a:ext cx="424822" cy="221201"/>
            <a:chOff x="7258929" y="1631852"/>
            <a:chExt cx="1674056" cy="464234"/>
          </a:xfrm>
        </p:grpSpPr>
        <p:cxnSp>
          <p:nvCxnSpPr>
            <p:cNvPr id="30" name="Straight Connector 27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28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组合 32"/>
          <p:cNvGrpSpPr/>
          <p:nvPr/>
        </p:nvGrpSpPr>
        <p:grpSpPr>
          <a:xfrm>
            <a:off x="6923183" y="1182022"/>
            <a:ext cx="2521821" cy="1088099"/>
            <a:chOff x="7083312" y="3018462"/>
            <a:chExt cx="2521821" cy="1088099"/>
          </a:xfrm>
        </p:grpSpPr>
        <p:sp>
          <p:nvSpPr>
            <p:cNvPr id="34" name="矩形 33"/>
            <p:cNvSpPr/>
            <p:nvPr/>
          </p:nvSpPr>
          <p:spPr>
            <a:xfrm>
              <a:off x="7083312" y="3404830"/>
              <a:ext cx="2521821" cy="70173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Competencias técnicas y habilidades blandas requeridas por el puesto que ocupa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7083312" y="3018462"/>
              <a:ext cx="2050552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Perfil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Profesional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4747764" y="5424422"/>
            <a:ext cx="3782745" cy="865474"/>
            <a:chOff x="6361043" y="3838994"/>
            <a:chExt cx="3782745" cy="865474"/>
          </a:xfrm>
        </p:grpSpPr>
        <p:sp>
          <p:nvSpPr>
            <p:cNvPr id="37" name="矩形 36"/>
            <p:cNvSpPr/>
            <p:nvPr/>
          </p:nvSpPr>
          <p:spPr>
            <a:xfrm>
              <a:off x="6361044" y="4225362"/>
              <a:ext cx="3722758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Herramienta de diagnóstico que evalúa de manera integral al equipo en múltiples dimensiones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6361043" y="3838994"/>
              <a:ext cx="3782745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Radar de Capital Humano de TI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-61265" y="4960607"/>
            <a:ext cx="3722758" cy="865474"/>
            <a:chOff x="7483989" y="3375179"/>
            <a:chExt cx="3722758" cy="865474"/>
          </a:xfrm>
        </p:grpSpPr>
        <p:sp>
          <p:nvSpPr>
            <p:cNvPr id="40" name="矩形 39"/>
            <p:cNvSpPr/>
            <p:nvPr/>
          </p:nvSpPr>
          <p:spPr>
            <a:xfrm>
              <a:off x="7483989" y="3761547"/>
              <a:ext cx="3722758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Para operar, mantener y asegurar un sistema de inventarios en el rubro farmacéutico.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8671690" y="3375179"/>
              <a:ext cx="2535057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Experiencia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Laboral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1072747" y="1182022"/>
            <a:ext cx="2521821" cy="1271739"/>
            <a:chOff x="7483989" y="3375179"/>
            <a:chExt cx="2521821" cy="1271739"/>
          </a:xfrm>
        </p:grpSpPr>
        <p:sp>
          <p:nvSpPr>
            <p:cNvPr id="43" name="矩形 42"/>
            <p:cNvSpPr/>
            <p:nvPr/>
          </p:nvSpPr>
          <p:spPr>
            <a:xfrm>
              <a:off x="7483989" y="3761547"/>
              <a:ext cx="2521821" cy="88537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Necesaria para desempeñar sus funciones de manera competente y segura, con énfasis en el sistema de inventarios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7955258" y="3375179"/>
              <a:ext cx="2050552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Capacitación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229645" y="2773017"/>
            <a:ext cx="2947261" cy="1787664"/>
            <a:chOff x="7483490" y="3375179"/>
            <a:chExt cx="2947261" cy="724365"/>
          </a:xfrm>
        </p:grpSpPr>
        <p:sp>
          <p:nvSpPr>
            <p:cNvPr id="46" name="矩形 45"/>
            <p:cNvSpPr/>
            <p:nvPr/>
          </p:nvSpPr>
          <p:spPr>
            <a:xfrm>
              <a:off x="7483490" y="3687181"/>
              <a:ext cx="2710130" cy="358754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Determinar la formación académica mínima necesaria para desempeñar sus funciones de manera competente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7483988" y="3375179"/>
              <a:ext cx="2946763" cy="7243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Formación Académica del Personal TI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113" name="矩形 112">
            <a:extLst>
              <a:ext uri="{FF2B5EF4-FFF2-40B4-BE49-F238E27FC236}">
                <a16:creationId xmlns:a16="http://schemas.microsoft.com/office/drawing/2014/main" id="{85EBBB56-0C86-4DCE-BC56-093C68FB6DB2}"/>
              </a:ext>
            </a:extLst>
          </p:cNvPr>
          <p:cNvSpPr/>
          <p:nvPr/>
        </p:nvSpPr>
        <p:spPr>
          <a:xfrm>
            <a:off x="1416756" y="203744"/>
            <a:ext cx="10589707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Evaluación del Capital Humano TI – Metodología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9" name="Hexagon 7">
            <a:extLst>
              <a:ext uri="{FF2B5EF4-FFF2-40B4-BE49-F238E27FC236}">
                <a16:creationId xmlns:a16="http://schemas.microsoft.com/office/drawing/2014/main" id="{CDD59757-E316-A996-BC4E-B99E90BA734A}"/>
              </a:ext>
            </a:extLst>
          </p:cNvPr>
          <p:cNvSpPr/>
          <p:nvPr/>
        </p:nvSpPr>
        <p:spPr>
          <a:xfrm rot="16200000">
            <a:off x="7419463" y="3404830"/>
            <a:ext cx="1274672" cy="1098856"/>
          </a:xfrm>
          <a:prstGeom prst="hexagon">
            <a:avLst/>
          </a:pr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Hexagon 7">
            <a:extLst>
              <a:ext uri="{FF2B5EF4-FFF2-40B4-BE49-F238E27FC236}">
                <a16:creationId xmlns:a16="http://schemas.microsoft.com/office/drawing/2014/main" id="{4777D0F9-7592-0E52-F00F-727A78C93235}"/>
              </a:ext>
            </a:extLst>
          </p:cNvPr>
          <p:cNvSpPr/>
          <p:nvPr/>
        </p:nvSpPr>
        <p:spPr>
          <a:xfrm rot="16200000">
            <a:off x="8048982" y="2354310"/>
            <a:ext cx="1274672" cy="1098856"/>
          </a:xfrm>
          <a:prstGeom prst="hexagon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Group 9">
            <a:extLst>
              <a:ext uri="{FF2B5EF4-FFF2-40B4-BE49-F238E27FC236}">
                <a16:creationId xmlns:a16="http://schemas.microsoft.com/office/drawing/2014/main" id="{96E9C987-6F65-C4A9-087B-E4863345F1EA}"/>
              </a:ext>
            </a:extLst>
          </p:cNvPr>
          <p:cNvGrpSpPr/>
          <p:nvPr/>
        </p:nvGrpSpPr>
        <p:grpSpPr>
          <a:xfrm flipH="1" flipV="1">
            <a:off x="8686317" y="3927442"/>
            <a:ext cx="444429" cy="799112"/>
            <a:chOff x="7258929" y="1631852"/>
            <a:chExt cx="1674056" cy="464234"/>
          </a:xfrm>
        </p:grpSpPr>
        <p:cxnSp>
          <p:nvCxnSpPr>
            <p:cNvPr id="12" name="Straight Connector 10">
              <a:extLst>
                <a:ext uri="{FF2B5EF4-FFF2-40B4-BE49-F238E27FC236}">
                  <a16:creationId xmlns:a16="http://schemas.microsoft.com/office/drawing/2014/main" id="{894B2DE3-9B86-2111-25B6-EFF61E37EC1D}"/>
                </a:ext>
              </a:extLst>
            </p:cNvPr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1">
              <a:extLst>
                <a:ext uri="{FF2B5EF4-FFF2-40B4-BE49-F238E27FC236}">
                  <a16:creationId xmlns:a16="http://schemas.microsoft.com/office/drawing/2014/main" id="{9814DC9E-FBB4-4CF0-5DFB-1994CED57085}"/>
                </a:ext>
              </a:extLst>
            </p:cNvPr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32">
            <a:extLst>
              <a:ext uri="{FF2B5EF4-FFF2-40B4-BE49-F238E27FC236}">
                <a16:creationId xmlns:a16="http://schemas.microsoft.com/office/drawing/2014/main" id="{BC198B56-849F-A155-640E-C104D680ECD4}"/>
              </a:ext>
            </a:extLst>
          </p:cNvPr>
          <p:cNvGrpSpPr/>
          <p:nvPr/>
        </p:nvGrpSpPr>
        <p:grpSpPr>
          <a:xfrm>
            <a:off x="8880095" y="4955594"/>
            <a:ext cx="2956315" cy="1256251"/>
            <a:chOff x="7483988" y="3064033"/>
            <a:chExt cx="2956315" cy="1256251"/>
          </a:xfrm>
        </p:grpSpPr>
        <p:sp>
          <p:nvSpPr>
            <p:cNvPr id="18" name="矩形 33">
              <a:extLst>
                <a:ext uri="{FF2B5EF4-FFF2-40B4-BE49-F238E27FC236}">
                  <a16:creationId xmlns:a16="http://schemas.microsoft.com/office/drawing/2014/main" id="{54D67C01-B16B-5937-8667-36BD10A4EFAE}"/>
                </a:ext>
              </a:extLst>
            </p:cNvPr>
            <p:cNvSpPr/>
            <p:nvPr/>
          </p:nvSpPr>
          <p:spPr>
            <a:xfrm>
              <a:off x="7483989" y="3434913"/>
              <a:ext cx="2521821" cy="88537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Medir la percepción de los usuarios internos de Droguería Inti S.A. respecto al desempeño del área de TI 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19" name="矩形 34">
              <a:extLst>
                <a:ext uri="{FF2B5EF4-FFF2-40B4-BE49-F238E27FC236}">
                  <a16:creationId xmlns:a16="http://schemas.microsoft.com/office/drawing/2014/main" id="{57E69989-668B-1CBA-77B3-5112B1D0CD3C}"/>
                </a:ext>
              </a:extLst>
            </p:cNvPr>
            <p:cNvSpPr/>
            <p:nvPr/>
          </p:nvSpPr>
          <p:spPr>
            <a:xfrm>
              <a:off x="7483988" y="3064033"/>
              <a:ext cx="2956315" cy="431164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Percepción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del </a:t>
              </a: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Usuario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2" name="Group 9">
            <a:extLst>
              <a:ext uri="{FF2B5EF4-FFF2-40B4-BE49-F238E27FC236}">
                <a16:creationId xmlns:a16="http://schemas.microsoft.com/office/drawing/2014/main" id="{82194F20-8967-E452-6239-7F0EA72601BC}"/>
              </a:ext>
            </a:extLst>
          </p:cNvPr>
          <p:cNvGrpSpPr/>
          <p:nvPr/>
        </p:nvGrpSpPr>
        <p:grpSpPr>
          <a:xfrm flipH="1" flipV="1">
            <a:off x="9401251" y="2886357"/>
            <a:ext cx="444429" cy="395687"/>
            <a:chOff x="7258929" y="1631852"/>
            <a:chExt cx="1674056" cy="464234"/>
          </a:xfrm>
        </p:grpSpPr>
        <p:cxnSp>
          <p:nvCxnSpPr>
            <p:cNvPr id="48" name="Straight Connector 10">
              <a:extLst>
                <a:ext uri="{FF2B5EF4-FFF2-40B4-BE49-F238E27FC236}">
                  <a16:creationId xmlns:a16="http://schemas.microsoft.com/office/drawing/2014/main" id="{DE7DF869-BCF5-B6AA-64F2-5DDE45FD206A}"/>
                </a:ext>
              </a:extLst>
            </p:cNvPr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11">
              <a:extLst>
                <a:ext uri="{FF2B5EF4-FFF2-40B4-BE49-F238E27FC236}">
                  <a16:creationId xmlns:a16="http://schemas.microsoft.com/office/drawing/2014/main" id="{174C7585-3D60-C39C-5CC3-612F7F690AA9}"/>
                </a:ext>
              </a:extLst>
            </p:cNvPr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组合 32">
            <a:extLst>
              <a:ext uri="{FF2B5EF4-FFF2-40B4-BE49-F238E27FC236}">
                <a16:creationId xmlns:a16="http://schemas.microsoft.com/office/drawing/2014/main" id="{D01F67CF-8EA9-DBEC-EE49-AB47546028A9}"/>
              </a:ext>
            </a:extLst>
          </p:cNvPr>
          <p:cNvGrpSpPr/>
          <p:nvPr/>
        </p:nvGrpSpPr>
        <p:grpSpPr>
          <a:xfrm>
            <a:off x="9314591" y="3299018"/>
            <a:ext cx="3168499" cy="1437597"/>
            <a:chOff x="7482744" y="3375179"/>
            <a:chExt cx="3168499" cy="1437597"/>
          </a:xfrm>
        </p:grpSpPr>
        <p:sp>
          <p:nvSpPr>
            <p:cNvPr id="51" name="矩形 33">
              <a:extLst>
                <a:ext uri="{FF2B5EF4-FFF2-40B4-BE49-F238E27FC236}">
                  <a16:creationId xmlns:a16="http://schemas.microsoft.com/office/drawing/2014/main" id="{4E544972-B4EF-13B8-9B04-BC417DAEB9DA}"/>
                </a:ext>
              </a:extLst>
            </p:cNvPr>
            <p:cNvSpPr/>
            <p:nvPr/>
          </p:nvSpPr>
          <p:spPr>
            <a:xfrm>
              <a:off x="7482744" y="4111045"/>
              <a:ext cx="2521821" cy="70173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Mecanismos formales para capturar, documentar, preservar y transferir el conocimiento técnico 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52" name="矩形 34">
              <a:extLst>
                <a:ext uri="{FF2B5EF4-FFF2-40B4-BE49-F238E27FC236}">
                  <a16:creationId xmlns:a16="http://schemas.microsoft.com/office/drawing/2014/main" id="{BE05A1DA-4C53-44C3-FD92-42D2D435DAF6}"/>
                </a:ext>
              </a:extLst>
            </p:cNvPr>
            <p:cNvSpPr/>
            <p:nvPr/>
          </p:nvSpPr>
          <p:spPr>
            <a:xfrm>
              <a:off x="7483988" y="3375179"/>
              <a:ext cx="3167255" cy="7243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Gestión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del </a:t>
              </a:r>
            </a:p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Conocimiento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53" name="Parallelogram 15">
            <a:extLst>
              <a:ext uri="{FF2B5EF4-FFF2-40B4-BE49-F238E27FC236}">
                <a16:creationId xmlns:a16="http://schemas.microsoft.com/office/drawing/2014/main" id="{016F26C0-067C-90F4-31BB-3CC648982006}"/>
              </a:ext>
            </a:extLst>
          </p:cNvPr>
          <p:cNvSpPr/>
          <p:nvPr/>
        </p:nvSpPr>
        <p:spPr>
          <a:xfrm rot="16200000">
            <a:off x="3182973" y="3603371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54" name="Round Same Side Corner Rectangle 36">
            <a:extLst>
              <a:ext uri="{FF2B5EF4-FFF2-40B4-BE49-F238E27FC236}">
                <a16:creationId xmlns:a16="http://schemas.microsoft.com/office/drawing/2014/main" id="{DB85EC6B-F2E7-F1FF-E1B6-D7D486B22162}"/>
              </a:ext>
            </a:extLst>
          </p:cNvPr>
          <p:cNvSpPr/>
          <p:nvPr/>
        </p:nvSpPr>
        <p:spPr>
          <a:xfrm>
            <a:off x="4343240" y="3712908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5" name="Freeform 108">
            <a:extLst>
              <a:ext uri="{FF2B5EF4-FFF2-40B4-BE49-F238E27FC236}">
                <a16:creationId xmlns:a16="http://schemas.microsoft.com/office/drawing/2014/main" id="{331981F0-3590-991C-B22F-E0BB2C65322A}"/>
              </a:ext>
            </a:extLst>
          </p:cNvPr>
          <p:cNvSpPr/>
          <p:nvPr/>
        </p:nvSpPr>
        <p:spPr>
          <a:xfrm>
            <a:off x="6046166" y="2618113"/>
            <a:ext cx="501857" cy="554554"/>
          </a:xfrm>
          <a:custGeom>
            <a:avLst/>
            <a:gdLst/>
            <a:ahLst/>
            <a:cxnLst/>
            <a:rect l="l" t="t" r="r" b="b"/>
            <a:pathLst>
              <a:path w="341005" h="376812">
                <a:moveTo>
                  <a:pt x="179590" y="105941"/>
                </a:moveTo>
                <a:cubicBezTo>
                  <a:pt x="189466" y="103284"/>
                  <a:pt x="200229" y="106383"/>
                  <a:pt x="207502" y="113978"/>
                </a:cubicBezTo>
                <a:lnTo>
                  <a:pt x="205155" y="116193"/>
                </a:lnTo>
                <a:cubicBezTo>
                  <a:pt x="198727" y="109493"/>
                  <a:pt x="189244" y="106732"/>
                  <a:pt x="180543" y="109027"/>
                </a:cubicBezTo>
                <a:cubicBezTo>
                  <a:pt x="171284" y="111470"/>
                  <a:pt x="164597" y="119184"/>
                  <a:pt x="163491" y="128699"/>
                </a:cubicBezTo>
                <a:lnTo>
                  <a:pt x="160301" y="128192"/>
                </a:lnTo>
                <a:cubicBezTo>
                  <a:pt x="160626" y="125509"/>
                  <a:pt x="161343" y="122953"/>
                  <a:pt x="162397" y="120583"/>
                </a:cubicBezTo>
                <a:cubicBezTo>
                  <a:pt x="163188" y="118806"/>
                  <a:pt x="164168" y="117134"/>
                  <a:pt x="165317" y="115593"/>
                </a:cubicBezTo>
                <a:close/>
                <a:moveTo>
                  <a:pt x="184774" y="76800"/>
                </a:moveTo>
                <a:cubicBezTo>
                  <a:pt x="189722" y="75892"/>
                  <a:pt x="194950" y="76276"/>
                  <a:pt x="199898" y="78055"/>
                </a:cubicBezTo>
                <a:lnTo>
                  <a:pt x="198784" y="81085"/>
                </a:lnTo>
                <a:cubicBezTo>
                  <a:pt x="190044" y="77951"/>
                  <a:pt x="180324" y="79705"/>
                  <a:pt x="173557" y="85636"/>
                </a:cubicBezTo>
                <a:cubicBezTo>
                  <a:pt x="166357" y="91948"/>
                  <a:pt x="163808" y="101834"/>
                  <a:pt x="167057" y="110845"/>
                </a:cubicBezTo>
                <a:lnTo>
                  <a:pt x="163976" y="111813"/>
                </a:lnTo>
                <a:cubicBezTo>
                  <a:pt x="161264" y="104174"/>
                  <a:pt x="162206" y="95982"/>
                  <a:pt x="166259" y="89343"/>
                </a:cubicBezTo>
                <a:lnTo>
                  <a:pt x="171329" y="83298"/>
                </a:lnTo>
                <a:cubicBezTo>
                  <a:pt x="175158" y="79908"/>
                  <a:pt x="179826" y="77708"/>
                  <a:pt x="184774" y="76800"/>
                </a:cubicBezTo>
                <a:close/>
                <a:moveTo>
                  <a:pt x="179076" y="24908"/>
                </a:moveTo>
                <a:cubicBezTo>
                  <a:pt x="173882" y="25821"/>
                  <a:pt x="169065" y="28595"/>
                  <a:pt x="165693" y="33023"/>
                </a:cubicBezTo>
                <a:lnTo>
                  <a:pt x="165081" y="32645"/>
                </a:lnTo>
                <a:lnTo>
                  <a:pt x="164343" y="33841"/>
                </a:lnTo>
                <a:lnTo>
                  <a:pt x="159156" y="28989"/>
                </a:lnTo>
                <a:cubicBezTo>
                  <a:pt x="147650" y="21890"/>
                  <a:pt x="132568" y="25462"/>
                  <a:pt x="125468" y="36968"/>
                </a:cubicBezTo>
                <a:cubicBezTo>
                  <a:pt x="125028" y="37682"/>
                  <a:pt x="124628" y="38410"/>
                  <a:pt x="124607" y="39302"/>
                </a:cubicBezTo>
                <a:cubicBezTo>
                  <a:pt x="121192" y="53871"/>
                  <a:pt x="126621" y="67918"/>
                  <a:pt x="137512" y="72288"/>
                </a:cubicBezTo>
                <a:lnTo>
                  <a:pt x="136408" y="75373"/>
                </a:lnTo>
                <a:cubicBezTo>
                  <a:pt x="125065" y="70889"/>
                  <a:pt x="118824" y="57470"/>
                  <a:pt x="120792" y="42874"/>
                </a:cubicBezTo>
                <a:cubicBezTo>
                  <a:pt x="110219" y="38045"/>
                  <a:pt x="97555" y="41998"/>
                  <a:pt x="91229" y="52250"/>
                </a:cubicBezTo>
                <a:cubicBezTo>
                  <a:pt x="86215" y="60377"/>
                  <a:pt x="87164" y="68019"/>
                  <a:pt x="90995" y="75559"/>
                </a:cubicBezTo>
                <a:cubicBezTo>
                  <a:pt x="88405" y="77546"/>
                  <a:pt x="86197" y="80074"/>
                  <a:pt x="84391" y="83001"/>
                </a:cubicBezTo>
                <a:cubicBezTo>
                  <a:pt x="75261" y="97799"/>
                  <a:pt x="79855" y="117197"/>
                  <a:pt x="94653" y="126328"/>
                </a:cubicBezTo>
                <a:cubicBezTo>
                  <a:pt x="99603" y="129383"/>
                  <a:pt x="105068" y="130901"/>
                  <a:pt x="110449" y="130283"/>
                </a:cubicBezTo>
                <a:cubicBezTo>
                  <a:pt x="111461" y="121556"/>
                  <a:pt x="114239" y="112980"/>
                  <a:pt x="118788" y="105103"/>
                </a:cubicBezTo>
                <a:lnTo>
                  <a:pt x="122060" y="106993"/>
                </a:lnTo>
                <a:cubicBezTo>
                  <a:pt x="117549" y="114804"/>
                  <a:pt x="114885" y="123345"/>
                  <a:pt x="114602" y="132066"/>
                </a:cubicBezTo>
                <a:cubicBezTo>
                  <a:pt x="118189" y="142541"/>
                  <a:pt x="127538" y="149533"/>
                  <a:pt x="138054" y="150704"/>
                </a:cubicBezTo>
                <a:lnTo>
                  <a:pt x="138622" y="157584"/>
                </a:lnTo>
                <a:cubicBezTo>
                  <a:pt x="141809" y="168599"/>
                  <a:pt x="152592" y="175355"/>
                  <a:pt x="163536" y="173320"/>
                </a:cubicBezTo>
                <a:lnTo>
                  <a:pt x="163736" y="174011"/>
                </a:lnTo>
                <a:lnTo>
                  <a:pt x="165086" y="173621"/>
                </a:lnTo>
                <a:lnTo>
                  <a:pt x="165671" y="180699"/>
                </a:lnTo>
                <a:cubicBezTo>
                  <a:pt x="169429" y="193686"/>
                  <a:pt x="183003" y="201168"/>
                  <a:pt x="195990" y="197411"/>
                </a:cubicBezTo>
                <a:cubicBezTo>
                  <a:pt x="196796" y="197178"/>
                  <a:pt x="197581" y="196907"/>
                  <a:pt x="198196" y="196260"/>
                </a:cubicBezTo>
                <a:cubicBezTo>
                  <a:pt x="209934" y="188156"/>
                  <a:pt x="215400" y="175007"/>
                  <a:pt x="211155" y="164763"/>
                </a:cubicBezTo>
                <a:cubicBezTo>
                  <a:pt x="205121" y="170199"/>
                  <a:pt x="196738" y="172687"/>
                  <a:pt x="188343" y="171472"/>
                </a:cubicBezTo>
                <a:lnTo>
                  <a:pt x="188829" y="168281"/>
                </a:lnTo>
                <a:cubicBezTo>
                  <a:pt x="198020" y="169602"/>
                  <a:pt x="207192" y="165939"/>
                  <a:pt x="212635" y="158774"/>
                </a:cubicBezTo>
                <a:cubicBezTo>
                  <a:pt x="218427" y="151149"/>
                  <a:pt x="218946" y="140953"/>
                  <a:pt x="213960" y="132774"/>
                </a:cubicBezTo>
                <a:lnTo>
                  <a:pt x="216785" y="131210"/>
                </a:lnTo>
                <a:cubicBezTo>
                  <a:pt x="222366" y="140465"/>
                  <a:pt x="221779" y="151983"/>
                  <a:pt x="215286" y="160619"/>
                </a:cubicBezTo>
                <a:lnTo>
                  <a:pt x="213805" y="162105"/>
                </a:lnTo>
                <a:cubicBezTo>
                  <a:pt x="218946" y="172938"/>
                  <a:pt x="214526" y="186813"/>
                  <a:pt x="203421" y="196175"/>
                </a:cubicBezTo>
                <a:cubicBezTo>
                  <a:pt x="208012" y="206854"/>
                  <a:pt x="220050" y="212429"/>
                  <a:pt x="231622" y="209082"/>
                </a:cubicBezTo>
                <a:cubicBezTo>
                  <a:pt x="239377" y="206838"/>
                  <a:pt x="243741" y="201989"/>
                  <a:pt x="246092" y="195539"/>
                </a:cubicBezTo>
                <a:cubicBezTo>
                  <a:pt x="255042" y="199507"/>
                  <a:pt x="265290" y="198199"/>
                  <a:pt x="272958" y="192601"/>
                </a:cubicBezTo>
                <a:lnTo>
                  <a:pt x="276795" y="193971"/>
                </a:lnTo>
                <a:cubicBezTo>
                  <a:pt x="289009" y="194016"/>
                  <a:pt x="298363" y="193248"/>
                  <a:pt x="304258" y="183694"/>
                </a:cubicBezTo>
                <a:cubicBezTo>
                  <a:pt x="309343" y="175453"/>
                  <a:pt x="308953" y="165378"/>
                  <a:pt x="303795" y="157923"/>
                </a:cubicBezTo>
                <a:cubicBezTo>
                  <a:pt x="298315" y="164420"/>
                  <a:pt x="291041" y="168177"/>
                  <a:pt x="283702" y="168174"/>
                </a:cubicBezTo>
                <a:lnTo>
                  <a:pt x="283555" y="164527"/>
                </a:lnTo>
                <a:cubicBezTo>
                  <a:pt x="293404" y="164978"/>
                  <a:pt x="303289" y="157339"/>
                  <a:pt x="308110" y="145450"/>
                </a:cubicBezTo>
                <a:cubicBezTo>
                  <a:pt x="311022" y="136198"/>
                  <a:pt x="308752" y="126109"/>
                  <a:pt x="302169" y="119023"/>
                </a:cubicBezTo>
                <a:cubicBezTo>
                  <a:pt x="296249" y="127191"/>
                  <a:pt x="286098" y="131525"/>
                  <a:pt x="275782" y="130309"/>
                </a:cubicBezTo>
                <a:lnTo>
                  <a:pt x="276183" y="127106"/>
                </a:lnTo>
                <a:cubicBezTo>
                  <a:pt x="285405" y="128184"/>
                  <a:pt x="294478" y="124281"/>
                  <a:pt x="299730" y="116974"/>
                </a:cubicBezTo>
                <a:lnTo>
                  <a:pt x="300207" y="116045"/>
                </a:lnTo>
                <a:cubicBezTo>
                  <a:pt x="300079" y="107222"/>
                  <a:pt x="295342" y="98867"/>
                  <a:pt x="287259" y="93880"/>
                </a:cubicBezTo>
                <a:cubicBezTo>
                  <a:pt x="284295" y="92051"/>
                  <a:pt x="281129" y="90828"/>
                  <a:pt x="277855" y="90561"/>
                </a:cubicBezTo>
                <a:cubicBezTo>
                  <a:pt x="271916" y="104194"/>
                  <a:pt x="259881" y="112708"/>
                  <a:pt x="248172" y="111695"/>
                </a:cubicBezTo>
                <a:cubicBezTo>
                  <a:pt x="248002" y="114741"/>
                  <a:pt x="246936" y="117719"/>
                  <a:pt x="245089" y="120348"/>
                </a:cubicBezTo>
                <a:cubicBezTo>
                  <a:pt x="241307" y="125729"/>
                  <a:pt x="234825" y="128827"/>
                  <a:pt x="228007" y="128511"/>
                </a:cubicBezTo>
                <a:lnTo>
                  <a:pt x="228158" y="125380"/>
                </a:lnTo>
                <a:cubicBezTo>
                  <a:pt x="233848" y="125642"/>
                  <a:pt x="239262" y="123097"/>
                  <a:pt x="242439" y="118667"/>
                </a:cubicBezTo>
                <a:cubicBezTo>
                  <a:pt x="244071" y="116391"/>
                  <a:pt x="244987" y="113796"/>
                  <a:pt x="245116" y="111152"/>
                </a:cubicBezTo>
                <a:lnTo>
                  <a:pt x="243716" y="110904"/>
                </a:lnTo>
                <a:lnTo>
                  <a:pt x="244539" y="108155"/>
                </a:lnTo>
                <a:cubicBezTo>
                  <a:pt x="244792" y="106166"/>
                  <a:pt x="244131" y="104285"/>
                  <a:pt x="243078" y="102544"/>
                </a:cubicBezTo>
                <a:cubicBezTo>
                  <a:pt x="240257" y="97875"/>
                  <a:pt x="235048" y="94922"/>
                  <a:pt x="229344" y="94755"/>
                </a:cubicBezTo>
                <a:lnTo>
                  <a:pt x="229436" y="91621"/>
                </a:lnTo>
                <a:cubicBezTo>
                  <a:pt x="236268" y="91821"/>
                  <a:pt x="242499" y="95409"/>
                  <a:pt x="245850" y="101072"/>
                </a:cubicBezTo>
                <a:cubicBezTo>
                  <a:pt x="247129" y="103235"/>
                  <a:pt x="247915" y="105575"/>
                  <a:pt x="248037" y="107973"/>
                </a:cubicBezTo>
                <a:cubicBezTo>
                  <a:pt x="258268" y="109553"/>
                  <a:pt x="268981" y="102051"/>
                  <a:pt x="274232" y="89778"/>
                </a:cubicBezTo>
                <a:cubicBezTo>
                  <a:pt x="278708" y="77339"/>
                  <a:pt x="274020" y="63056"/>
                  <a:pt x="262316" y="55834"/>
                </a:cubicBezTo>
                <a:cubicBezTo>
                  <a:pt x="257734" y="53007"/>
                  <a:pt x="252666" y="51626"/>
                  <a:pt x="247691" y="52231"/>
                </a:cubicBezTo>
                <a:cubicBezTo>
                  <a:pt x="248705" y="60913"/>
                  <a:pt x="245967" y="69020"/>
                  <a:pt x="239739" y="74185"/>
                </a:cubicBezTo>
                <a:lnTo>
                  <a:pt x="237649" y="71664"/>
                </a:lnTo>
                <a:cubicBezTo>
                  <a:pt x="244579" y="65918"/>
                  <a:pt x="246481" y="55888"/>
                  <a:pt x="243151" y="45920"/>
                </a:cubicBezTo>
                <a:cubicBezTo>
                  <a:pt x="241194" y="40124"/>
                  <a:pt x="237183" y="35004"/>
                  <a:pt x="231542" y="31523"/>
                </a:cubicBezTo>
                <a:cubicBezTo>
                  <a:pt x="221392" y="25261"/>
                  <a:pt x="208864" y="26095"/>
                  <a:pt x="199763" y="32668"/>
                </a:cubicBezTo>
                <a:lnTo>
                  <a:pt x="194721" y="27952"/>
                </a:lnTo>
                <a:cubicBezTo>
                  <a:pt x="189842" y="24941"/>
                  <a:pt x="184271" y="23995"/>
                  <a:pt x="179076" y="24908"/>
                </a:cubicBezTo>
                <a:close/>
                <a:moveTo>
                  <a:pt x="190632" y="62"/>
                </a:moveTo>
                <a:cubicBezTo>
                  <a:pt x="300121" y="2329"/>
                  <a:pt x="391248" y="125645"/>
                  <a:pt x="309641" y="225160"/>
                </a:cubicBezTo>
                <a:cubicBezTo>
                  <a:pt x="282892" y="251229"/>
                  <a:pt x="279266" y="288859"/>
                  <a:pt x="302841" y="374772"/>
                </a:cubicBezTo>
                <a:lnTo>
                  <a:pt x="121266" y="376812"/>
                </a:lnTo>
                <a:lnTo>
                  <a:pt x="109025" y="322355"/>
                </a:lnTo>
                <a:cubicBezTo>
                  <a:pt x="76580" y="333165"/>
                  <a:pt x="40716" y="329924"/>
                  <a:pt x="28778" y="318327"/>
                </a:cubicBezTo>
                <a:cubicBezTo>
                  <a:pt x="22923" y="311868"/>
                  <a:pt x="25422" y="291738"/>
                  <a:pt x="32859" y="276164"/>
                </a:cubicBezTo>
                <a:cubicBezTo>
                  <a:pt x="35235" y="270344"/>
                  <a:pt x="23179" y="268321"/>
                  <a:pt x="20618" y="259843"/>
                </a:cubicBezTo>
                <a:cubicBezTo>
                  <a:pt x="19440" y="251965"/>
                  <a:pt x="27377" y="251682"/>
                  <a:pt x="30757" y="247602"/>
                </a:cubicBezTo>
                <a:lnTo>
                  <a:pt x="18516" y="238938"/>
                </a:lnTo>
                <a:cubicBezTo>
                  <a:pt x="12669" y="232923"/>
                  <a:pt x="25811" y="221592"/>
                  <a:pt x="29458" y="212919"/>
                </a:cubicBezTo>
                <a:cubicBezTo>
                  <a:pt x="16679" y="208924"/>
                  <a:pt x="7006" y="203466"/>
                  <a:pt x="307" y="196983"/>
                </a:cubicBezTo>
                <a:cubicBezTo>
                  <a:pt x="-2572" y="186228"/>
                  <a:pt x="15339" y="171234"/>
                  <a:pt x="31089" y="151672"/>
                </a:cubicBezTo>
                <a:cubicBezTo>
                  <a:pt x="47602" y="132201"/>
                  <a:pt x="33821" y="117353"/>
                  <a:pt x="46470" y="75544"/>
                </a:cubicBezTo>
                <a:cubicBezTo>
                  <a:pt x="66559" y="23813"/>
                  <a:pt x="114124" y="-1423"/>
                  <a:pt x="190632" y="6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6" name="Oval 44">
            <a:extLst>
              <a:ext uri="{FF2B5EF4-FFF2-40B4-BE49-F238E27FC236}">
                <a16:creationId xmlns:a16="http://schemas.microsoft.com/office/drawing/2014/main" id="{E65749D1-A2D4-159E-840D-6CB5FAC4788B}"/>
              </a:ext>
            </a:extLst>
          </p:cNvPr>
          <p:cNvSpPr>
            <a:spLocks noChangeAspect="1"/>
          </p:cNvSpPr>
          <p:nvPr/>
        </p:nvSpPr>
        <p:spPr>
          <a:xfrm>
            <a:off x="4996504" y="2558531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57" name="Oval 25">
            <a:extLst>
              <a:ext uri="{FF2B5EF4-FFF2-40B4-BE49-F238E27FC236}">
                <a16:creationId xmlns:a16="http://schemas.microsoft.com/office/drawing/2014/main" id="{88E9505B-5438-D6C1-5A88-9D7E2CD0B362}"/>
              </a:ext>
            </a:extLst>
          </p:cNvPr>
          <p:cNvSpPr>
            <a:spLocks noChangeAspect="1"/>
          </p:cNvSpPr>
          <p:nvPr/>
        </p:nvSpPr>
        <p:spPr>
          <a:xfrm>
            <a:off x="6620494" y="3677006"/>
            <a:ext cx="529090" cy="529812"/>
          </a:xfrm>
          <a:custGeom>
            <a:avLst/>
            <a:gdLst/>
            <a:ahLst/>
            <a:cxnLst/>
            <a:rect l="l" t="t" r="r" b="b"/>
            <a:pathLst>
              <a:path w="3225370" h="3229762">
                <a:moveTo>
                  <a:pt x="1355872" y="0"/>
                </a:moveTo>
                <a:cubicBezTo>
                  <a:pt x="1564636" y="0"/>
                  <a:pt x="1733872" y="169236"/>
                  <a:pt x="1733872" y="378000"/>
                </a:cubicBezTo>
                <a:cubicBezTo>
                  <a:pt x="1733872" y="530834"/>
                  <a:pt x="1643169" y="662483"/>
                  <a:pt x="1512292" y="721255"/>
                </a:cubicBezTo>
                <a:lnTo>
                  <a:pt x="1607042" y="1169019"/>
                </a:lnTo>
                <a:cubicBezTo>
                  <a:pt x="1611319" y="1167786"/>
                  <a:pt x="1615651" y="1167712"/>
                  <a:pt x="1620000" y="1167712"/>
                </a:cubicBezTo>
                <a:cubicBezTo>
                  <a:pt x="1828764" y="1167712"/>
                  <a:pt x="1998000" y="1336948"/>
                  <a:pt x="1998000" y="1545712"/>
                </a:cubicBezTo>
                <a:lnTo>
                  <a:pt x="1996362" y="1567711"/>
                </a:lnTo>
                <a:lnTo>
                  <a:pt x="2525816" y="1711728"/>
                </a:lnTo>
                <a:cubicBezTo>
                  <a:pt x="2591164" y="1602543"/>
                  <a:pt x="2710810" y="1530128"/>
                  <a:pt x="2847370" y="1530128"/>
                </a:cubicBezTo>
                <a:cubicBezTo>
                  <a:pt x="3056134" y="1530128"/>
                  <a:pt x="3225370" y="1699364"/>
                  <a:pt x="3225370" y="1908128"/>
                </a:cubicBezTo>
                <a:cubicBezTo>
                  <a:pt x="3225370" y="2116892"/>
                  <a:pt x="3056134" y="2286128"/>
                  <a:pt x="2847370" y="2286128"/>
                </a:cubicBezTo>
                <a:cubicBezTo>
                  <a:pt x="2638606" y="2286128"/>
                  <a:pt x="2469370" y="2116892"/>
                  <a:pt x="2469370" y="1908128"/>
                </a:cubicBezTo>
                <a:lnTo>
                  <a:pt x="2475505" y="1847275"/>
                </a:lnTo>
                <a:lnTo>
                  <a:pt x="1957861" y="1706471"/>
                </a:lnTo>
                <a:cubicBezTo>
                  <a:pt x="1922674" y="1789256"/>
                  <a:pt x="1855841" y="1854310"/>
                  <a:pt x="1773397" y="1890608"/>
                </a:cubicBezTo>
                <a:lnTo>
                  <a:pt x="1908290" y="2478637"/>
                </a:lnTo>
                <a:cubicBezTo>
                  <a:pt x="2094333" y="2500701"/>
                  <a:pt x="2237929" y="2659462"/>
                  <a:pt x="2237929" y="2851762"/>
                </a:cubicBezTo>
                <a:cubicBezTo>
                  <a:pt x="2237929" y="3060526"/>
                  <a:pt x="2068693" y="3229762"/>
                  <a:pt x="1859929" y="3229762"/>
                </a:cubicBezTo>
                <a:cubicBezTo>
                  <a:pt x="1651165" y="3229762"/>
                  <a:pt x="1481929" y="3060526"/>
                  <a:pt x="1481929" y="2851762"/>
                </a:cubicBezTo>
                <a:cubicBezTo>
                  <a:pt x="1481929" y="2676759"/>
                  <a:pt x="1600854" y="2529533"/>
                  <a:pt x="1762693" y="2487978"/>
                </a:cubicBezTo>
                <a:lnTo>
                  <a:pt x="1632951" y="1922407"/>
                </a:lnTo>
                <a:cubicBezTo>
                  <a:pt x="1628677" y="1923639"/>
                  <a:pt x="1624347" y="1923712"/>
                  <a:pt x="1620000" y="1923712"/>
                </a:cubicBezTo>
                <a:cubicBezTo>
                  <a:pt x="1474614" y="1923712"/>
                  <a:pt x="1348399" y="1841634"/>
                  <a:pt x="1286703" y="1720478"/>
                </a:cubicBezTo>
                <a:lnTo>
                  <a:pt x="726463" y="1950491"/>
                </a:lnTo>
                <a:cubicBezTo>
                  <a:pt x="745503" y="1995553"/>
                  <a:pt x="756000" y="2045092"/>
                  <a:pt x="756000" y="2097083"/>
                </a:cubicBezTo>
                <a:cubicBezTo>
                  <a:pt x="756000" y="2305847"/>
                  <a:pt x="586764" y="2475083"/>
                  <a:pt x="378000" y="2475083"/>
                </a:cubicBezTo>
                <a:cubicBezTo>
                  <a:pt x="169236" y="2475083"/>
                  <a:pt x="0" y="2305847"/>
                  <a:pt x="0" y="2097083"/>
                </a:cubicBezTo>
                <a:cubicBezTo>
                  <a:pt x="0" y="1888319"/>
                  <a:pt x="169236" y="1719083"/>
                  <a:pt x="378000" y="1719083"/>
                </a:cubicBezTo>
                <a:cubicBezTo>
                  <a:pt x="481765" y="1719083"/>
                  <a:pt x="575764" y="1760894"/>
                  <a:pt x="643957" y="1828700"/>
                </a:cubicBezTo>
                <a:lnTo>
                  <a:pt x="1245626" y="1581679"/>
                </a:lnTo>
                <a:cubicBezTo>
                  <a:pt x="1242578" y="1569964"/>
                  <a:pt x="1242000" y="1557905"/>
                  <a:pt x="1242000" y="1545712"/>
                </a:cubicBezTo>
                <a:cubicBezTo>
                  <a:pt x="1242000" y="1391666"/>
                  <a:pt x="1334148" y="1259142"/>
                  <a:pt x="1466584" y="1200827"/>
                </a:cubicBezTo>
                <a:lnTo>
                  <a:pt x="1372109" y="754363"/>
                </a:lnTo>
                <a:cubicBezTo>
                  <a:pt x="1366762" y="755885"/>
                  <a:pt x="1361331" y="756000"/>
                  <a:pt x="1355872" y="756000"/>
                </a:cubicBezTo>
                <a:cubicBezTo>
                  <a:pt x="1147108" y="756000"/>
                  <a:pt x="977872" y="586764"/>
                  <a:pt x="977872" y="378000"/>
                </a:cubicBezTo>
                <a:cubicBezTo>
                  <a:pt x="977872" y="169236"/>
                  <a:pt x="1147108" y="0"/>
                  <a:pt x="135587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8" name="Smiley Face 14">
            <a:extLst>
              <a:ext uri="{FF2B5EF4-FFF2-40B4-BE49-F238E27FC236}">
                <a16:creationId xmlns:a16="http://schemas.microsoft.com/office/drawing/2014/main" id="{FFB3F448-7D19-6945-64E6-7D77F7545468}"/>
              </a:ext>
            </a:extLst>
          </p:cNvPr>
          <p:cNvSpPr/>
          <p:nvPr/>
        </p:nvSpPr>
        <p:spPr>
          <a:xfrm>
            <a:off x="7682607" y="3628059"/>
            <a:ext cx="417759" cy="417759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59" name="Smiley Face 12">
            <a:extLst>
              <a:ext uri="{FF2B5EF4-FFF2-40B4-BE49-F238E27FC236}">
                <a16:creationId xmlns:a16="http://schemas.microsoft.com/office/drawing/2014/main" id="{8296274A-C567-F9E3-814D-6FBD72A314F9}"/>
              </a:ext>
            </a:extLst>
          </p:cNvPr>
          <p:cNvSpPr/>
          <p:nvPr/>
        </p:nvSpPr>
        <p:spPr>
          <a:xfrm>
            <a:off x="8085344" y="3937194"/>
            <a:ext cx="318316" cy="31831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60" name="Rectangle 9">
            <a:extLst>
              <a:ext uri="{FF2B5EF4-FFF2-40B4-BE49-F238E27FC236}">
                <a16:creationId xmlns:a16="http://schemas.microsoft.com/office/drawing/2014/main" id="{BBE3B0EA-BEE3-4496-21E6-1EA66E7E1FCB}"/>
              </a:ext>
            </a:extLst>
          </p:cNvPr>
          <p:cNvSpPr/>
          <p:nvPr/>
        </p:nvSpPr>
        <p:spPr>
          <a:xfrm>
            <a:off x="8422649" y="2618113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</p:spTree>
    <p:extLst>
      <p:ext uri="{BB962C8B-B14F-4D97-AF65-F5344CB8AC3E}">
        <p14:creationId xmlns:p14="http://schemas.microsoft.com/office/powerpoint/2010/main" val="1776944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8F0C5-0D1F-5E09-68A9-43DB78929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84175B47-22FC-2633-F497-23D93DE6AF73}"/>
              </a:ext>
            </a:extLst>
          </p:cNvPr>
          <p:cNvSpPr/>
          <p:nvPr/>
        </p:nvSpPr>
        <p:spPr>
          <a:xfrm>
            <a:off x="1447914" y="184169"/>
            <a:ext cx="876951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Equipo Evaluado – Roles y Antigüedad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4" name="矩形 130">
            <a:extLst>
              <a:ext uri="{FF2B5EF4-FFF2-40B4-BE49-F238E27FC236}">
                <a16:creationId xmlns:a16="http://schemas.microsoft.com/office/drawing/2014/main" id="{0A8F2943-49C5-ECD2-63FA-5DCF87C03010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El equipo de TI de Droguería Inti S.A.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6EAFBD12-6BAF-DBD8-6A63-31BD44EE25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677173"/>
              </p:ext>
            </p:extLst>
          </p:nvPr>
        </p:nvGraphicFramePr>
        <p:xfrm>
          <a:off x="5239026" y="1819619"/>
          <a:ext cx="577353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451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192451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192451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Cargo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Dedicación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Antigüedad promedio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Jefe de Sistemas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Tiempo completo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2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Técnico de Soporte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Tiempo completo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4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Administrador de BD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Medio tiempo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9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</a:tbl>
          </a:graphicData>
        </a:graphic>
      </p:graphicFrame>
      <p:grpSp>
        <p:nvGrpSpPr>
          <p:cNvPr id="9" name="组合 128">
            <a:extLst>
              <a:ext uri="{FF2B5EF4-FFF2-40B4-BE49-F238E27FC236}">
                <a16:creationId xmlns:a16="http://schemas.microsoft.com/office/drawing/2014/main" id="{C7602E53-E6D6-C202-2C55-705FC422303A}"/>
              </a:ext>
            </a:extLst>
          </p:cNvPr>
          <p:cNvGrpSpPr/>
          <p:nvPr/>
        </p:nvGrpSpPr>
        <p:grpSpPr>
          <a:xfrm>
            <a:off x="5239025" y="4689191"/>
            <a:ext cx="5726144" cy="707725"/>
            <a:chOff x="7483988" y="3375179"/>
            <a:chExt cx="5726144" cy="707725"/>
          </a:xfrm>
        </p:grpSpPr>
        <p:sp>
          <p:nvSpPr>
            <p:cNvPr id="10" name="矩形 129">
              <a:extLst>
                <a:ext uri="{FF2B5EF4-FFF2-40B4-BE49-F238E27FC236}">
                  <a16:creationId xmlns:a16="http://schemas.microsoft.com/office/drawing/2014/main" id="{11018B95-C041-0E7F-0526-596C07122F76}"/>
                </a:ext>
              </a:extLst>
            </p:cNvPr>
            <p:cNvSpPr/>
            <p:nvPr/>
          </p:nvSpPr>
          <p:spPr>
            <a:xfrm>
              <a:off x="7483989" y="3723447"/>
              <a:ext cx="5726143" cy="35945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0% (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equipo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estable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)</a:t>
              </a:r>
            </a:p>
          </p:txBody>
        </p:sp>
        <p:sp>
          <p:nvSpPr>
            <p:cNvPr id="11" name="矩形 130">
              <a:extLst>
                <a:ext uri="{FF2B5EF4-FFF2-40B4-BE49-F238E27FC236}">
                  <a16:creationId xmlns:a16="http://schemas.microsoft.com/office/drawing/2014/main" id="{A1F7AC50-5C14-E19A-1A7E-FB6B3623C213}"/>
                </a:ext>
              </a:extLst>
            </p:cNvPr>
            <p:cNvSpPr/>
            <p:nvPr/>
          </p:nvSpPr>
          <p:spPr>
            <a:xfrm>
              <a:off x="7483988" y="3375179"/>
              <a:ext cx="4421809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Tasa de rotación últimos 3 años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组合 128">
            <a:extLst>
              <a:ext uri="{FF2B5EF4-FFF2-40B4-BE49-F238E27FC236}">
                <a16:creationId xmlns:a16="http://schemas.microsoft.com/office/drawing/2014/main" id="{9275176C-4500-4C60-A5CD-640E6CCB647E}"/>
              </a:ext>
            </a:extLst>
          </p:cNvPr>
          <p:cNvGrpSpPr/>
          <p:nvPr/>
        </p:nvGrpSpPr>
        <p:grpSpPr>
          <a:xfrm>
            <a:off x="5239025" y="5429426"/>
            <a:ext cx="5726144" cy="707725"/>
            <a:chOff x="7483988" y="3375179"/>
            <a:chExt cx="5726144" cy="707725"/>
          </a:xfrm>
        </p:grpSpPr>
        <p:sp>
          <p:nvSpPr>
            <p:cNvPr id="13" name="矩形 129">
              <a:extLst>
                <a:ext uri="{FF2B5EF4-FFF2-40B4-BE49-F238E27FC236}">
                  <a16:creationId xmlns:a16="http://schemas.microsoft.com/office/drawing/2014/main" id="{224F52DA-BEF4-1868-E0C5-94F3C91918EB}"/>
                </a:ext>
              </a:extLst>
            </p:cNvPr>
            <p:cNvSpPr/>
            <p:nvPr/>
          </p:nvSpPr>
          <p:spPr>
            <a:xfrm>
              <a:off x="7483989" y="3723447"/>
              <a:ext cx="5726143" cy="35945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Estabilidad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≠ 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Idoneidad</a:t>
              </a:r>
              <a:endParaRPr lang="en-US" altLang="zh-CN" sz="1600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14" name="矩形 130">
              <a:extLst>
                <a:ext uri="{FF2B5EF4-FFF2-40B4-BE49-F238E27FC236}">
                  <a16:creationId xmlns:a16="http://schemas.microsoft.com/office/drawing/2014/main" id="{799C348A-F88A-BE35-8520-E5FC8E7CF5E1}"/>
                </a:ext>
              </a:extLst>
            </p:cNvPr>
            <p:cNvSpPr/>
            <p:nvPr/>
          </p:nvSpPr>
          <p:spPr>
            <a:xfrm>
              <a:off x="7483988" y="3375179"/>
              <a:ext cx="4421809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Pero: 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5C7F9588-C686-C168-8A55-4F1C9EA8B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766" y="1819619"/>
            <a:ext cx="3715268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65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8A70-2483-F033-5447-D8749AAE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BA15F988-5273-0819-4F71-1D33DFC27772}"/>
              </a:ext>
            </a:extLst>
          </p:cNvPr>
          <p:cNvSpPr/>
          <p:nvPr/>
        </p:nvSpPr>
        <p:spPr>
          <a:xfrm>
            <a:off x="1453371" y="181895"/>
            <a:ext cx="644803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Hallazgos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por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Dimensión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D3FAF4FB-ABD2-77E7-8B64-CA1CEB76F219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Principales brechas identificadas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E93679DD-5BBA-4C43-E5C7-D74BC8794B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213566"/>
              </p:ext>
            </p:extLst>
          </p:nvPr>
        </p:nvGraphicFramePr>
        <p:xfrm>
          <a:off x="1009650" y="1648169"/>
          <a:ext cx="10591800" cy="4643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60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37278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Dimensión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Hallazgo principal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Riesgo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797316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Formación académica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 err="1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</a:t>
                      </a:r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. BD sin documentación. Jefe Sistemas egresado sin título.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1036511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Experiencia laboral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Equipo sin experiencia en distribución farmacéutica mayorista. </a:t>
                      </a:r>
                      <a:r>
                        <a:rPr lang="es-MX" sz="1800" b="0" i="0" kern="1200" dirty="0" err="1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</a:t>
                      </a:r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. BD sin referencias.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797316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Capacitación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Solo 8 horas inicial (2021). Sin capacitación en seguridad ni DRP.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1036511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Perfil profesional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 err="1">
                          <a:latin typeface="Century Gothic" panose="020B0502020202020204" pitchFamily="34" charset="0"/>
                        </a:rPr>
                        <a:t>Admin</a:t>
                      </a:r>
                      <a:r>
                        <a:rPr lang="es-MX" dirty="0">
                          <a:latin typeface="Century Gothic" panose="020B0502020202020204" pitchFamily="34" charset="0"/>
                        </a:rPr>
                        <a:t>. BD perfil no verificable. Brechas en seguridad y planificación en Jefe Sistemas.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  <a:p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2117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E2ED9-840D-E070-D53F-236A250DF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7">
            <a:extLst>
              <a:ext uri="{FF2B5EF4-FFF2-40B4-BE49-F238E27FC236}">
                <a16:creationId xmlns:a16="http://schemas.microsoft.com/office/drawing/2014/main" id="{D41C82F8-5DC3-811D-48A4-C6BD007E665A}"/>
              </a:ext>
            </a:extLst>
          </p:cNvPr>
          <p:cNvSpPr>
            <a:spLocks/>
          </p:cNvSpPr>
          <p:nvPr/>
        </p:nvSpPr>
        <p:spPr bwMode="auto">
          <a:xfrm>
            <a:off x="2734877" y="2271503"/>
            <a:ext cx="2231402" cy="1433542"/>
          </a:xfrm>
          <a:custGeom>
            <a:avLst/>
            <a:gdLst>
              <a:gd name="T0" fmla="*/ 0 w 307"/>
              <a:gd name="T1" fmla="*/ 307 h 307"/>
              <a:gd name="T2" fmla="*/ 307 w 307"/>
              <a:gd name="T3" fmla="*/ 307 h 307"/>
              <a:gd name="T4" fmla="*/ 0 w 307"/>
              <a:gd name="T5" fmla="*/ 0 h 307"/>
              <a:gd name="T6" fmla="*/ 0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307"/>
                </a:moveTo>
                <a:cubicBezTo>
                  <a:pt x="307" y="307"/>
                  <a:pt x="307" y="307"/>
                  <a:pt x="307" y="307"/>
                </a:cubicBezTo>
                <a:cubicBezTo>
                  <a:pt x="301" y="140"/>
                  <a:pt x="167" y="6"/>
                  <a:pt x="0" y="0"/>
                </a:cubicBezTo>
                <a:lnTo>
                  <a:pt x="0" y="307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1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6" name="Freeform 8">
            <a:extLst>
              <a:ext uri="{FF2B5EF4-FFF2-40B4-BE49-F238E27FC236}">
                <a16:creationId xmlns:a16="http://schemas.microsoft.com/office/drawing/2014/main" id="{C8183D84-CBE5-57B7-1B1E-35AE3242FF94}"/>
              </a:ext>
            </a:extLst>
          </p:cNvPr>
          <p:cNvSpPr>
            <a:spLocks/>
          </p:cNvSpPr>
          <p:nvPr/>
        </p:nvSpPr>
        <p:spPr bwMode="auto">
          <a:xfrm>
            <a:off x="373526" y="2281356"/>
            <a:ext cx="2227571" cy="1433542"/>
          </a:xfrm>
          <a:custGeom>
            <a:avLst/>
            <a:gdLst>
              <a:gd name="T0" fmla="*/ 307 w 307"/>
              <a:gd name="T1" fmla="*/ 307 h 307"/>
              <a:gd name="T2" fmla="*/ 307 w 307"/>
              <a:gd name="T3" fmla="*/ 0 h 307"/>
              <a:gd name="T4" fmla="*/ 0 w 307"/>
              <a:gd name="T5" fmla="*/ 307 h 307"/>
              <a:gd name="T6" fmla="*/ 307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307"/>
                </a:moveTo>
                <a:cubicBezTo>
                  <a:pt x="307" y="0"/>
                  <a:pt x="307" y="0"/>
                  <a:pt x="307" y="0"/>
                </a:cubicBezTo>
                <a:cubicBezTo>
                  <a:pt x="140" y="6"/>
                  <a:pt x="6" y="140"/>
                  <a:pt x="0" y="307"/>
                </a:cubicBezTo>
                <a:lnTo>
                  <a:pt x="307" y="307"/>
                </a:lnTo>
                <a:close/>
              </a:path>
            </a:pathLst>
          </a:custGeom>
          <a:solidFill>
            <a:schemeClr val="accent1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99A5CA70-9BD6-84C0-F33D-9A61D78FDFC0}"/>
              </a:ext>
            </a:extLst>
          </p:cNvPr>
          <p:cNvSpPr>
            <a:spLocks/>
          </p:cNvSpPr>
          <p:nvPr/>
        </p:nvSpPr>
        <p:spPr bwMode="auto">
          <a:xfrm>
            <a:off x="5029962" y="3798643"/>
            <a:ext cx="2231402" cy="1433542"/>
          </a:xfrm>
          <a:custGeom>
            <a:avLst/>
            <a:gdLst>
              <a:gd name="T0" fmla="*/ 0 w 307"/>
              <a:gd name="T1" fmla="*/ 0 h 307"/>
              <a:gd name="T2" fmla="*/ 0 w 307"/>
              <a:gd name="T3" fmla="*/ 307 h 307"/>
              <a:gd name="T4" fmla="*/ 307 w 307"/>
              <a:gd name="T5" fmla="*/ 0 h 307"/>
              <a:gd name="T6" fmla="*/ 0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0"/>
                </a:moveTo>
                <a:cubicBezTo>
                  <a:pt x="0" y="307"/>
                  <a:pt x="0" y="307"/>
                  <a:pt x="0" y="307"/>
                </a:cubicBezTo>
                <a:cubicBezTo>
                  <a:pt x="167" y="301"/>
                  <a:pt x="301" y="167"/>
                  <a:pt x="307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2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8" name="Freeform 10">
            <a:extLst>
              <a:ext uri="{FF2B5EF4-FFF2-40B4-BE49-F238E27FC236}">
                <a16:creationId xmlns:a16="http://schemas.microsoft.com/office/drawing/2014/main" id="{1B5D3A08-675A-C879-0CFD-72BCE7EDC140}"/>
              </a:ext>
            </a:extLst>
          </p:cNvPr>
          <p:cNvSpPr>
            <a:spLocks/>
          </p:cNvSpPr>
          <p:nvPr/>
        </p:nvSpPr>
        <p:spPr bwMode="auto">
          <a:xfrm>
            <a:off x="2734877" y="3808496"/>
            <a:ext cx="2231402" cy="1433542"/>
          </a:xfrm>
          <a:custGeom>
            <a:avLst/>
            <a:gdLst>
              <a:gd name="T0" fmla="*/ 307 w 307"/>
              <a:gd name="T1" fmla="*/ 0 h 307"/>
              <a:gd name="T2" fmla="*/ 0 w 307"/>
              <a:gd name="T3" fmla="*/ 0 h 307"/>
              <a:gd name="T4" fmla="*/ 307 w 307"/>
              <a:gd name="T5" fmla="*/ 307 h 307"/>
              <a:gd name="T6" fmla="*/ 307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0"/>
                </a:moveTo>
                <a:cubicBezTo>
                  <a:pt x="0" y="0"/>
                  <a:pt x="0" y="0"/>
                  <a:pt x="0" y="0"/>
                </a:cubicBezTo>
                <a:cubicBezTo>
                  <a:pt x="6" y="167"/>
                  <a:pt x="140" y="301"/>
                  <a:pt x="307" y="307"/>
                </a:cubicBezTo>
                <a:lnTo>
                  <a:pt x="307" y="0"/>
                </a:lnTo>
                <a:close/>
              </a:path>
            </a:pathLst>
          </a:custGeom>
          <a:solidFill>
            <a:schemeClr val="accent2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9" name="Freeform 11">
            <a:extLst>
              <a:ext uri="{FF2B5EF4-FFF2-40B4-BE49-F238E27FC236}">
                <a16:creationId xmlns:a16="http://schemas.microsoft.com/office/drawing/2014/main" id="{4F49350C-BA60-3499-6772-A665816B2761}"/>
              </a:ext>
            </a:extLst>
          </p:cNvPr>
          <p:cNvSpPr>
            <a:spLocks/>
          </p:cNvSpPr>
          <p:nvPr/>
        </p:nvSpPr>
        <p:spPr bwMode="auto">
          <a:xfrm>
            <a:off x="7407027" y="2271503"/>
            <a:ext cx="2227571" cy="1433542"/>
          </a:xfrm>
          <a:custGeom>
            <a:avLst/>
            <a:gdLst>
              <a:gd name="T0" fmla="*/ 0 w 307"/>
              <a:gd name="T1" fmla="*/ 307 h 307"/>
              <a:gd name="T2" fmla="*/ 307 w 307"/>
              <a:gd name="T3" fmla="*/ 307 h 307"/>
              <a:gd name="T4" fmla="*/ 0 w 307"/>
              <a:gd name="T5" fmla="*/ 0 h 307"/>
              <a:gd name="T6" fmla="*/ 0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307"/>
                </a:moveTo>
                <a:cubicBezTo>
                  <a:pt x="307" y="307"/>
                  <a:pt x="307" y="307"/>
                  <a:pt x="307" y="307"/>
                </a:cubicBezTo>
                <a:cubicBezTo>
                  <a:pt x="302" y="140"/>
                  <a:pt x="167" y="6"/>
                  <a:pt x="0" y="0"/>
                </a:cubicBezTo>
                <a:lnTo>
                  <a:pt x="0" y="307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3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0" name="Freeform 12">
            <a:extLst>
              <a:ext uri="{FF2B5EF4-FFF2-40B4-BE49-F238E27FC236}">
                <a16:creationId xmlns:a16="http://schemas.microsoft.com/office/drawing/2014/main" id="{9D3D261E-392F-82B8-1A2B-BAFD207FB319}"/>
              </a:ext>
            </a:extLst>
          </p:cNvPr>
          <p:cNvSpPr>
            <a:spLocks/>
          </p:cNvSpPr>
          <p:nvPr/>
        </p:nvSpPr>
        <p:spPr bwMode="auto">
          <a:xfrm>
            <a:off x="5029962" y="2281356"/>
            <a:ext cx="2231402" cy="1433542"/>
          </a:xfrm>
          <a:custGeom>
            <a:avLst/>
            <a:gdLst>
              <a:gd name="T0" fmla="*/ 307 w 307"/>
              <a:gd name="T1" fmla="*/ 307 h 307"/>
              <a:gd name="T2" fmla="*/ 307 w 307"/>
              <a:gd name="T3" fmla="*/ 0 h 307"/>
              <a:gd name="T4" fmla="*/ 0 w 307"/>
              <a:gd name="T5" fmla="*/ 307 h 307"/>
              <a:gd name="T6" fmla="*/ 307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307"/>
                </a:moveTo>
                <a:cubicBezTo>
                  <a:pt x="307" y="0"/>
                  <a:pt x="307" y="0"/>
                  <a:pt x="307" y="0"/>
                </a:cubicBezTo>
                <a:cubicBezTo>
                  <a:pt x="140" y="6"/>
                  <a:pt x="6" y="140"/>
                  <a:pt x="0" y="307"/>
                </a:cubicBezTo>
                <a:lnTo>
                  <a:pt x="307" y="307"/>
                </a:lnTo>
                <a:close/>
              </a:path>
            </a:pathLst>
          </a:custGeom>
          <a:solidFill>
            <a:schemeClr val="accent3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1" name="Freeform 13">
            <a:extLst>
              <a:ext uri="{FF2B5EF4-FFF2-40B4-BE49-F238E27FC236}">
                <a16:creationId xmlns:a16="http://schemas.microsoft.com/office/drawing/2014/main" id="{CAF5B081-6EBB-4395-5E76-525B054C28C3}"/>
              </a:ext>
            </a:extLst>
          </p:cNvPr>
          <p:cNvSpPr>
            <a:spLocks/>
          </p:cNvSpPr>
          <p:nvPr/>
        </p:nvSpPr>
        <p:spPr bwMode="auto">
          <a:xfrm>
            <a:off x="9693782" y="3798643"/>
            <a:ext cx="2219918" cy="1433542"/>
          </a:xfrm>
          <a:custGeom>
            <a:avLst/>
            <a:gdLst>
              <a:gd name="T0" fmla="*/ 0 w 306"/>
              <a:gd name="T1" fmla="*/ 0 h 307"/>
              <a:gd name="T2" fmla="*/ 0 w 306"/>
              <a:gd name="T3" fmla="*/ 307 h 307"/>
              <a:gd name="T4" fmla="*/ 306 w 306"/>
              <a:gd name="T5" fmla="*/ 0 h 307"/>
              <a:gd name="T6" fmla="*/ 0 w 306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6" h="307">
                <a:moveTo>
                  <a:pt x="0" y="0"/>
                </a:moveTo>
                <a:cubicBezTo>
                  <a:pt x="0" y="307"/>
                  <a:pt x="0" y="307"/>
                  <a:pt x="0" y="307"/>
                </a:cubicBezTo>
                <a:cubicBezTo>
                  <a:pt x="166" y="301"/>
                  <a:pt x="301" y="167"/>
                  <a:pt x="306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4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2" name="Freeform 14">
            <a:extLst>
              <a:ext uri="{FF2B5EF4-FFF2-40B4-BE49-F238E27FC236}">
                <a16:creationId xmlns:a16="http://schemas.microsoft.com/office/drawing/2014/main" id="{CAE68B17-2F84-A79A-DEE6-2D3139C57344}"/>
              </a:ext>
            </a:extLst>
          </p:cNvPr>
          <p:cNvSpPr>
            <a:spLocks/>
          </p:cNvSpPr>
          <p:nvPr/>
        </p:nvSpPr>
        <p:spPr bwMode="auto">
          <a:xfrm>
            <a:off x="7407027" y="3808496"/>
            <a:ext cx="2227571" cy="1433542"/>
          </a:xfrm>
          <a:custGeom>
            <a:avLst/>
            <a:gdLst>
              <a:gd name="T0" fmla="*/ 307 w 307"/>
              <a:gd name="T1" fmla="*/ 0 h 307"/>
              <a:gd name="T2" fmla="*/ 0 w 307"/>
              <a:gd name="T3" fmla="*/ 0 h 307"/>
              <a:gd name="T4" fmla="*/ 307 w 307"/>
              <a:gd name="T5" fmla="*/ 307 h 307"/>
              <a:gd name="T6" fmla="*/ 307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0"/>
                </a:moveTo>
                <a:cubicBezTo>
                  <a:pt x="0" y="0"/>
                  <a:pt x="0" y="0"/>
                  <a:pt x="0" y="0"/>
                </a:cubicBezTo>
                <a:cubicBezTo>
                  <a:pt x="6" y="167"/>
                  <a:pt x="140" y="301"/>
                  <a:pt x="307" y="307"/>
                </a:cubicBezTo>
                <a:lnTo>
                  <a:pt x="307" y="0"/>
                </a:lnTo>
                <a:close/>
              </a:path>
            </a:pathLst>
          </a:custGeom>
          <a:solidFill>
            <a:schemeClr val="accent4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51" name="Rectangle 31">
            <a:extLst>
              <a:ext uri="{FF2B5EF4-FFF2-40B4-BE49-F238E27FC236}">
                <a16:creationId xmlns:a16="http://schemas.microsoft.com/office/drawing/2014/main" id="{92FD5175-97DD-03FA-B1A3-05FC56A2C1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363" y="1858495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Competencia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técnica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47" name="矩形 8">
            <a:extLst>
              <a:ext uri="{FF2B5EF4-FFF2-40B4-BE49-F238E27FC236}">
                <a16:creationId xmlns:a16="http://schemas.microsoft.com/office/drawing/2014/main" id="{FD6B37D8-C9A3-0E72-04BC-80A840A37D00}"/>
              </a:ext>
            </a:extLst>
          </p:cNvPr>
          <p:cNvSpPr/>
          <p:nvPr/>
        </p:nvSpPr>
        <p:spPr>
          <a:xfrm>
            <a:off x="1453372" y="181895"/>
            <a:ext cx="10510028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Radar de Capital Humano – El diagnóstico integral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" name="Rectangle 22">
            <a:extLst>
              <a:ext uri="{FF2B5EF4-FFF2-40B4-BE49-F238E27FC236}">
                <a16:creationId xmlns:a16="http://schemas.microsoft.com/office/drawing/2014/main" id="{8573AB8E-6F0D-974B-4BA4-35579500B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878" y="1115461"/>
            <a:ext cx="66022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Resultado del Radar de Capital Humano TI</a:t>
            </a:r>
            <a:endParaRPr lang="en-US" altLang="zh-CN" sz="16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" name="Rectangle 31">
            <a:extLst>
              <a:ext uri="{FF2B5EF4-FFF2-40B4-BE49-F238E27FC236}">
                <a16:creationId xmlns:a16="http://schemas.microsoft.com/office/drawing/2014/main" id="{A6F7419F-2F1C-B520-5109-FA7580D7B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50" y="1850469"/>
            <a:ext cx="211981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Conocimiento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del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negocio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760B788F-D40E-2918-28D4-3F29B33BF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1097" y="5347257"/>
            <a:ext cx="1819838" cy="777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Conocimiento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del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negocio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E9086E4D-1A01-A051-5AC7-08E3925FF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3024" y="5347257"/>
            <a:ext cx="1765277" cy="777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Habilidades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blandas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C5F59FAF-E3CA-1539-9F53-251CA3DE56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430" y="1829225"/>
            <a:ext cx="211981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Compromiso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y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proactividad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3161B8CD-4773-1CD6-5D7F-925E19876A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1442" y="1850468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Documentación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y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orden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8" name="Rectangle 31">
            <a:extLst>
              <a:ext uri="{FF2B5EF4-FFF2-40B4-BE49-F238E27FC236}">
                <a16:creationId xmlns:a16="http://schemas.microsoft.com/office/drawing/2014/main" id="{8FA2D753-5028-5255-9ED0-EF48AA066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8583" y="5304938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Enfoque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en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seguridad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B5B4C41A-BD59-6509-5CA6-D5D298198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0357" y="5302572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Resiliencia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operativa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0" name="Rectangle 31">
            <a:extLst>
              <a:ext uri="{FF2B5EF4-FFF2-40B4-BE49-F238E27FC236}">
                <a16:creationId xmlns:a16="http://schemas.microsoft.com/office/drawing/2014/main" id="{60ABC02D-D5F3-2D27-86B1-54977C8D94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438" y="2892849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3.0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1" name="Rectangle 31">
            <a:extLst>
              <a:ext uri="{FF2B5EF4-FFF2-40B4-BE49-F238E27FC236}">
                <a16:creationId xmlns:a16="http://schemas.microsoft.com/office/drawing/2014/main" id="{B1FC85A5-7FDE-FB70-9B0A-2D97E4CDC7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4168" y="2892848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2" name="Rectangle 31">
            <a:extLst>
              <a:ext uri="{FF2B5EF4-FFF2-40B4-BE49-F238E27FC236}">
                <a16:creationId xmlns:a16="http://schemas.microsoft.com/office/drawing/2014/main" id="{6A57C38D-45CB-476E-CFB9-124AEA797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7532" y="4182471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3" name="Rectangle 31">
            <a:extLst>
              <a:ext uri="{FF2B5EF4-FFF2-40B4-BE49-F238E27FC236}">
                <a16:creationId xmlns:a16="http://schemas.microsoft.com/office/drawing/2014/main" id="{1B1C894C-C06A-DBEF-28D8-E67586CA71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7285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4" name="Rectangle 31">
            <a:extLst>
              <a:ext uri="{FF2B5EF4-FFF2-40B4-BE49-F238E27FC236}">
                <a16:creationId xmlns:a16="http://schemas.microsoft.com/office/drawing/2014/main" id="{05B785FB-0E85-922C-B7F5-16FACEB33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111" y="2901812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2.3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5" name="Rectangle 31">
            <a:extLst>
              <a:ext uri="{FF2B5EF4-FFF2-40B4-BE49-F238E27FC236}">
                <a16:creationId xmlns:a16="http://schemas.microsoft.com/office/drawing/2014/main" id="{C2E1C660-39A7-2E48-1F89-90F1224E0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1435" y="2901811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6" name="Rectangle 31">
            <a:extLst>
              <a:ext uri="{FF2B5EF4-FFF2-40B4-BE49-F238E27FC236}">
                <a16:creationId xmlns:a16="http://schemas.microsoft.com/office/drawing/2014/main" id="{DDB21034-840E-4133-E9BB-D468D81A2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5112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7" name="Rectangle 31">
            <a:extLst>
              <a:ext uri="{FF2B5EF4-FFF2-40B4-BE49-F238E27FC236}">
                <a16:creationId xmlns:a16="http://schemas.microsoft.com/office/drawing/2014/main" id="{BE29454D-C6B7-B0F2-208E-36676F2744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80261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8" name="Rectangle 22">
            <a:extLst>
              <a:ext uri="{FF2B5EF4-FFF2-40B4-BE49-F238E27FC236}">
                <a16:creationId xmlns:a16="http://schemas.microsoft.com/office/drawing/2014/main" id="{56253919-FA73-DA48-753F-BA10E6A8EE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721" y="6124393"/>
            <a:ext cx="75706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Promedio general del equipo:</a:t>
            </a:r>
            <a:r>
              <a:rPr lang="es-MX" altLang="zh-CN" sz="1600" b="1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 </a:t>
            </a:r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2.0 / 5 → NIVEL “BAJO” (riesgo operativo)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73795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1FE707FF-409A-4A6B-ABF3-983CC71F2F44}"/>
              </a:ext>
            </a:extLst>
          </p:cNvPr>
          <p:cNvGrpSpPr/>
          <p:nvPr/>
        </p:nvGrpSpPr>
        <p:grpSpPr>
          <a:xfrm>
            <a:off x="320635" y="1016676"/>
            <a:ext cx="10885262" cy="5512953"/>
            <a:chOff x="381615" y="1016676"/>
            <a:chExt cx="8151544" cy="4128433"/>
          </a:xfrm>
        </p:grpSpPr>
        <p:sp>
          <p:nvSpPr>
            <p:cNvPr id="2" name="Up Arrow 64">
              <a:extLst>
                <a:ext uri="{FF2B5EF4-FFF2-40B4-BE49-F238E27FC236}">
                  <a16:creationId xmlns:a16="http://schemas.microsoft.com/office/drawing/2014/main" id="{9ADB092D-A57A-4898-B270-D95D62CD9973}"/>
                </a:ext>
              </a:extLst>
            </p:cNvPr>
            <p:cNvSpPr/>
            <p:nvPr/>
          </p:nvSpPr>
          <p:spPr>
            <a:xfrm>
              <a:off x="4272112" y="1016676"/>
              <a:ext cx="370550" cy="4128430"/>
            </a:xfrm>
            <a:prstGeom prst="upArrow">
              <a:avLst>
                <a:gd name="adj1" fmla="val 50000"/>
                <a:gd name="adj2" fmla="val 6714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latin typeface="印品黑体" panose="00000500000000000000" pitchFamily="2" charset="-122"/>
              </a:endParaRPr>
            </a:p>
          </p:txBody>
        </p:sp>
        <p:sp>
          <p:nvSpPr>
            <p:cNvPr id="3" name="Bent Arrow 65">
              <a:extLst>
                <a:ext uri="{FF2B5EF4-FFF2-40B4-BE49-F238E27FC236}">
                  <a16:creationId xmlns:a16="http://schemas.microsoft.com/office/drawing/2014/main" id="{52C59972-EC96-481D-9312-24AA2A48B251}"/>
                </a:ext>
              </a:extLst>
            </p:cNvPr>
            <p:cNvSpPr/>
            <p:nvPr/>
          </p:nvSpPr>
          <p:spPr>
            <a:xfrm>
              <a:off x="4363680" y="1734086"/>
              <a:ext cx="2337603" cy="3411020"/>
            </a:xfrm>
            <a:prstGeom prst="bentArrow">
              <a:avLst>
                <a:gd name="adj1" fmla="val 8879"/>
                <a:gd name="adj2" fmla="val 9038"/>
                <a:gd name="adj3" fmla="val 15734"/>
                <a:gd name="adj4" fmla="val 19454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4" name="Bent Arrow 53">
              <a:extLst>
                <a:ext uri="{FF2B5EF4-FFF2-40B4-BE49-F238E27FC236}">
                  <a16:creationId xmlns:a16="http://schemas.microsoft.com/office/drawing/2014/main" id="{4067304E-BF04-46DC-9988-5904E4878F4B}"/>
                </a:ext>
              </a:extLst>
            </p:cNvPr>
            <p:cNvSpPr/>
            <p:nvPr/>
          </p:nvSpPr>
          <p:spPr>
            <a:xfrm flipH="1">
              <a:off x="2235193" y="2420099"/>
              <a:ext cx="2337603" cy="2725008"/>
            </a:xfrm>
            <a:prstGeom prst="bentArrow">
              <a:avLst>
                <a:gd name="adj1" fmla="val 8879"/>
                <a:gd name="adj2" fmla="val 9038"/>
                <a:gd name="adj3" fmla="val 15734"/>
                <a:gd name="adj4" fmla="val 1945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6" name="Bent Arrow 56">
              <a:extLst>
                <a:ext uri="{FF2B5EF4-FFF2-40B4-BE49-F238E27FC236}">
                  <a16:creationId xmlns:a16="http://schemas.microsoft.com/office/drawing/2014/main" id="{3FAAC3C0-A68A-406D-B520-3CCE0BCFE2A1}"/>
                </a:ext>
              </a:extLst>
            </p:cNvPr>
            <p:cNvSpPr/>
            <p:nvPr/>
          </p:nvSpPr>
          <p:spPr>
            <a:xfrm flipH="1">
              <a:off x="2790803" y="3396804"/>
              <a:ext cx="1781993" cy="1748305"/>
            </a:xfrm>
            <a:prstGeom prst="bentArrow">
              <a:avLst>
                <a:gd name="adj1" fmla="val 13458"/>
                <a:gd name="adj2" fmla="val 12349"/>
                <a:gd name="adj3" fmla="val 17061"/>
                <a:gd name="adj4" fmla="val 3006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7" name="TextBox 66">
              <a:extLst>
                <a:ext uri="{FF2B5EF4-FFF2-40B4-BE49-F238E27FC236}">
                  <a16:creationId xmlns:a16="http://schemas.microsoft.com/office/drawing/2014/main" id="{41FFA3AC-942E-4ABD-8A31-B6104A0F1094}"/>
                </a:ext>
              </a:extLst>
            </p:cNvPr>
            <p:cNvSpPr txBox="1"/>
            <p:nvPr/>
          </p:nvSpPr>
          <p:spPr>
            <a:xfrm>
              <a:off x="1910633" y="3949744"/>
              <a:ext cx="1722880" cy="625379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Sin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bitácora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de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cambios</a:t>
              </a:r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endParaRPr lang="es-MX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No hay trazabilidad de modificaciones.</a:t>
              </a:r>
              <a:endParaRPr lang="en-GB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8" name="TextBox 68">
              <a:extLst>
                <a:ext uri="{FF2B5EF4-FFF2-40B4-BE49-F238E27FC236}">
                  <a16:creationId xmlns:a16="http://schemas.microsoft.com/office/drawing/2014/main" id="{A6631629-965B-4D3C-B665-2690A9EAA793}"/>
                </a:ext>
              </a:extLst>
            </p:cNvPr>
            <p:cNvSpPr txBox="1"/>
            <p:nvPr/>
          </p:nvSpPr>
          <p:spPr>
            <a:xfrm>
              <a:off x="381615" y="2120255"/>
              <a:ext cx="1700415" cy="1478162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Documentación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técnica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: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Manual de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usuario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incompleto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Diagramas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de red: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desactualizados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(2020)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Procedimientos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de backup y DRP: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inexistentes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0" name="TextBox 70">
              <a:extLst>
                <a:ext uri="{FF2B5EF4-FFF2-40B4-BE49-F238E27FC236}">
                  <a16:creationId xmlns:a16="http://schemas.microsoft.com/office/drawing/2014/main" id="{5ADB4021-83D4-42BB-B0ED-BBD042A13E02}"/>
                </a:ext>
              </a:extLst>
            </p:cNvPr>
            <p:cNvSpPr txBox="1"/>
            <p:nvPr/>
          </p:nvSpPr>
          <p:spPr>
            <a:xfrm>
              <a:off x="2510102" y="1106889"/>
              <a:ext cx="1700415" cy="1063295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Dependencia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crítica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: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Contraseñas maestras, configuraciones de red y procedimientos de </a:t>
              </a:r>
              <a:r>
                <a:rPr lang="es-MX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backup</a:t>
              </a:r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solo en la cabeza del Jefe de Sistemas.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1" name="TextBox 71">
              <a:extLst>
                <a:ext uri="{FF2B5EF4-FFF2-40B4-BE49-F238E27FC236}">
                  <a16:creationId xmlns:a16="http://schemas.microsoft.com/office/drawing/2014/main" id="{26D5EFEF-C773-42D9-92A8-8CAFF1819E00}"/>
                </a:ext>
              </a:extLst>
            </p:cNvPr>
            <p:cNvSpPr txBox="1"/>
            <p:nvPr/>
          </p:nvSpPr>
          <p:spPr>
            <a:xfrm>
              <a:off x="6832744" y="1406652"/>
              <a:ext cx="1700415" cy="786717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Riesgo: </a:t>
              </a:r>
              <a:r>
                <a:rPr lang="zh-CN" altLang="en-US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🔴 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Alto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Una ausencia del Jefe de Sistemas paraliza la operación.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</p:grpSp>
      <p:sp>
        <p:nvSpPr>
          <p:cNvPr id="17" name="矩形 8">
            <a:extLst>
              <a:ext uri="{FF2B5EF4-FFF2-40B4-BE49-F238E27FC236}">
                <a16:creationId xmlns:a16="http://schemas.microsoft.com/office/drawing/2014/main" id="{BA8DADFA-F346-4263-BBE3-82C6223C2F6E}"/>
              </a:ext>
            </a:extLst>
          </p:cNvPr>
          <p:cNvSpPr/>
          <p:nvPr/>
        </p:nvSpPr>
        <p:spPr>
          <a:xfrm>
            <a:off x="1453372" y="181895"/>
            <a:ext cx="11520506" cy="558358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28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Gestión del Conocimiento – El riesgo de la persona clave</a:t>
            </a:r>
            <a:endParaRPr lang="zh-CN" altLang="en-US" sz="28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1D0774E-7B04-DA86-B7B7-24296A39B0DE}"/>
              </a:ext>
            </a:extLst>
          </p:cNvPr>
          <p:cNvSpPr txBox="1"/>
          <p:nvPr/>
        </p:nvSpPr>
        <p:spPr>
          <a:xfrm>
            <a:off x="290991" y="1260018"/>
            <a:ext cx="28719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</a:rPr>
              <a:t>¿Qué pasa si el Jefe de Sistemas renuncia?</a:t>
            </a: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</a:endParaRPr>
          </a:p>
        </p:txBody>
      </p:sp>
      <p:pic>
        <p:nvPicPr>
          <p:cNvPr id="21" name="Imagen 20" descr="10,495 Collapsing House Cards Stock Vectors and Vector Art | Shutterstock">
            <a:extLst>
              <a:ext uri="{FF2B5EF4-FFF2-40B4-BE49-F238E27FC236}">
                <a16:creationId xmlns:a16="http://schemas.microsoft.com/office/drawing/2014/main" id="{F186C416-64B2-7091-9D33-00EBA6D77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283" y="2992539"/>
            <a:ext cx="2977768" cy="29777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5977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CD54C-820D-2049-4B23-878079137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95611C0C-BDC6-7C6F-1756-AD4F303BDA3C}"/>
              </a:ext>
            </a:extLst>
          </p:cNvPr>
          <p:cNvSpPr/>
          <p:nvPr/>
        </p:nvSpPr>
        <p:spPr>
          <a:xfrm>
            <a:off x="1453371" y="181895"/>
            <a:ext cx="898934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La visión de los usuarios (Cuestionarios)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5601E958-0441-5CD1-31A0-ED3862528192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¿Qué piensan los usuarios del sistema?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06BD6380-2DA2-7BED-E74E-C91C81D27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602090"/>
              </p:ext>
            </p:extLst>
          </p:nvPr>
        </p:nvGraphicFramePr>
        <p:xfrm>
          <a:off x="1009650" y="1648169"/>
          <a:ext cx="10591800" cy="4144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60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20847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Indicador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Resultado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Estado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Satisfacción con el sistema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2.73 / 5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Insatisfactorio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9068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Satisfacción con soporte TI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3.15 / 5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🟢 Aceptable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Comparten contraseñas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77%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Crítico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Sin capacitación en seguridad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85%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Crítico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Recomiendan mejorar/cambiar sistema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dirty="0">
                          <a:latin typeface="Century Gothic" panose="020B0502020202020204" pitchFamily="34" charset="0"/>
                        </a:rPr>
                        <a:t>Unánime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06321"/>
                  </a:ext>
                </a:extLst>
              </a:tr>
            </a:tbl>
          </a:graphicData>
        </a:graphic>
      </p:graphicFrame>
      <p:sp>
        <p:nvSpPr>
          <p:cNvPr id="2" name="Rectangle 22">
            <a:extLst>
              <a:ext uri="{FF2B5EF4-FFF2-40B4-BE49-F238E27FC236}">
                <a16:creationId xmlns:a16="http://schemas.microsoft.com/office/drawing/2014/main" id="{61D1A241-E0D8-EF3D-BDA5-954A38E9EB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295" y="5930570"/>
            <a:ext cx="745549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13 usuarios encuestados (87% de participación)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06718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5A3C-C42C-119D-6D6F-568F71B6C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65A90DF2-C98E-5011-3F87-9A4AC6F59244}"/>
              </a:ext>
            </a:extLst>
          </p:cNvPr>
          <p:cNvSpPr/>
          <p:nvPr/>
        </p:nvSpPr>
        <p:spPr>
          <a:xfrm>
            <a:off x="1453371" y="181895"/>
            <a:ext cx="898934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Resumen de Riesgos y Acciones Prioritarias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77444E8D-32DC-6430-EA1D-4259961CCBF8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¿Qué hacer ahora? – Recomendaciones urgentes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5D91DC8A-0183-7D6D-6B1C-A22696500B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401555"/>
              </p:ext>
            </p:extLst>
          </p:nvPr>
        </p:nvGraphicFramePr>
        <p:xfrm>
          <a:off x="1009650" y="1648169"/>
          <a:ext cx="10591800" cy="4144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837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719593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1437033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20847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Prioridad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Acción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Plazo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Inmediata 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Evaluar continuidad del Administrador de BD (reemplazo si no acredita documentación).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15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9068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Inmediata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Documentar contraseñas maestras y configuraciones (compartir con un respaldo).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Corta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Implementar usuarios individuales en el sistema de inventarios (eliminar cuentas compartidas).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20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</a:t>
                      </a:r>
                      <a:r>
                        <a:rPr lang="es-BO" dirty="0">
                          <a:latin typeface="Century Gothic" panose="020B0502020202020204" pitchFamily="34" charset="0"/>
                        </a:rPr>
                        <a:t>Corta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Capacitación obligatoria en seguridad y DRP a todo el equipo TI y usuarios.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30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🟢 </a:t>
                      </a:r>
                      <a:r>
                        <a:rPr lang="es-BO" dirty="0">
                          <a:latin typeface="Century Gothic" panose="020B0502020202020204" pitchFamily="34" charset="0"/>
                        </a:rP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Diseñar DRP documentado y realizar prueba de restauración real.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dirty="0">
                          <a:latin typeface="Century Gothic" panose="020B0502020202020204" pitchFamily="34" charset="0"/>
                        </a:rPr>
                        <a:t>60 días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06321"/>
                  </a:ext>
                </a:extLst>
              </a:tr>
            </a:tbl>
          </a:graphicData>
        </a:graphic>
      </p:graphicFrame>
      <p:sp>
        <p:nvSpPr>
          <p:cNvPr id="3" name="Rectangle 22">
            <a:extLst>
              <a:ext uri="{FF2B5EF4-FFF2-40B4-BE49-F238E27FC236}">
                <a16:creationId xmlns:a16="http://schemas.microsoft.com/office/drawing/2014/main" id="{0EE5827F-919B-17A2-5862-244AE9A383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295" y="5930570"/>
            <a:ext cx="7455493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“El sistema funciona… pero está mal controlado. La auditoría detecta lo que nadie revisa hasta que ocurre un problema.”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8643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PowerPoint 演示文稿"/>
</p:tagLst>
</file>

<file path=ppt/theme/theme1.xml><?xml version="1.0" encoding="utf-8"?>
<a:theme xmlns:a="http://schemas.openxmlformats.org/drawingml/2006/main" name="包图主题2">
  <a:themeElements>
    <a:clrScheme name="Verde azulado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包图主题2" id="{50CFA792-C506-47E4-B272-6A6183483AB3}" vid="{CC1AE437-2F7F-4319-9F22-408F5F8C346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包图主题2</Template>
  <TotalTime>1476</TotalTime>
  <Words>1208</Words>
  <Application>Microsoft Office PowerPoint</Application>
  <PresentationFormat>Panorámica</PresentationFormat>
  <Paragraphs>313</Paragraphs>
  <Slides>19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30" baseType="lpstr">
      <vt:lpstr>等线</vt:lpstr>
      <vt:lpstr>微软雅黑</vt:lpstr>
      <vt:lpstr>Arial</vt:lpstr>
      <vt:lpstr>Calibri</vt:lpstr>
      <vt:lpstr>Century Gothic</vt:lpstr>
      <vt:lpstr>Courier New</vt:lpstr>
      <vt:lpstr>Symbol</vt:lpstr>
      <vt:lpstr>Times New Roman</vt:lpstr>
      <vt:lpstr>Wingdings</vt:lpstr>
      <vt:lpstr>印品黑体</vt:lpstr>
      <vt:lpstr>包图主题2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WIN7</dc:creator>
  <cp:lastModifiedBy>Fabio Camacho Encinas</cp:lastModifiedBy>
  <cp:revision>89</cp:revision>
  <dcterms:created xsi:type="dcterms:W3CDTF">2017-08-18T03:02:00Z</dcterms:created>
  <dcterms:modified xsi:type="dcterms:W3CDTF">2026-05-06T19:22:27Z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2052-10.1.0.6748</vt:lpwstr>
  </property>
</Properties>
</file>